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jj7AkKsxO0QLlskAorI9TZZItT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7113D1-853B-4F9D-B0F3-04C018597FF9}">
  <a:tblStyle styleId="{827113D1-853B-4F9D-B0F3-04C018597F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2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43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43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43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4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43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43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4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4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4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4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4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6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6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46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46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6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4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8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8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9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linkedin.com/pulse/distributed-systems-multi-leader-replication-divagar-carlmarx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Distributed Databases</a:t>
            </a:r>
            <a:endParaRPr sz="30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Distributed Data</a:t>
            </a:r>
            <a:endParaRPr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Traditionally, one method to scale a system (e.g., when the user requests exceed 100 per second) was to upgrade to a larger machine.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instance, a machine with 10 GB of RAM could be replaced with one that has 30 GB.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was known as </a:t>
            </a:r>
            <a:r>
              <a:rPr b="1" lang="en" sz="1500"/>
              <a:t>Vertical Scaling.</a:t>
            </a:r>
            <a:endParaRPr b="1" sz="15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5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this approach didn’t last long: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Cost: Increasing hardware resources is expensive. 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Doubling the RAM could significantly raise the overall cost.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Single Point of Failure: If the machine fails, the entire system fails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E.g., due to a power outage at the data center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It’s not possible to scale up a single machine beyond a point.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Horizontal Scaling</a:t>
            </a:r>
            <a:endParaRPr/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421975" y="1052375"/>
            <a:ext cx="57111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Horizontal Scaling: </a:t>
            </a:r>
            <a:r>
              <a:rPr lang="en" sz="1400"/>
              <a:t>Instead of upgrading a single, larger machine, the workload is distributed across multiple smaller machines (nodes).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Fault Tolerance:</a:t>
            </a:r>
            <a:r>
              <a:rPr lang="en" sz="1400"/>
              <a:t> If one node fails, the others can continue to serve users, ensuring higher availability.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Cost Efficiency:</a:t>
            </a:r>
            <a:r>
              <a:rPr lang="en" sz="1400"/>
              <a:t> Purchasing 10 machines with 10 GB of RAM each is often more cost-effective than buying a single machine with 100 GB of RAM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Scalability:</a:t>
            </a:r>
            <a:r>
              <a:rPr lang="en" sz="1400"/>
              <a:t> Horizontal scaling allows systems to grow incrementally, enabling the addition of more machines as needed, without hitting hardware limits as quickly as with vertical scaling.</a:t>
            </a:r>
            <a:endParaRPr sz="1400"/>
          </a:p>
        </p:txBody>
      </p:sp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076" y="3579401"/>
            <a:ext cx="4663850" cy="12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1575" y="1133462"/>
            <a:ext cx="3272375" cy="20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Horizontal Scaling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21975" y="1052375"/>
            <a:ext cx="57039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Distributing data, such as a large "orders" table, across multiple machines is complex.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process involves two primary strategies: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Replication:</a:t>
            </a:r>
            <a:r>
              <a:rPr lang="en" sz="1500"/>
              <a:t> Copies of the same data are stored on multiple machines.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500"/>
              <a:t>Partitioning (Sharding):</a:t>
            </a:r>
            <a:r>
              <a:rPr lang="en" sz="1500"/>
              <a:t> The data is divided into smaller, independent chunks.</a:t>
            </a:r>
            <a:endParaRPr sz="1500"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4988" y="3205563"/>
            <a:ext cx="553402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303" y="1161088"/>
            <a:ext cx="3184676" cy="200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Replication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Let's assume the database is small enough for each machine to store the entire dataset. The challenge then becomes distributing the query workload.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500"/>
              <a:t>For example, there is 1 TB of data that can fit on each system, but there are 1,000 requests per second, while each computer can handle only 300 requests per second.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In this case, we need to distribute the incoming queries across multiple machines to handle the load efficiently.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349" y="2675175"/>
            <a:ext cx="2970550" cy="22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Replication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21975" y="1052375"/>
            <a:ext cx="8632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workload is distributed. Each node needs fewer resources.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one node goes down or gets disconnected, the others can continue serving users with minimal manual intervention.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distributing nodes across different regions, users can access the closest database. This reduces latency.</a:t>
            </a:r>
            <a:endParaRPr sz="1500"/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175" y="2478600"/>
            <a:ext cx="2941649" cy="22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Replication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real challenge is when a user makes an update.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How do we replicate it across all databases?</a:t>
            </a:r>
            <a:endParaRPr sz="1600"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025" y="1981325"/>
            <a:ext cx="3187250" cy="23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Replication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are three types of replication based on how writes are handled: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Single-Leader: </a:t>
            </a:r>
            <a:r>
              <a:rPr lang="en" sz="1600"/>
              <a:t>One node handles all writes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Multi-Leader: </a:t>
            </a:r>
            <a:r>
              <a:rPr lang="en" sz="1600"/>
              <a:t>Multiple nodes can accept writes.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Leaderless: </a:t>
            </a:r>
            <a:r>
              <a:rPr lang="en" sz="1600"/>
              <a:t>Any node can handle writes, requiring conflict resolution later.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this architecture, one node acts as the leader while the others are followers.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leader receives updates and sends them to the followers.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Read queries can go to either the leader or the followers.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may be a data lag between the leader and followers.</a:t>
            </a:r>
            <a:endParaRPr sz="1600"/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2200" y="2239300"/>
            <a:ext cx="3186574" cy="258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While read queries are distributed, write queries must be applied to every node.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Read frequency is often multiple times higher than writes.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Many relational and non-relational databases have implemented this feature internally. This allows the software (or DevOps) engineers to configure them while the complexities are abstracted.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PostgreSQL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MySQL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MongoDB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Redis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  <p:sp>
        <p:nvSpPr>
          <p:cNvPr id="132" name="Google Shape;132;p12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Important question:</a:t>
            </a:r>
            <a:r>
              <a:rPr lang="en" sz="1600"/>
              <a:t> Once the leader receives the update and applies it, can it send an “ok” to the client?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Or, does it have to wait for all the nodes to apply the change before sending the “ok”?</a:t>
            </a:r>
            <a:endParaRPr sz="1600"/>
          </a:p>
        </p:txBody>
      </p:sp>
      <p:pic>
        <p:nvPicPr>
          <p:cNvPr id="133" name="Google Shape;1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175" y="2236825"/>
            <a:ext cx="3186574" cy="258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Asynchronous replication:</a:t>
            </a:r>
            <a:r>
              <a:rPr lang="en" sz="1600"/>
              <a:t> The leader confirms to the client that the update is applied while followers asynchronously apply the update.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Synchronous replication:</a:t>
            </a:r>
            <a:r>
              <a:rPr lang="en" sz="1600"/>
              <a:t> Leader waits for all the updates and then sends confirmation to the client.</a:t>
            </a:r>
            <a:endParaRPr sz="1600"/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175" y="2236825"/>
            <a:ext cx="3186574" cy="258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There can be a data lag between the leader and its followers until data is replicated.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lag is typically within seconds but can be longer (e.g., if a client is disconnected from the leader or if the follower has insufficient processing ability and falls behind).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image below illustrates how this lag can result in clients seeing different results when querying different nodes.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While synchronous replication makes sure that the data is replicated in all nodes, asynchronous prefers faster response at the cost of possible inconsistencies.</a:t>
            </a:r>
            <a:endParaRPr sz="1400"/>
          </a:p>
        </p:txBody>
      </p:sp>
      <p:pic>
        <p:nvPicPr>
          <p:cNvPr id="147" name="Google Shape;1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813" y="2884000"/>
            <a:ext cx="5673625" cy="19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Synchronous Replication Issues: If one replica is disconnected from the cluster, the leader cannot confirm the write.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results in the request failing even if only one node is down (Single Point of Failure).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Each node can become a bottleneck.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Asynchronous Replication Issues: Data will have </a:t>
            </a:r>
            <a:r>
              <a:rPr b="1" lang="en" sz="1600"/>
              <a:t>eventual consistency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a replica is disconnected or falling behind, the users reading from that node see inconsistent data.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Durability </a:t>
            </a:r>
            <a:r>
              <a:rPr lang="en" sz="1600"/>
              <a:t>is not guaranteed. If the leader breaks, the latest writes are lost.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Single Leader (Leader Follower)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the leader fails in a single-leader setup, there are a few approaches to handle this.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Standby Leader: </a:t>
            </a:r>
            <a:r>
              <a:rPr lang="en" sz="1600"/>
              <a:t>One node plays the standby leader. If the primary leader fails, the standby node replaces it.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Leader Election: </a:t>
            </a:r>
            <a:r>
              <a:rPr lang="en" sz="1600"/>
              <a:t>The cluster elects a new leader that comes up to accept the new writes.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Multiple Leader Solutions: </a:t>
            </a:r>
            <a:r>
              <a:rPr lang="en" sz="1600"/>
              <a:t>(Next Slide)</a:t>
            </a:r>
            <a:endParaRPr sz="1600"/>
          </a:p>
        </p:txBody>
      </p:sp>
      <p:sp>
        <p:nvSpPr>
          <p:cNvPr id="159" name="Google Shape;159;p1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Leader Failover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Multiple leaders can accept writes simultaneously.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 single leader is no longer a single point of failure.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write workload would be distributed between the nodes.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write latency could be lower.</a:t>
            </a:r>
            <a:endParaRPr sz="1400"/>
          </a:p>
        </p:txBody>
      </p:sp>
      <p:sp>
        <p:nvSpPr>
          <p:cNvPr id="165" name="Google Shape;165;p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Multi-Leader Replication</a:t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3525" y="2117050"/>
            <a:ext cx="4517600" cy="27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421975" y="1052375"/>
            <a:ext cx="84603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Concurrent updates are the biggest disadvantage.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 same data is updated by multiple leaders, resolving the conflict is quite complex.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Normally, the DB overwrites the latest update to each node but it still damages the consistency.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i="1" lang="en" sz="1500"/>
              <a:t>(Optional) Refer to this document on how concurrent writes are handled.</a:t>
            </a:r>
            <a:endParaRPr i="1" sz="15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https://www.linkedin.com/pulse/distributed-systems-multi-leader-replication-divagar-carlmarx/</a:t>
            </a:r>
            <a:endParaRPr sz="1200"/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Multi-Leader Replication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 node can receive the writes.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write workload is highly distributed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Availability is higher even if a subset of nodes become disconnected.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Handling multiple writes and their conflicts is more complex.</a:t>
            </a:r>
            <a:endParaRPr sz="1200"/>
          </a:p>
        </p:txBody>
      </p:sp>
      <p:sp>
        <p:nvSpPr>
          <p:cNvPr id="178" name="Google Shape;178;p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Leaderless Replication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421975" y="1052375"/>
            <a:ext cx="8518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CAP Theorem</a:t>
            </a:r>
            <a:r>
              <a:rPr lang="en" sz="1600"/>
              <a:t>: In a distributed system, you can only get two out of three goals at the same time.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Consistency (C):</a:t>
            </a:r>
            <a:r>
              <a:rPr lang="en" sz="1600"/>
              <a:t> Consistency means that all clients see the same data at the same time, no matter which node they connect to.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Every read gets the most recent write.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Availability (A):</a:t>
            </a:r>
            <a:r>
              <a:rPr lang="en" sz="1600"/>
              <a:t> Any client making a request for data gets a response, even if one or more nodes are down.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Partition Tolerance(P):</a:t>
            </a:r>
            <a:r>
              <a:rPr lang="en" sz="1600"/>
              <a:t> Means that the cluster must continue to work even if the connections between nodes are broken.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there's a network problem, you have to choose between being consistent (all nodes show the same data) or being available (responding to requests).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synchronous updates give higher consistency while asynchronous updates give higher availability.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CAP Theorem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421975" y="1052375"/>
            <a:ext cx="87219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basic scenario, each read request gets data from a single node.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a more flexible design, the client can read from multiple nodes and pick the latest data.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increases the chances of read queries being consistent.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below example, if the client reads from two nodes, the chances are higher that it gets the most up to date data.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190" name="Google Shape;190;p2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Multiple Reads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538" y="2645575"/>
            <a:ext cx="5673625" cy="197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1"/>
          <p:cNvCxnSpPr/>
          <p:nvPr/>
        </p:nvCxnSpPr>
        <p:spPr>
          <a:xfrm flipH="1">
            <a:off x="4838425" y="3482525"/>
            <a:ext cx="321300" cy="219000"/>
          </a:xfrm>
          <a:prstGeom prst="straightConnector1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21"/>
          <p:cNvCxnSpPr/>
          <p:nvPr/>
        </p:nvCxnSpPr>
        <p:spPr>
          <a:xfrm>
            <a:off x="4867750" y="3463075"/>
            <a:ext cx="243300" cy="296700"/>
          </a:xfrm>
          <a:prstGeom prst="straightConnector1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21"/>
          <p:cNvCxnSpPr/>
          <p:nvPr/>
        </p:nvCxnSpPr>
        <p:spPr>
          <a:xfrm rot="10800000">
            <a:off x="5714450" y="3190575"/>
            <a:ext cx="1236000" cy="486600"/>
          </a:xfrm>
          <a:prstGeom prst="straightConnector1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idx="1" type="body"/>
          </p:nvPr>
        </p:nvSpPr>
        <p:spPr>
          <a:xfrm>
            <a:off x="421975" y="1052375"/>
            <a:ext cx="87219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Similarly, writes can be sent to multiple nodes before an acknowledgment is received.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instance, in a synchronous update, writes are sent to all nodes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W</a:t>
            </a:r>
            <a:r>
              <a:rPr lang="en" sz="1600"/>
              <a:t> is the number of write nodes (write quorum), and </a:t>
            </a:r>
            <a:r>
              <a:rPr b="1" lang="en" sz="1600"/>
              <a:t>R</a:t>
            </a:r>
            <a:r>
              <a:rPr lang="en" sz="1600"/>
              <a:t> is the number of read nodes (read quorum)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Synchronous updates with standard reads in a leader-follower structure are W=N, R=1.</a:t>
            </a:r>
            <a:endParaRPr sz="1600"/>
          </a:p>
        </p:txBody>
      </p:sp>
      <p:sp>
        <p:nvSpPr>
          <p:cNvPr id="200" name="Google Shape;200;p2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Multiple Writes</a:t>
            </a:r>
            <a:endParaRPr/>
          </a:p>
        </p:txBody>
      </p:sp>
      <p:pic>
        <p:nvPicPr>
          <p:cNvPr descr="If w + r &gt; n, at least one of the r replicas you read from must have seen the most recent successful write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425" y="2289500"/>
            <a:ext cx="5557126" cy="24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421975" y="1052375"/>
            <a:ext cx="8518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Quorum Theory</a:t>
            </a:r>
            <a:r>
              <a:rPr lang="en" sz="1600"/>
              <a:t>:  A distributed system is consistent if R + W &gt; N.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ensures that at least one read node has the most up-to-date data.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 and R can be adjusted based on workload.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writes are infrequent, W can be set to N, but this reduces write availability. 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 common approach is to set both to N / 2 (upper bound),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approach offers a good availability.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W &lt; N, the cluster can still accept writes if a node is down.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 if R &lt; N, it can respond to reads.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Quorum-based systems balance the CAP theorem by letting users trade off between consistency and availability while ensuring partition tolerance.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High Availability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Strong Consistency</a:t>
            </a:r>
            <a:endParaRPr sz="1600"/>
          </a:p>
        </p:txBody>
      </p:sp>
      <p:sp>
        <p:nvSpPr>
          <p:cNvPr id="207" name="Google Shape;207;p2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Quorum Theory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421975" y="1052375"/>
            <a:ext cx="8518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Amazon Dynamodb, Cassandra, HBase are examples that use quorum based approaches.</a:t>
            </a:r>
            <a:endParaRPr sz="1600"/>
          </a:p>
        </p:txBody>
      </p:sp>
      <p:sp>
        <p:nvSpPr>
          <p:cNvPr id="213" name="Google Shape;213;p2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Quorum Theory</a:t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6627" y="1536896"/>
            <a:ext cx="2021376" cy="1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8575" y="1470850"/>
            <a:ext cx="2048551" cy="148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7300" y="3051450"/>
            <a:ext cx="3529400" cy="17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datasets are too large to fit on a single machine, both data and processing are distributed across multiple nodes.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a 10 TB dataset could be split across 10 nodes, each holding 1 TB.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26" name="Google Shape;226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Partitioning (Data Sharding)</a:t>
            </a:r>
            <a:endParaRPr/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13" y="2466800"/>
            <a:ext cx="6414024" cy="16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data must be separable for this distribution to work.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a LinkedIn-like scenario using MongoDB, where each request retrieves one user's profile, users can be split across different nodes.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Similarly, an orders database could partition orders by city, such as having one shard for Calgary orders.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33" name="Google Shape;233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Partitioning (Data Sharding)</a:t>
            </a:r>
            <a:endParaRPr/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365" y="1919725"/>
            <a:ext cx="2915175" cy="20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sharding increases scalability by distributing writes, reads, and data across nodes.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nodes share almost nothing, making the system more efficient and scalable.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40" name="Google Shape;240;p2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Partitioning (Data Sharding)</a:t>
            </a:r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1451" y="1662400"/>
            <a:ext cx="4314350" cy="30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idx="1" type="body"/>
          </p:nvPr>
        </p:nvSpPr>
        <p:spPr>
          <a:xfrm>
            <a:off x="421975" y="1052375"/>
            <a:ext cx="8377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relational databases, where tables can be joined in complex ways, implementing partitioning is more challenging. However, NoSQL databases have paved the way for effective partitioning solutions.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MongoDB, BigTable, Cassandra, and Elasticsearch.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Hadoop-based data warehouses also adopt this concept (will be covered later)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Partitioning and replication can be applied independently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 database can be partitioned first and then replicated across each node.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Relational databases also implement partitioning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They face more limitations since inter-partition joins or aggregations are difficult to execute.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instance, if orders are partitioned by city, executing a query like </a:t>
            </a:r>
            <a:r>
              <a:rPr lang="en" sz="1500">
                <a:highlight>
                  <a:srgbClr val="FFF2CC"/>
                </a:highlight>
              </a:rPr>
              <a:t>SELECT SUM(amount) FROM orders;</a:t>
            </a:r>
            <a:r>
              <a:rPr lang="en" sz="1500"/>
              <a:t> would require accessing multiple databases and aggregating the results in a separate system.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500"/>
          </a:p>
        </p:txBody>
      </p:sp>
      <p:sp>
        <p:nvSpPr>
          <p:cNvPr id="247" name="Google Shape;247;p2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Partitioning (Data Sharding)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do you decide which records to store on which nodes?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Random partitioning:</a:t>
            </a:r>
            <a:r>
              <a:rPr lang="en" sz="1600"/>
              <a:t> Randomly assign each record to a node.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When a read query comes in, how do you know which node holds the data?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 sharding algorithm</a:t>
            </a:r>
            <a:r>
              <a:rPr lang="en" sz="1600"/>
              <a:t> is needed to distribute records evenly across nodes (shards).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53" name="Google Shape;253;p3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How to partition data?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NoSQL databases are typically accessed using a primary key, such as: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(MongoDB) </a:t>
            </a:r>
            <a:r>
              <a:rPr lang="en" sz="1600">
                <a:highlight>
                  <a:srgbClr val="FFF2CC"/>
                </a:highlight>
              </a:rPr>
              <a:t>db.users.find({ user_id: 10 })</a:t>
            </a:r>
            <a:endParaRPr sz="1600">
              <a:highlight>
                <a:srgbClr val="FFF2CC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primary key is often used for sharding.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</a:t>
            </a:r>
            <a:r>
              <a:rPr lang="en" sz="1600">
                <a:highlight>
                  <a:srgbClr val="FFF2CC"/>
                </a:highlight>
              </a:rPr>
              <a:t>shard_id = first digit of user_id</a:t>
            </a:r>
            <a:endParaRPr sz="16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59" name="Google Shape;259;p3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How to partition data?</a:t>
            </a:r>
            <a:endParaRPr/>
          </a:p>
        </p:txBody>
      </p:sp>
      <p:graphicFrame>
        <p:nvGraphicFramePr>
          <p:cNvPr id="260" name="Google Shape;260;p31"/>
          <p:cNvGraphicFramePr/>
          <p:nvPr/>
        </p:nvGraphicFramePr>
        <p:xfrm>
          <a:off x="3390425" y="227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{827113D1-853B-4F9D-B0F3-04C018597FF9}</a:tableStyleId>
              </a:tblPr>
              <a:tblGrid>
                <a:gridCol w="840950"/>
                <a:gridCol w="8409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user_id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shard_id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</a:tr>
              <a:tr h="2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1</a:t>
                      </a:r>
                      <a:r>
                        <a:rPr lang="en" sz="1400" u="none" cap="none" strike="noStrike"/>
                        <a:t>3212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4</a:t>
                      </a:r>
                      <a:r>
                        <a:rPr lang="en" sz="1400" u="none" cap="none" strike="noStrike"/>
                        <a:t>2123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2</a:t>
                      </a:r>
                      <a:r>
                        <a:rPr lang="en" sz="1400" u="none" cap="none" strike="noStrike"/>
                        <a:t>3412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1</a:t>
                      </a:r>
                      <a:r>
                        <a:rPr lang="en" sz="1400" u="none" cap="none" strike="noStrike"/>
                        <a:t>2314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n" sz="1400" u="none" cap="none" strike="noStrike"/>
                        <a:t>2132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421975" y="1052375"/>
            <a:ext cx="85431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1400"/>
              <a:t>Partitioning should be fair to prevent data skew.</a:t>
            </a:r>
            <a:endParaRPr sz="14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○"/>
            </a:pPr>
            <a:r>
              <a:rPr lang="en" sz="1200"/>
              <a:t>If 9 out of 10 nodes are idle while one node handles most of the data and workload, it defeats the purpose of sharding.</a:t>
            </a:r>
            <a:endParaRPr sz="12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200"/>
              <a:t>This overloaded node is known as a </a:t>
            </a:r>
            <a:r>
              <a:rPr b="1" lang="en" sz="1200"/>
              <a:t>hotspot</a:t>
            </a:r>
            <a:r>
              <a:rPr lang="en" sz="1200"/>
              <a:t>.</a:t>
            </a: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1400"/>
              <a:t>For example, if user IDs are incremental, and there are 250 users, most user IDs will start with 1 or 2…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</p:txBody>
      </p:sp>
      <p:sp>
        <p:nvSpPr>
          <p:cNvPr id="266" name="Google Shape;266;p3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Skewness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1837225" y="3049450"/>
            <a:ext cx="1229925" cy="1738725"/>
          </a:xfrm>
          <a:prstGeom prst="flowChartMagneticDisk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2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(Hot Spot)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3319975" y="3529575"/>
            <a:ext cx="815450" cy="1235800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4384000" y="3529575"/>
            <a:ext cx="815450" cy="1235800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5522700" y="3529575"/>
            <a:ext cx="815450" cy="1235800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6622450" y="3489100"/>
            <a:ext cx="815450" cy="1235800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0" y="2191850"/>
            <a:ext cx="1584400" cy="2596325"/>
          </a:xfrm>
          <a:prstGeom prst="flowChartMagneticDisk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1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(Hot Spot)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7715275" y="3457675"/>
            <a:ext cx="815450" cy="1235800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421975" y="1052375"/>
            <a:ext cx="72933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Imagine that distribution is done based on the last digit of user IDs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the number of shards is not 10, you can use a formula like </a:t>
            </a:r>
            <a:r>
              <a:rPr lang="en" sz="1400">
                <a:highlight>
                  <a:srgbClr val="FFF2CC"/>
                </a:highlight>
              </a:rPr>
              <a:t>user_id % number_of_shards  </a:t>
            </a:r>
            <a:r>
              <a:rPr lang="en" sz="1400"/>
              <a:t>However, there is still a possibility that data may not be evenly distributed this way.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For example, if the process that generates IDs is not truly random.</a:t>
            </a:r>
            <a:endParaRPr i="1"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</p:txBody>
      </p:sp>
      <p:sp>
        <p:nvSpPr>
          <p:cNvPr id="279" name="Google Shape;279;p3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How to partition data?</a:t>
            </a:r>
            <a:endParaRPr/>
          </a:p>
        </p:txBody>
      </p:sp>
      <p:graphicFrame>
        <p:nvGraphicFramePr>
          <p:cNvPr id="280" name="Google Shape;280;p33"/>
          <p:cNvGraphicFramePr/>
          <p:nvPr/>
        </p:nvGraphicFramePr>
        <p:xfrm>
          <a:off x="6772400" y="215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{827113D1-853B-4F9D-B0F3-04C018597FF9}</a:tableStyleId>
              </a:tblPr>
              <a:tblGrid>
                <a:gridCol w="840950"/>
                <a:gridCol w="8409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user_id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shard_id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</a:tr>
              <a:tr h="2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1321</a:t>
                      </a: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4212</a:t>
                      </a: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rgbClr val="E327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2341</a:t>
                      </a:r>
                      <a:r>
                        <a:rPr lang="en" sz="14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1231</a:t>
                      </a:r>
                      <a:r>
                        <a:rPr lang="en" sz="14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3213</a:t>
                      </a: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421975" y="1052375"/>
            <a:ext cx="85236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Sometimes, primary keys may are not numeric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String: email addresses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Timestamp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Key Range</a:t>
            </a:r>
            <a:r>
              <a:rPr lang="en" sz="1600"/>
              <a:t> is a possible solution for partitioning, where data is divided into ranges.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example, Partition 1 could handle keys from A to M, while Partition 2 could cover N to Q, etc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 key ranges, some shards can still become hotspots.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instance, with timestamps, most queries are likely to access the shards containing the most recent data.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As an example, if you have 12 shards, one for each month of the year, queries would consistently target the shard corresponding to the current month, leading to uneven load distribution.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86" name="Google Shape;286;p3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Key Range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Hash-based partitioning:</a:t>
            </a:r>
            <a:r>
              <a:rPr lang="en" sz="1600"/>
              <a:t> A hash key is often used as an alternative solution to achieve balanced partitions: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highlight>
                  <a:srgbClr val="FFF2CC"/>
                </a:highlight>
              </a:rPr>
              <a:t>shard_id = hash_function(primary_key) % number_of_shards.</a:t>
            </a:r>
            <a:endParaRPr sz="1600">
              <a:highlight>
                <a:srgbClr val="FFF2CC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method helps evenly distribute records across shards, minimizing hotspots.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Downside: Using a hash function can lead to a scenario where adjacent IDs are no longer stored as adjacent rows in the database.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instance, if you are retrieving rows based on adjacent timestamps, you may hit different shards.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292" name="Google Shape;292;p3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Hash Key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needs to be rebalanced when the number of shards changes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Depending on the workload, we may need to add a new shard to handle higher traffic or remove one to reduce the costs.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example, when adding a new shard, some of the current data needs to be moved to it.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Also, some data in existing shards may need to move depending on the sharding strategy </a:t>
            </a:r>
            <a:r>
              <a:rPr lang="en" sz="1500">
                <a:highlight>
                  <a:srgbClr val="FFF2CC"/>
                </a:highlight>
              </a:rPr>
              <a:t>(e.g., shard_id = id % number_of_shards)</a:t>
            </a:r>
            <a:r>
              <a:rPr lang="en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When removing a shards, same complexities apply.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Rebalancing strategies should ensure that the cluster works during the changes.</a:t>
            </a:r>
            <a:endParaRPr sz="1600"/>
          </a:p>
        </p:txBody>
      </p:sp>
      <p:sp>
        <p:nvSpPr>
          <p:cNvPr id="298" name="Google Shape;298;p3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Shard Changes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Choosing the sharding strategy is up to software engineers and data developers.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They sharding algorithm needs to:</a:t>
            </a:r>
            <a:endParaRPr sz="16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n" sz="1500"/>
              <a:t>Evenly distribute the data across shards to prevent hotspots and ensure balanced load.</a:t>
            </a:r>
            <a:endParaRPr sz="1500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 sz="1500"/>
              <a:t>Ensure that the result of each query is stored within a single shard so there is less need for cross-shard queries.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304" name="Google Shape;304;p3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Imagine a restaurant management system that waiters use to handle orders and receive payments.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system includes a dashboard for restaurant management to view data analytics reports such as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number of orders received by each waiter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total revenue generated by each menu item.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data analytics queries in this case always use one restaurant's data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e.g., they include a filter like WHERE restaurant_id = {restaurant_id}.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this scenario, using </a:t>
            </a:r>
            <a:r>
              <a:rPr lang="en" sz="1600">
                <a:highlight>
                  <a:srgbClr val="FFF2CC"/>
                </a:highlight>
              </a:rPr>
              <a:t>hash(restaurant_id)</a:t>
            </a:r>
            <a:r>
              <a:rPr lang="en" sz="1600"/>
              <a:t> can be a good choice for sharding.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Even though the query doesn’t access one record at a time, it still hits one shard.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1828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310" name="Google Shape;310;p3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Sharding Example: Restaurant Management System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Sharding and replication offer independent benefits for distributed systems.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Sharding </a:t>
            </a:r>
            <a:r>
              <a:rPr lang="en" sz="1600"/>
              <a:t>balances the write load by distributing data across different servers. </a:t>
            </a:r>
            <a:r>
              <a:rPr b="1" lang="en" sz="1600"/>
              <a:t>Replication </a:t>
            </a:r>
            <a:r>
              <a:rPr lang="en" sz="1600"/>
              <a:t>primarily improves read performance and improves availability.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Sharding and replication can work together effectively. For example, a system can shard data to improve performance while also replicating those shards to ensure high availability. This combination provides both scalability and reliability.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316" name="Google Shape;316;p3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Sharding VS Replication</a:t>
            </a:r>
            <a:endParaRPr/>
          </a:p>
        </p:txBody>
      </p:sp>
      <p:pic>
        <p:nvPicPr>
          <p:cNvPr id="317" name="Google Shape;317;p39"/>
          <p:cNvPicPr preferRelativeResize="0"/>
          <p:nvPr/>
        </p:nvPicPr>
        <p:blipFill rotWithShape="1">
          <a:blip r:embed="rId3">
            <a:alphaModFix/>
          </a:blip>
          <a:srcRect b="0" l="0" r="22922" t="54922"/>
          <a:stretch/>
        </p:blipFill>
        <p:spPr>
          <a:xfrm>
            <a:off x="2558087" y="2840225"/>
            <a:ext cx="4027825" cy="172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Partitioning is effective when most queries involve reading or writing data by a single ID (e.g., in NoSQL databases) or a few IDs.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level of support is common in many NoSQL systems, which is why they have opened up more opportunities for distributed processing.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In analytics use cases, you often need to read multiple columns of data from several tables, involving numerous joins and aggregations.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 such scenarios, sharding and partitioning do not provide significant benefits. This is known as Massively Parallel Processing (MPP).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has recently led to two major developments in the big data world: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Hadoop-based data processing tools, such as MapReduce, Hadoop, and Spark,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Moder Cloud Data warehouses like Amazon Redshift, Google BigQuery, and Snowflake.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We will cover these next…</a:t>
            </a:r>
            <a:endParaRPr sz="1600"/>
          </a:p>
        </p:txBody>
      </p:sp>
      <p:sp>
        <p:nvSpPr>
          <p:cNvPr id="323" name="Google Shape;323;p4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Massively Parallel Processing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