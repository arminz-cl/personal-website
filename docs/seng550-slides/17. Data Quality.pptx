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yQoFwse7EfgyMpN7BTA68rt0k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8010CD-6AE3-4D09-95C5-8BDC9A35CA52}">
  <a:tblStyle styleId="{1C8010CD-6AE3-4D09-95C5-8BDC9A35CA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a1007964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9a1007964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c6682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a4c668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c6682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a4c6682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4c6682e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a4c6682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4c6682e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aa4c6682e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4c6682e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a4c6682e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4c6682e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aa4c6682e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4c6682e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a4c6682e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4c6682e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aa4c6682e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4c6682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a4c6682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4c6682e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a4c6682e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4c6682e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aa4c6682e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a4c6682e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a4c6682e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3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2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2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2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2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2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7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27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27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9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9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Data Quality</a:t>
            </a:r>
            <a:endParaRPr sz="30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12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a1007964c_0_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Why Data Quality Matters?</a:t>
            </a:r>
            <a:endParaRPr/>
          </a:p>
        </p:txBody>
      </p:sp>
      <p:sp>
        <p:nvSpPr>
          <p:cNvPr id="70" name="Google Shape;70;g39a1007964c_0_17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/>
              <a:t>Imagine…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food delivery system incorrectly marks alcoholic items as non-alcoholic -&gt; legal issues.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tax calculation service double-counts an amount -&gt; double tax is deducted or paid.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medical system mislabels a patient’s allergy -&gt; risk to patient safety.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So bad quality dataset can have negative real world impacts… 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a4c6682eb_0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Quality issues are common</a:t>
            </a:r>
            <a:endParaRPr/>
          </a:p>
        </p:txBody>
      </p:sp>
      <p:sp>
        <p:nvSpPr>
          <p:cNvPr id="76" name="Google Shape;76;g3aa4c6682eb_0_0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Modern data pipelines have many steps: ingestion, transformations, joins, denormalized tables, aggregations, batch + streaming.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 data point is reappeared in lots of data stores in various formats. (raw orders -&gt; cleaned orders -&gt; enriched orders -&gt; fact orders -&gt; summarized orders)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 step (pipeline) has a chance to introduce a bug in </a:t>
            </a:r>
            <a:r>
              <a:rPr lang="en" sz="1600"/>
              <a:t>the dataset </a:t>
            </a:r>
            <a:r>
              <a:rPr b="1" lang="en" sz="1600"/>
              <a:t>silently</a:t>
            </a:r>
            <a:r>
              <a:rPr lang="en" sz="1600"/>
              <a:t>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77" name="Google Shape;77;g3aa4c6682e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474" y="2571750"/>
            <a:ext cx="3759816" cy="24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4c6682eb_0_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Errors Spread Quickly</a:t>
            </a:r>
            <a:endParaRPr/>
          </a:p>
        </p:txBody>
      </p:sp>
      <p:sp>
        <p:nvSpPr>
          <p:cNvPr id="83" name="Google Shape;83;g3aa4c6682eb_0_6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When a dataset is buggy, the error can replicate in all downstreams.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Downstreams can be inside or outside your team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Downstreams can be outside the company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So, by the time you realize the issues, different tables at different stages and within different teams can be polluted.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can become </a:t>
            </a:r>
            <a:r>
              <a:rPr lang="en" sz="1600"/>
              <a:t>overly</a:t>
            </a:r>
            <a:r>
              <a:rPr lang="en" sz="1600"/>
              <a:t> difficult to near impossible to fix the problems.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4c6682eb_0_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89" name="Google Shape;89;g3aa4c6682eb_0_12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s</a:t>
            </a:r>
            <a:r>
              <a:rPr lang="en" sz="1600"/>
              <a:t>elect o.*, c.country from orders as o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	</a:t>
            </a:r>
            <a:r>
              <a:rPr lang="en" sz="1600"/>
              <a:t>l</a:t>
            </a:r>
            <a:r>
              <a:rPr lang="en" sz="1600"/>
              <a:t>eft join countries as c on c.city = c.country.</a:t>
            </a:r>
            <a:endParaRPr sz="1600"/>
          </a:p>
        </p:txBody>
      </p:sp>
      <p:graphicFrame>
        <p:nvGraphicFramePr>
          <p:cNvPr id="90" name="Google Shape;90;g3aa4c6682eb_0_12"/>
          <p:cNvGraphicFramePr/>
          <p:nvPr/>
        </p:nvGraphicFramePr>
        <p:xfrm>
          <a:off x="5421675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{1C8010CD-6AE3-4D09-95C5-8BDC9A35CA52}</a:tableStyleId>
              </a:tblPr>
              <a:tblGrid>
                <a:gridCol w="1024375"/>
                <a:gridCol w="174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city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country</a:t>
                      </a:r>
                      <a:endParaRPr sz="24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Toronto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Calgary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London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…</a:t>
                      </a:r>
                      <a:endParaRPr sz="1600"/>
                    </a:p>
                  </a:txBody>
                  <a:tcPr marT="91425" marB="91425" marR="91425" marL="91425" anchor="ctr"/>
                </a:tc>
                <a:tc hMerge="1"/>
              </a:tr>
            </a:tbl>
          </a:graphicData>
        </a:graphic>
      </p:graphicFrame>
      <p:sp>
        <p:nvSpPr>
          <p:cNvPr id="91" name="Google Shape;91;g3aa4c6682eb_0_12"/>
          <p:cNvSpPr/>
          <p:nvPr/>
        </p:nvSpPr>
        <p:spPr>
          <a:xfrm>
            <a:off x="251450" y="2651750"/>
            <a:ext cx="1234500" cy="9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</p:txBody>
      </p:sp>
      <p:sp>
        <p:nvSpPr>
          <p:cNvPr id="92" name="Google Shape;92;g3aa4c6682eb_0_12"/>
          <p:cNvSpPr/>
          <p:nvPr/>
        </p:nvSpPr>
        <p:spPr>
          <a:xfrm>
            <a:off x="1725925" y="3817625"/>
            <a:ext cx="1131600" cy="90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ountry mapping</a:t>
            </a:r>
            <a:endParaRPr/>
          </a:p>
        </p:txBody>
      </p:sp>
      <p:cxnSp>
        <p:nvCxnSpPr>
          <p:cNvPr id="93" name="Google Shape;93;g3aa4c6682eb_0_12"/>
          <p:cNvCxnSpPr>
            <a:stCxn id="91" idx="3"/>
          </p:cNvCxnSpPr>
          <p:nvPr/>
        </p:nvCxnSpPr>
        <p:spPr>
          <a:xfrm flipH="1" rot="10800000">
            <a:off x="1485950" y="3120350"/>
            <a:ext cx="18174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g3aa4c6682eb_0_12"/>
          <p:cNvSpPr txBox="1"/>
          <p:nvPr/>
        </p:nvSpPr>
        <p:spPr>
          <a:xfrm>
            <a:off x="1725925" y="2785025"/>
            <a:ext cx="34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enrichment</a:t>
            </a:r>
            <a:endParaRPr/>
          </a:p>
        </p:txBody>
      </p:sp>
      <p:sp>
        <p:nvSpPr>
          <p:cNvPr id="95" name="Google Shape;95;g3aa4c6682eb_0_12"/>
          <p:cNvSpPr/>
          <p:nvPr/>
        </p:nvSpPr>
        <p:spPr>
          <a:xfrm>
            <a:off x="3246125" y="2720350"/>
            <a:ext cx="1234500" cy="9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rders with countries</a:t>
            </a:r>
            <a:endParaRPr/>
          </a:p>
        </p:txBody>
      </p:sp>
      <p:cxnSp>
        <p:nvCxnSpPr>
          <p:cNvPr id="96" name="Google Shape;96;g3aa4c6682eb_0_12"/>
          <p:cNvCxnSpPr>
            <a:stCxn id="92" idx="0"/>
          </p:cNvCxnSpPr>
          <p:nvPr/>
        </p:nvCxnSpPr>
        <p:spPr>
          <a:xfrm flipH="1" rot="10800000">
            <a:off x="2291725" y="3131825"/>
            <a:ext cx="17100" cy="6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g3aa4c6682eb_0_12"/>
          <p:cNvCxnSpPr/>
          <p:nvPr/>
        </p:nvCxnSpPr>
        <p:spPr>
          <a:xfrm flipH="1">
            <a:off x="2365900" y="1691650"/>
            <a:ext cx="68700" cy="115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4c6682eb_0_3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03" name="Google Shape;103;g3aa4c6682eb_0_32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select o.*, c.country from orders as o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	left join countries as c on c.city = c.country.</a:t>
            </a:r>
            <a:endParaRPr sz="1600"/>
          </a:p>
        </p:txBody>
      </p:sp>
      <p:graphicFrame>
        <p:nvGraphicFramePr>
          <p:cNvPr id="104" name="Google Shape;104;g3aa4c6682eb_0_32"/>
          <p:cNvGraphicFramePr/>
          <p:nvPr/>
        </p:nvGraphicFramePr>
        <p:xfrm>
          <a:off x="5421675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{1C8010CD-6AE3-4D09-95C5-8BDC9A35CA52}</a:tableStyleId>
              </a:tblPr>
              <a:tblGrid>
                <a:gridCol w="1024375"/>
                <a:gridCol w="1745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city</a:t>
                      </a:r>
                      <a:endParaRPr sz="24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country</a:t>
                      </a:r>
                      <a:endParaRPr sz="24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Toronto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Calgary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London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Canada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London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UK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…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105" name="Google Shape;105;g3aa4c6682eb_0_32"/>
          <p:cNvSpPr/>
          <p:nvPr/>
        </p:nvSpPr>
        <p:spPr>
          <a:xfrm>
            <a:off x="251450" y="2651750"/>
            <a:ext cx="1234500" cy="9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</p:txBody>
      </p:sp>
      <p:sp>
        <p:nvSpPr>
          <p:cNvPr id="106" name="Google Shape;106;g3aa4c6682eb_0_32"/>
          <p:cNvSpPr/>
          <p:nvPr/>
        </p:nvSpPr>
        <p:spPr>
          <a:xfrm>
            <a:off x="1725925" y="3817625"/>
            <a:ext cx="1131600" cy="90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country mapping</a:t>
            </a:r>
            <a:endParaRPr/>
          </a:p>
        </p:txBody>
      </p:sp>
      <p:cxnSp>
        <p:nvCxnSpPr>
          <p:cNvPr id="107" name="Google Shape;107;g3aa4c6682eb_0_32"/>
          <p:cNvCxnSpPr>
            <a:stCxn id="105" idx="3"/>
          </p:cNvCxnSpPr>
          <p:nvPr/>
        </p:nvCxnSpPr>
        <p:spPr>
          <a:xfrm flipH="1" rot="10800000">
            <a:off x="1485950" y="3120350"/>
            <a:ext cx="18174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g3aa4c6682eb_0_32"/>
          <p:cNvSpPr txBox="1"/>
          <p:nvPr/>
        </p:nvSpPr>
        <p:spPr>
          <a:xfrm>
            <a:off x="1725925" y="2785025"/>
            <a:ext cx="34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enrichment</a:t>
            </a:r>
            <a:endParaRPr/>
          </a:p>
        </p:txBody>
      </p:sp>
      <p:sp>
        <p:nvSpPr>
          <p:cNvPr id="109" name="Google Shape;109;g3aa4c6682eb_0_32"/>
          <p:cNvSpPr/>
          <p:nvPr/>
        </p:nvSpPr>
        <p:spPr>
          <a:xfrm>
            <a:off x="3246125" y="2720350"/>
            <a:ext cx="1234500" cy="170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duplicated orders with countries</a:t>
            </a:r>
            <a:endParaRPr/>
          </a:p>
        </p:txBody>
      </p:sp>
      <p:cxnSp>
        <p:nvCxnSpPr>
          <p:cNvPr id="110" name="Google Shape;110;g3aa4c6682eb_0_32"/>
          <p:cNvCxnSpPr>
            <a:stCxn id="106" idx="0"/>
          </p:cNvCxnSpPr>
          <p:nvPr/>
        </p:nvCxnSpPr>
        <p:spPr>
          <a:xfrm flipH="1" rot="10800000">
            <a:off x="2291725" y="3131825"/>
            <a:ext cx="17100" cy="6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g3aa4c6682eb_0_32"/>
          <p:cNvCxnSpPr/>
          <p:nvPr/>
        </p:nvCxnSpPr>
        <p:spPr>
          <a:xfrm flipH="1">
            <a:off x="2365900" y="1691650"/>
            <a:ext cx="68700" cy="115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4c6682eb_0_4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17" name="Google Shape;117;g3aa4c6682eb_0_46"/>
          <p:cNvSpPr txBox="1"/>
          <p:nvPr>
            <p:ph idx="1" type="body"/>
          </p:nvPr>
        </p:nvSpPr>
        <p:spPr>
          <a:xfrm>
            <a:off x="421975" y="948175"/>
            <a:ext cx="81207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select o.*, c.country from orders as o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	left join countries as c on c.city = c.country.</a:t>
            </a:r>
            <a:endParaRPr sz="1600"/>
          </a:p>
        </p:txBody>
      </p:sp>
      <p:sp>
        <p:nvSpPr>
          <p:cNvPr id="118" name="Google Shape;118;g3aa4c6682eb_0_46"/>
          <p:cNvSpPr/>
          <p:nvPr/>
        </p:nvSpPr>
        <p:spPr>
          <a:xfrm>
            <a:off x="251450" y="2651750"/>
            <a:ext cx="1234500" cy="9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</p:txBody>
      </p:sp>
      <p:sp>
        <p:nvSpPr>
          <p:cNvPr id="119" name="Google Shape;119;g3aa4c6682eb_0_46"/>
          <p:cNvSpPr/>
          <p:nvPr/>
        </p:nvSpPr>
        <p:spPr>
          <a:xfrm>
            <a:off x="1725925" y="3817625"/>
            <a:ext cx="1131600" cy="90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country mapping</a:t>
            </a:r>
            <a:endParaRPr/>
          </a:p>
        </p:txBody>
      </p:sp>
      <p:cxnSp>
        <p:nvCxnSpPr>
          <p:cNvPr id="120" name="Google Shape;120;g3aa4c6682eb_0_46"/>
          <p:cNvCxnSpPr>
            <a:stCxn id="118" idx="3"/>
          </p:cNvCxnSpPr>
          <p:nvPr/>
        </p:nvCxnSpPr>
        <p:spPr>
          <a:xfrm flipH="1" rot="10800000">
            <a:off x="1485950" y="3120350"/>
            <a:ext cx="18174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g3aa4c6682eb_0_46"/>
          <p:cNvSpPr txBox="1"/>
          <p:nvPr/>
        </p:nvSpPr>
        <p:spPr>
          <a:xfrm>
            <a:off x="1725925" y="2785025"/>
            <a:ext cx="34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enrichment</a:t>
            </a:r>
            <a:endParaRPr/>
          </a:p>
        </p:txBody>
      </p:sp>
      <p:sp>
        <p:nvSpPr>
          <p:cNvPr id="122" name="Google Shape;122;g3aa4c6682eb_0_46"/>
          <p:cNvSpPr/>
          <p:nvPr/>
        </p:nvSpPr>
        <p:spPr>
          <a:xfrm>
            <a:off x="3246125" y="2720350"/>
            <a:ext cx="1234500" cy="170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duplicated orders with countries</a:t>
            </a:r>
            <a:endParaRPr/>
          </a:p>
        </p:txBody>
      </p:sp>
      <p:cxnSp>
        <p:nvCxnSpPr>
          <p:cNvPr id="123" name="Google Shape;123;g3aa4c6682eb_0_46"/>
          <p:cNvCxnSpPr>
            <a:stCxn id="119" idx="0"/>
          </p:cNvCxnSpPr>
          <p:nvPr/>
        </p:nvCxnSpPr>
        <p:spPr>
          <a:xfrm flipH="1" rot="10800000">
            <a:off x="2291725" y="3131825"/>
            <a:ext cx="17100" cy="6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g3aa4c6682eb_0_46"/>
          <p:cNvCxnSpPr/>
          <p:nvPr/>
        </p:nvCxnSpPr>
        <p:spPr>
          <a:xfrm flipH="1">
            <a:off x="2365900" y="1691650"/>
            <a:ext cx="68700" cy="115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3aa4c6682eb_0_46"/>
          <p:cNvCxnSpPr>
            <a:stCxn id="122" idx="3"/>
          </p:cNvCxnSpPr>
          <p:nvPr/>
        </p:nvCxnSpPr>
        <p:spPr>
          <a:xfrm>
            <a:off x="4480625" y="3571900"/>
            <a:ext cx="2560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g3aa4c6682eb_0_46"/>
          <p:cNvSpPr txBox="1"/>
          <p:nvPr/>
        </p:nvSpPr>
        <p:spPr>
          <a:xfrm>
            <a:off x="4572000" y="2823950"/>
            <a:ext cx="366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elect sum(tax) from orders_with_countries where country = ‘UK’ -&gt; to pay UK taxes</a:t>
            </a:r>
            <a:endParaRPr/>
          </a:p>
        </p:txBody>
      </p:sp>
      <p:sp>
        <p:nvSpPr>
          <p:cNvPr id="127" name="Google Shape;127;g3aa4c6682eb_0_46"/>
          <p:cNvSpPr/>
          <p:nvPr/>
        </p:nvSpPr>
        <p:spPr>
          <a:xfrm>
            <a:off x="7040825" y="3439550"/>
            <a:ext cx="1234500" cy="9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UK Tax</a:t>
            </a:r>
            <a:endParaRPr/>
          </a:p>
        </p:txBody>
      </p:sp>
      <p:cxnSp>
        <p:nvCxnSpPr>
          <p:cNvPr id="128" name="Google Shape;128;g3aa4c6682eb_0_46"/>
          <p:cNvCxnSpPr>
            <a:stCxn id="129" idx="2"/>
          </p:cNvCxnSpPr>
          <p:nvPr/>
        </p:nvCxnSpPr>
        <p:spPr>
          <a:xfrm flipH="1">
            <a:off x="6709500" y="2281213"/>
            <a:ext cx="1137300" cy="54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g3aa4c6682eb_0_46"/>
          <p:cNvSpPr txBox="1"/>
          <p:nvPr/>
        </p:nvSpPr>
        <p:spPr>
          <a:xfrm>
            <a:off x="6400800" y="1665613"/>
            <a:ext cx="289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Taxes for orders of London, Canada are also paid to UK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4c6682eb_0_8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Quality Dimensions</a:t>
            </a:r>
            <a:endParaRPr/>
          </a:p>
        </p:txBody>
      </p:sp>
      <p:sp>
        <p:nvSpPr>
          <p:cNvPr id="135" name="Google Shape;135;g3aa4c6682eb_0_81"/>
          <p:cNvSpPr txBox="1"/>
          <p:nvPr>
            <p:ph idx="1" type="body"/>
          </p:nvPr>
        </p:nvSpPr>
        <p:spPr>
          <a:xfrm>
            <a:off x="421975" y="948175"/>
            <a:ext cx="81207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Uniqueness / Duplication: Is data unique on the key it’s supposed to be unique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City in the previous example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</a:t>
            </a:r>
            <a:r>
              <a:rPr lang="en" sz="1600"/>
              <a:t>rder_id in orders table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Freshness: </a:t>
            </a:r>
            <a:r>
              <a:rPr lang="en" sz="1600"/>
              <a:t>Data is not stale or outdated.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the latest order in orders have a very recent timestamp?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s</a:t>
            </a:r>
            <a:r>
              <a:rPr lang="en" sz="1600"/>
              <a:t>elect current_timestamp() - max(order_time) from orders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Keys match (referential integrity).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Are all the foreign keys presented in the </a:t>
            </a:r>
            <a:r>
              <a:rPr lang="en" sz="1600"/>
              <a:t>relevant</a:t>
            </a:r>
            <a:r>
              <a:rPr lang="en" sz="1600"/>
              <a:t> orders?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Is the city field on all orders presented in the city_country_mapping?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not, we’re going to miss those orders in tax calculated.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 null: Is there null values in the not nullable fields?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City in the orders must be not null.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4c6682eb_0_8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Quality Dimensions</a:t>
            </a:r>
            <a:endParaRPr/>
          </a:p>
        </p:txBody>
      </p:sp>
      <p:sp>
        <p:nvSpPr>
          <p:cNvPr id="141" name="Google Shape;141;g3aa4c6682eb_0_86"/>
          <p:cNvSpPr txBox="1"/>
          <p:nvPr>
            <p:ph idx="1" type="body"/>
          </p:nvPr>
        </p:nvSpPr>
        <p:spPr>
          <a:xfrm>
            <a:off x="433405" y="948175"/>
            <a:ext cx="8607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Accepted values: The categorical values are from the accepted values.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Order status is one of the predefined values. ['placed', 'shipped', 'completed', 'returned']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Otherwise, …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Value ranges: The amounts are within predefined ranges.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Payment amounts aren’t negative.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0 &lt; </a:t>
            </a:r>
            <a:r>
              <a:rPr lang="en" sz="1600"/>
              <a:t>u</a:t>
            </a:r>
            <a:r>
              <a:rPr lang="en" sz="1600"/>
              <a:t>ser.age &lt; 150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4c6682eb_0_9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Automated Data Quality Monitoring</a:t>
            </a:r>
            <a:endParaRPr/>
          </a:p>
        </p:txBody>
      </p:sp>
      <p:sp>
        <p:nvSpPr>
          <p:cNvPr id="147" name="Google Shape;147;g3aa4c6682eb_0_91"/>
          <p:cNvSpPr txBox="1"/>
          <p:nvPr>
            <p:ph idx="1" type="body"/>
          </p:nvPr>
        </p:nvSpPr>
        <p:spPr>
          <a:xfrm>
            <a:off x="433405" y="948175"/>
            <a:ext cx="8607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 maintain high data quality, we develop tests that are scheduled to run frequently on datasets.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example, if the below query returns anything, that’s a sign of duplicate data in orders.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</a:t>
            </a:r>
            <a:r>
              <a:rPr lang="en" sz="1600"/>
              <a:t>elect order_id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f</a:t>
            </a:r>
            <a:r>
              <a:rPr lang="en" sz="1600"/>
              <a:t>rom orders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g</a:t>
            </a:r>
            <a:r>
              <a:rPr lang="en" sz="1600"/>
              <a:t>roup by order_id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h</a:t>
            </a:r>
            <a:r>
              <a:rPr lang="en" sz="1600"/>
              <a:t>aving count(‘*’) &gt; 1;</a:t>
            </a:r>
            <a:endParaRPr sz="1600"/>
          </a:p>
          <a:p>
            <a:pPr indent="-32385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</a:t>
            </a:r>
            <a:r>
              <a:rPr lang="en" sz="1500"/>
              <a:t>elect current_timestamp() - max(order_time) as latency from orders where latency &gt; ‘5 minutes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These tests can alert the developers through emails, slack, etc so they can react.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failures can be recorded for team’s awareness.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“Fail Fast” -&gt; in cases, we run tests before the next step of the pipeline runs. If the test fails, the pipeline will be paused until developers address it.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a4c6682eb_1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Legal Requirements (SOX &amp; Other Regulations)</a:t>
            </a:r>
            <a:endParaRPr/>
          </a:p>
        </p:txBody>
      </p:sp>
      <p:sp>
        <p:nvSpPr>
          <p:cNvPr id="153" name="Google Shape;153;g3aa4c6682eb_1_0"/>
          <p:cNvSpPr txBox="1"/>
          <p:nvPr>
            <p:ph idx="1" type="body"/>
          </p:nvPr>
        </p:nvSpPr>
        <p:spPr>
          <a:xfrm>
            <a:off x="433405" y="948175"/>
            <a:ext cx="8607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large organizations, especially those dealing with financial, customer, or personal data, laws often require strict data accuracy controls.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Companies must implement documented data quality checks (completeness, accuracy, integrity, reconciliation) on key datasets.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Internal and external auditors (e.g., SOX auditors, SEC/OSC auditors) require evidence that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Tests are running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Issues are logged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Pipelines are monitored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a data error affects customers (e.g., wrong billing, incorrect balances, inaccurate statements), companies may be legally required to notify reported customers, report the incident to regulators, perform investigation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Failure to maintain those regulations can lead to penalties and further legal risks.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a4c6682eb_1_2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Legal Requirements (SOX &amp; Other Regulations)</a:t>
            </a:r>
            <a:endParaRPr/>
          </a:p>
        </p:txBody>
      </p:sp>
      <p:sp>
        <p:nvSpPr>
          <p:cNvPr id="159" name="Google Shape;159;g3aa4c6682eb_1_23"/>
          <p:cNvSpPr txBox="1"/>
          <p:nvPr>
            <p:ph idx="1" type="body"/>
          </p:nvPr>
        </p:nvSpPr>
        <p:spPr>
          <a:xfrm>
            <a:off x="433405" y="948175"/>
            <a:ext cx="8607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SOX: Ensures financial data is accurate, traceable, and supported by strong internal controls for audits.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GDPR: Requires companies to keep personal data accurate and correct, with strict responsibilities for mistakes.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HIPAA: Protects medical information and demands accurate, consistent patient data to ensure safety.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PCI DSS: Enforces strict accuracy and integrity rules on credit card and payment transaction data.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 need to memorize the definitions for the exam.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a4c6682eb_1_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Legal Requirements (SOX &amp; Other Regulations)</a:t>
            </a:r>
            <a:endParaRPr/>
          </a:p>
        </p:txBody>
      </p:sp>
      <p:sp>
        <p:nvSpPr>
          <p:cNvPr id="165" name="Google Shape;165;g3aa4c6682eb_1_17"/>
          <p:cNvSpPr txBox="1"/>
          <p:nvPr>
            <p:ph idx="1" type="body"/>
          </p:nvPr>
        </p:nvSpPr>
        <p:spPr>
          <a:xfrm>
            <a:off x="433402" y="948175"/>
            <a:ext cx="49272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/>
              <a:t>Data quality has recently become a major focus in modern data engineering. As pipelines grow more complex and decisions rely heavily on data, ensuring accuracy is now an essential and fast-growing topic in the industry.</a:t>
            </a:r>
            <a:endParaRPr sz="1600"/>
          </a:p>
        </p:txBody>
      </p:sp>
      <p:pic>
        <p:nvPicPr>
          <p:cNvPr id="166" name="Google Shape;166;g3aa4c6682eb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0" y="1074280"/>
            <a:ext cx="2960399" cy="388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a4c6682eb_1_1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Future</a:t>
            </a:r>
            <a:endParaRPr/>
          </a:p>
        </p:txBody>
      </p:sp>
      <p:sp>
        <p:nvSpPr>
          <p:cNvPr id="172" name="Google Shape;172;g3aa4c6682eb_1_11"/>
          <p:cNvSpPr txBox="1"/>
          <p:nvPr>
            <p:ph idx="1" type="body"/>
          </p:nvPr>
        </p:nvSpPr>
        <p:spPr>
          <a:xfrm>
            <a:off x="433405" y="948175"/>
            <a:ext cx="8607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73" name="Google Shape;173;g3aa4c6682eb_1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975" y="1062850"/>
            <a:ext cx="2691199" cy="35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