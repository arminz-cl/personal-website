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jw3q1ZBzBlH0xBjX/hvxpQO2RH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b9ec1aa9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7b9ec1aa9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b9e21a8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7b9e21a8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b9e21a86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7b9e21a86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b9e21a86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7b9e21a86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b9e21a86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7b9e21a86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2"/>
          <p:cNvSpPr txBox="1"/>
          <p:nvPr>
            <p:ph type="ctrTitle"/>
          </p:nvPr>
        </p:nvSpPr>
        <p:spPr>
          <a:xfrm>
            <a:off x="1183709" y="1339007"/>
            <a:ext cx="58809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alibri"/>
              <a:buNone/>
              <a:defRPr b="1" i="0" sz="41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" type="subTitle"/>
          </p:nvPr>
        </p:nvSpPr>
        <p:spPr>
          <a:xfrm>
            <a:off x="1183709" y="3096024"/>
            <a:ext cx="5880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2" type="body"/>
          </p:nvPr>
        </p:nvSpPr>
        <p:spPr>
          <a:xfrm>
            <a:off x="1183709" y="3636920"/>
            <a:ext cx="58809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3" type="body"/>
          </p:nvPr>
        </p:nvSpPr>
        <p:spPr>
          <a:xfrm>
            <a:off x="1183709" y="4485884"/>
            <a:ext cx="4939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23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3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" name="Google Shape;14;p23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5" name="Google Shape;15;p23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" name="Google Shape;16;p23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" name="Google Shape;17;p23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8" name="Google Shape;18;p23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" name="Google Shape;19;p23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" name="Google Shape;20;p2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24"/>
          <p:cNvSpPr txBox="1"/>
          <p:nvPr>
            <p:ph idx="1" type="body"/>
          </p:nvPr>
        </p:nvSpPr>
        <p:spPr>
          <a:xfrm>
            <a:off x="421971" y="1329896"/>
            <a:ext cx="72933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32726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slide">
  <p:cSld name="Statement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idx="1" type="body"/>
          </p:nvPr>
        </p:nvSpPr>
        <p:spPr>
          <a:xfrm>
            <a:off x="1183710" y="1227953"/>
            <a:ext cx="6562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Arial"/>
              <a:buNone/>
              <a:defRPr b="1" i="0" sz="4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to with text">
  <p:cSld name="Sing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/>
          <p:nvPr>
            <p:ph idx="2" type="pic"/>
          </p:nvPr>
        </p:nvSpPr>
        <p:spPr>
          <a:xfrm>
            <a:off x="700398" y="1329766"/>
            <a:ext cx="2953800" cy="29538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26"/>
          <p:cNvSpPr txBox="1"/>
          <p:nvPr>
            <p:ph idx="1" type="body"/>
          </p:nvPr>
        </p:nvSpPr>
        <p:spPr>
          <a:xfrm>
            <a:off x="4010677" y="1329766"/>
            <a:ext cx="45102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2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photo with text">
  <p:cSld name="Doub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/>
          <p:nvPr>
            <p:ph idx="2" type="pic"/>
          </p:nvPr>
        </p:nvSpPr>
        <p:spPr>
          <a:xfrm>
            <a:off x="700398" y="1241431"/>
            <a:ext cx="2987100" cy="16671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27"/>
          <p:cNvSpPr txBox="1"/>
          <p:nvPr>
            <p:ph idx="1" type="body"/>
          </p:nvPr>
        </p:nvSpPr>
        <p:spPr>
          <a:xfrm>
            <a:off x="700398" y="3151862"/>
            <a:ext cx="2997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27"/>
          <p:cNvSpPr/>
          <p:nvPr>
            <p:ph idx="3" type="pic"/>
          </p:nvPr>
        </p:nvSpPr>
        <p:spPr>
          <a:xfrm>
            <a:off x="5430539" y="1241431"/>
            <a:ext cx="2987100" cy="1667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8" name="Google Shape;38;p27"/>
          <p:cNvCxnSpPr/>
          <p:nvPr/>
        </p:nvCxnSpPr>
        <p:spPr>
          <a:xfrm>
            <a:off x="4572000" y="1163485"/>
            <a:ext cx="0" cy="349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" name="Google Shape;39;p27"/>
          <p:cNvSpPr txBox="1"/>
          <p:nvPr>
            <p:ph idx="4" type="body"/>
          </p:nvPr>
        </p:nvSpPr>
        <p:spPr>
          <a:xfrm>
            <a:off x="5430539" y="3151862"/>
            <a:ext cx="2997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2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ding slide">
  <p:cSld name="Concluding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8"/>
          <p:cNvSpPr txBox="1"/>
          <p:nvPr>
            <p:ph type="ctrTitle"/>
          </p:nvPr>
        </p:nvSpPr>
        <p:spPr>
          <a:xfrm>
            <a:off x="1183709" y="1260389"/>
            <a:ext cx="6313800" cy="14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28"/>
          <p:cNvSpPr txBox="1"/>
          <p:nvPr>
            <p:ph idx="1" type="subTitle"/>
          </p:nvPr>
        </p:nvSpPr>
        <p:spPr>
          <a:xfrm>
            <a:off x="1183709" y="2718141"/>
            <a:ext cx="63138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8"/>
          <p:cNvSpPr txBox="1"/>
          <p:nvPr>
            <p:ph idx="2" type="body"/>
          </p:nvPr>
        </p:nvSpPr>
        <p:spPr>
          <a:xfrm>
            <a:off x="1183709" y="3315289"/>
            <a:ext cx="63138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9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29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1183709" y="1339007"/>
            <a:ext cx="58809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en"/>
              <a:t>Scalable Data Analytics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1183709" y="3096024"/>
            <a:ext cx="5880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SENG 550</a:t>
            </a:r>
            <a:endParaRPr/>
          </a:p>
        </p:txBody>
      </p:sp>
      <p:sp>
        <p:nvSpPr>
          <p:cNvPr id="57" name="Google Shape;57;p1"/>
          <p:cNvSpPr txBox="1"/>
          <p:nvPr>
            <p:ph idx="2" type="body"/>
          </p:nvPr>
        </p:nvSpPr>
        <p:spPr>
          <a:xfrm>
            <a:off x="1183709" y="3636920"/>
            <a:ext cx="58809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AKA Big Data, Data Engineering</a:t>
            </a:r>
            <a:endParaRPr/>
          </a:p>
        </p:txBody>
      </p:sp>
      <p:sp>
        <p:nvSpPr>
          <p:cNvPr id="58" name="Google Shape;58;p1"/>
          <p:cNvSpPr txBox="1"/>
          <p:nvPr>
            <p:ph idx="3" type="body"/>
          </p:nvPr>
        </p:nvSpPr>
        <p:spPr>
          <a:xfrm>
            <a:off x="1183709" y="4485884"/>
            <a:ext cx="4939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Armin Zirak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b9ec1aa9c_1_0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 sz="3000"/>
              <a:t>Overview of a Data Intensive Application</a:t>
            </a:r>
            <a:endParaRPr sz="3000"/>
          </a:p>
        </p:txBody>
      </p:sp>
      <p:sp>
        <p:nvSpPr>
          <p:cNvPr id="64" name="Google Shape;64;g37b9ec1aa9c_1_0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Online Food Ordering System </a:t>
            </a:r>
            <a:endParaRPr/>
          </a:p>
        </p:txBody>
      </p:sp>
      <p:sp>
        <p:nvSpPr>
          <p:cNvPr id="70" name="Google Shape;70;p8"/>
          <p:cNvSpPr txBox="1"/>
          <p:nvPr>
            <p:ph idx="1" type="body"/>
          </p:nvPr>
        </p:nvSpPr>
        <p:spPr>
          <a:xfrm>
            <a:off x="421975" y="1329900"/>
            <a:ext cx="83664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" sz="1900"/>
              <a:t>Let’s take an online food ordering system</a:t>
            </a:r>
            <a:r>
              <a:rPr lang="en" sz="1900"/>
              <a:t> as an example</a:t>
            </a:r>
            <a:r>
              <a:rPr lang="en" sz="1900"/>
              <a:t>….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What kind of data exist behind the scene?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What kind of data is generated once the order is placed?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Datasets in Food Delivery Systems</a:t>
            </a:r>
            <a:endParaRPr/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421975" y="1329900"/>
            <a:ext cx="8366400" cy="3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Sample of Datasets 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○"/>
            </a:pPr>
            <a:r>
              <a:rPr lang="en" sz="1400"/>
              <a:t>Restaurant data (menu, prices, location).</a:t>
            </a:r>
            <a:endParaRPr sz="1400"/>
          </a:p>
          <a:p>
            <a:pPr indent="-33655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○"/>
            </a:pPr>
            <a:r>
              <a:rPr lang="en" sz="1400"/>
              <a:t>Customer data (address, payment methods).</a:t>
            </a:r>
            <a:endParaRPr sz="1400"/>
          </a:p>
          <a:p>
            <a:pPr indent="-33655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○"/>
            </a:pPr>
            <a:r>
              <a:rPr lang="en" sz="1400"/>
              <a:t>Driver data (car’s information, availability).</a:t>
            </a:r>
            <a:endParaRPr sz="140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These kinds of datasets are the foundation of software…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They can easily exceed 100 or 1000 data types.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Thousands of queries retrieve data from these datasets at each second, while hundreds of queries update data in these tables.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b9e21a868_0_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Datasets in Food Delivery Systems</a:t>
            </a:r>
            <a:endParaRPr/>
          </a:p>
        </p:txBody>
      </p:sp>
      <p:sp>
        <p:nvSpPr>
          <p:cNvPr id="82" name="Google Shape;82;g37b9e21a868_0_0"/>
          <p:cNvSpPr txBox="1"/>
          <p:nvPr>
            <p:ph idx="1" type="body"/>
          </p:nvPr>
        </p:nvSpPr>
        <p:spPr>
          <a:xfrm>
            <a:off x="421975" y="1329900"/>
            <a:ext cx="83664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Software engineers write programs to store data in databases, update it, and retrieve it as users interact with applications. </a:t>
            </a:r>
            <a:endParaRPr sz="17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This creates the need to understand how to design a data system. 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 type of data storage is most appropriate for each use case? There are many options, e.g., PostgreSQL, MongoDB, Snowflake, Amazon Redshift, DynamoDB, Spark, Hadoop, DBT, etc. 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We aim to understand why we need them and how they fit together.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And, there’s more…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Datasets in Food Delivery Systems</a:t>
            </a:r>
            <a:endParaRPr/>
          </a:p>
        </p:txBody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342200" y="1085850"/>
            <a:ext cx="8366400" cy="3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Let’s look again at what happens when an order is placed.</a:t>
            </a:r>
            <a:endParaRPr sz="1700"/>
          </a:p>
          <a:p>
            <a:pPr indent="-3365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Customer places an order.</a:t>
            </a:r>
            <a:endParaRPr sz="1700"/>
          </a:p>
          <a:p>
            <a:pPr indent="-3365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Restaurant receives the order and prepares the meal.</a:t>
            </a:r>
            <a:endParaRPr sz="1700"/>
          </a:p>
          <a:p>
            <a:pPr indent="-3365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Driver picks up and delivers the food.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Each of these steps generates data…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Orders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Payments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Deliveries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Ratings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b9e21a868_0_8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Datasets in Food Delivery Systems</a:t>
            </a:r>
            <a:endParaRPr/>
          </a:p>
        </p:txBody>
      </p:sp>
      <p:sp>
        <p:nvSpPr>
          <p:cNvPr id="94" name="Google Shape;94;g37b9e21a868_0_8"/>
          <p:cNvSpPr txBox="1"/>
          <p:nvPr>
            <p:ph idx="1" type="body"/>
          </p:nvPr>
        </p:nvSpPr>
        <p:spPr>
          <a:xfrm>
            <a:off x="342200" y="1085850"/>
            <a:ext cx="8366400" cy="3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Thousands of orders could be generated at each second.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 These tables can grow up to terabyte or petabyte size.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Storing and managing these tables requires “Data” skills.</a:t>
            </a:r>
            <a:endParaRPr sz="1700"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Otherwise, they’ll become too slow or too expensive.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b9e21a868_0_19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Datasets in Food Delivery Systems</a:t>
            </a:r>
            <a:endParaRPr/>
          </a:p>
        </p:txBody>
      </p:sp>
      <p:sp>
        <p:nvSpPr>
          <p:cNvPr id="100" name="Google Shape;100;g37b9e21a868_0_19"/>
          <p:cNvSpPr txBox="1"/>
          <p:nvPr>
            <p:ph idx="1" type="body"/>
          </p:nvPr>
        </p:nvSpPr>
        <p:spPr>
          <a:xfrm>
            <a:off x="342200" y="1085850"/>
            <a:ext cx="8366400" cy="3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Thousands of orders could be generated at each second.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 These tables can grow up to terabyte or petabyte size.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Storing and managing these tables requires “Data” skills.</a:t>
            </a:r>
            <a:endParaRPr sz="1700"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Otherwise, they’ll become too slow or too expensive.</a:t>
            </a:r>
            <a:endParaRPr sz="14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n" sz="1700"/>
              <a:t>A simple idea to improve:</a:t>
            </a:r>
            <a:endParaRPr sz="17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Delete data after the order is completed.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What would be the issue?</a:t>
            </a:r>
            <a:endParaRPr sz="14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Datasets in Food Delivery Systems</a:t>
            </a:r>
            <a:endParaRPr/>
          </a:p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>
            <a:off x="421975" y="1329900"/>
            <a:ext cx="85047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 the core part of a software system, data may be only required for a limited time.</a:t>
            </a:r>
            <a:endParaRPr sz="17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 record of an order is needed until it’s not completed so the customer can track its status.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It may still be needed after the order is completed until the payment is made to the driver and the restaurant.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It is (also) needed for the case the customer makes a complaint.</a:t>
            </a:r>
            <a:endParaRPr sz="1500"/>
          </a:p>
          <a:p>
            <a:pPr indent="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But is it needed 3 months after that?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Business Intelligence (BI) Use Cases</a:t>
            </a:r>
            <a:endParaRPr/>
          </a:p>
        </p:txBody>
      </p:sp>
      <p:sp>
        <p:nvSpPr>
          <p:cNvPr id="112" name="Google Shape;112;p13"/>
          <p:cNvSpPr txBox="1"/>
          <p:nvPr>
            <p:ph idx="1" type="body"/>
          </p:nvPr>
        </p:nvSpPr>
        <p:spPr>
          <a:xfrm>
            <a:off x="421975" y="1329900"/>
            <a:ext cx="85047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Managers make decisions about businesses. 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 cities do we need to invest more on drivers?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They ask questions about data and make </a:t>
            </a:r>
            <a:r>
              <a:rPr b="1" lang="en" sz="1700"/>
              <a:t>data driven decisions</a:t>
            </a:r>
            <a:r>
              <a:rPr lang="en" sz="1700"/>
              <a:t>.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Which cities have longer delivery times?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Which cities generate the least revenue?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Which customers order frequently, and what can be done to retain them?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BI Developers, Data Analysts or managers create queries or dashboards on </a:t>
            </a:r>
            <a:r>
              <a:rPr b="1" lang="en" sz="1700"/>
              <a:t>past data.</a:t>
            </a:r>
            <a:endParaRPr b="1"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Past Data = Historical Data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Also known as </a:t>
            </a:r>
            <a:r>
              <a:rPr b="1" lang="en" sz="1700"/>
              <a:t>Analytics Use Cases</a:t>
            </a:r>
            <a:endParaRPr b="1"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b="1" lang="en" sz="1700"/>
              <a:t>Scalable Data Analytics</a:t>
            </a:r>
            <a:endParaRPr b="1"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Artificial Intelligence (Data Science) Use Cases</a:t>
            </a:r>
            <a:endParaRPr/>
          </a:p>
        </p:txBody>
      </p:sp>
      <p:sp>
        <p:nvSpPr>
          <p:cNvPr id="118" name="Google Shape;118;p14"/>
          <p:cNvSpPr txBox="1"/>
          <p:nvPr>
            <p:ph idx="1" type="body"/>
          </p:nvPr>
        </p:nvSpPr>
        <p:spPr>
          <a:xfrm>
            <a:off x="421975" y="1329900"/>
            <a:ext cx="85047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Data Scientists use machine learning algorithms to produce </a:t>
            </a:r>
            <a:r>
              <a:rPr b="1" lang="en" sz="1700"/>
              <a:t>data driven </a:t>
            </a:r>
            <a:r>
              <a:rPr lang="en" sz="1700"/>
              <a:t>outcomes.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Recommending a user's favorite meals based on </a:t>
            </a:r>
            <a:r>
              <a:rPr b="1" lang="en" sz="1700"/>
              <a:t>past orders</a:t>
            </a:r>
            <a:r>
              <a:rPr lang="en" sz="1700"/>
              <a:t>.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Forecasting demand to ensure enough drivers are available at peak times.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Identifying suspicious activity, such as multiple accounts exploiting discounts.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Data Scientists build machine learning algorithms on </a:t>
            </a:r>
            <a:r>
              <a:rPr b="1" lang="en" sz="1700"/>
              <a:t>past data (historical data).</a:t>
            </a:r>
            <a:endParaRPr b="1"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b9e21a868_0_2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Accounting and Reporting</a:t>
            </a:r>
            <a:endParaRPr/>
          </a:p>
        </p:txBody>
      </p:sp>
      <p:sp>
        <p:nvSpPr>
          <p:cNvPr id="124" name="Google Shape;124;g37b9e21a868_0_24"/>
          <p:cNvSpPr txBox="1"/>
          <p:nvPr>
            <p:ph idx="1" type="body"/>
          </p:nvPr>
        </p:nvSpPr>
        <p:spPr>
          <a:xfrm>
            <a:off x="421975" y="1329900"/>
            <a:ext cx="85047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Generate sales reports for the restaurants.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Generate tax income reports for the drivers.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Generate drivers reports for the insurance companies.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Companies are usually expected to generate financial reports in different formats.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 Engineering’s Role</a:t>
            </a:r>
            <a:endParaRPr/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421975" y="1329900"/>
            <a:ext cx="85047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At the heart of all these use cases are </a:t>
            </a:r>
            <a:r>
              <a:rPr b="1" lang="en" sz="1700"/>
              <a:t>Data Engineering Concepts.</a:t>
            </a:r>
            <a:endParaRPr b="1" sz="1700"/>
          </a:p>
          <a:p>
            <a:pPr indent="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" sz="1700"/>
              <a:t>Data Engineers…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Design systems that can store and process large amounts of data.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Build data pipelines to ensure data is available for BI, AI, etc models.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Optimize systems so that models run efficiently, even on large datasets.</a:t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Without Data Engineers, these BI, AI or accounting use cases would not be possible.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Disclaimer: </a:t>
            </a:r>
            <a:r>
              <a:rPr lang="en" sz="1700"/>
              <a:t>This course is not limited to Data Engineering and will extensively cover more basic software engineering concepts too.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1183710" y="1227953"/>
            <a:ext cx="6562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1183710" y="1227953"/>
            <a:ext cx="6562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"/>
              <a:t>Good Luck!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Calgary 2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