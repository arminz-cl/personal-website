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4" roundtripDataSignature="AMtx7mi78ZjDId0p7dhtSujWo9wz09qb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869B8D-D127-4D9D-BE9A-CE48474CEE5E}">
  <a:tblStyle styleId="{65869B8D-D127-4D9D-BE9A-CE48474CEE5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7997950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77997950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79979501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779979501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79979501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779979501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79979501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779979501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79979501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779979501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79979501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779979501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79979501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779979501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2"/>
          <p:cNvSpPr txBox="1"/>
          <p:nvPr>
            <p:ph type="ctrTitle"/>
          </p:nvPr>
        </p:nvSpPr>
        <p:spPr>
          <a:xfrm>
            <a:off x="1183709" y="1339007"/>
            <a:ext cx="58809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alibri"/>
              <a:buNone/>
              <a:defRPr b="1" i="0" sz="41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" type="subTitle"/>
          </p:nvPr>
        </p:nvSpPr>
        <p:spPr>
          <a:xfrm>
            <a:off x="1183709" y="3096024"/>
            <a:ext cx="5880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2" type="body"/>
          </p:nvPr>
        </p:nvSpPr>
        <p:spPr>
          <a:xfrm>
            <a:off x="1183709" y="3636920"/>
            <a:ext cx="58809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3" type="body"/>
          </p:nvPr>
        </p:nvSpPr>
        <p:spPr>
          <a:xfrm>
            <a:off x="1183709" y="4485884"/>
            <a:ext cx="4939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23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3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" name="Google Shape;14;p23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5" name="Google Shape;15;p23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" name="Google Shape;16;p23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" name="Google Shape;17;p23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8" name="Google Shape;18;p23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" name="Google Shape;19;p23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" name="Google Shape;20;p2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24"/>
          <p:cNvSpPr txBox="1"/>
          <p:nvPr>
            <p:ph idx="1" type="body"/>
          </p:nvPr>
        </p:nvSpPr>
        <p:spPr>
          <a:xfrm>
            <a:off x="421971" y="1329896"/>
            <a:ext cx="72933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32726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slide">
  <p:cSld name="Statement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idx="1" type="body"/>
          </p:nvPr>
        </p:nvSpPr>
        <p:spPr>
          <a:xfrm>
            <a:off x="1183710" y="1227953"/>
            <a:ext cx="6562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Arial"/>
              <a:buNone/>
              <a:defRPr b="1" i="0" sz="4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to with text">
  <p:cSld name="Sing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/>
          <p:nvPr>
            <p:ph idx="2" type="pic"/>
          </p:nvPr>
        </p:nvSpPr>
        <p:spPr>
          <a:xfrm>
            <a:off x="700398" y="1329766"/>
            <a:ext cx="2953800" cy="29538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26"/>
          <p:cNvSpPr txBox="1"/>
          <p:nvPr>
            <p:ph idx="1" type="body"/>
          </p:nvPr>
        </p:nvSpPr>
        <p:spPr>
          <a:xfrm>
            <a:off x="4010677" y="1329766"/>
            <a:ext cx="45102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2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photo with text">
  <p:cSld name="Doub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/>
          <p:nvPr>
            <p:ph idx="2" type="pic"/>
          </p:nvPr>
        </p:nvSpPr>
        <p:spPr>
          <a:xfrm>
            <a:off x="700398" y="1241431"/>
            <a:ext cx="2987100" cy="16671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27"/>
          <p:cNvSpPr txBox="1"/>
          <p:nvPr>
            <p:ph idx="1" type="body"/>
          </p:nvPr>
        </p:nvSpPr>
        <p:spPr>
          <a:xfrm>
            <a:off x="700398" y="3151862"/>
            <a:ext cx="2997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27"/>
          <p:cNvSpPr/>
          <p:nvPr>
            <p:ph idx="3" type="pic"/>
          </p:nvPr>
        </p:nvSpPr>
        <p:spPr>
          <a:xfrm>
            <a:off x="5430539" y="1241431"/>
            <a:ext cx="2987100" cy="1667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8" name="Google Shape;38;p27"/>
          <p:cNvCxnSpPr/>
          <p:nvPr/>
        </p:nvCxnSpPr>
        <p:spPr>
          <a:xfrm>
            <a:off x="4572000" y="1163485"/>
            <a:ext cx="0" cy="349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" name="Google Shape;39;p27"/>
          <p:cNvSpPr txBox="1"/>
          <p:nvPr>
            <p:ph idx="4" type="body"/>
          </p:nvPr>
        </p:nvSpPr>
        <p:spPr>
          <a:xfrm>
            <a:off x="5430539" y="3151862"/>
            <a:ext cx="2997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2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ding slide">
  <p:cSld name="Concluding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8"/>
          <p:cNvSpPr txBox="1"/>
          <p:nvPr>
            <p:ph type="ctrTitle"/>
          </p:nvPr>
        </p:nvSpPr>
        <p:spPr>
          <a:xfrm>
            <a:off x="1183709" y="1260389"/>
            <a:ext cx="6313800" cy="14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28"/>
          <p:cNvSpPr txBox="1"/>
          <p:nvPr>
            <p:ph idx="1" type="subTitle"/>
          </p:nvPr>
        </p:nvSpPr>
        <p:spPr>
          <a:xfrm>
            <a:off x="1183709" y="2718141"/>
            <a:ext cx="63138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8"/>
          <p:cNvSpPr txBox="1"/>
          <p:nvPr>
            <p:ph idx="2" type="body"/>
          </p:nvPr>
        </p:nvSpPr>
        <p:spPr>
          <a:xfrm>
            <a:off x="1183709" y="3315289"/>
            <a:ext cx="63138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9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29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armin.zirak@ucalgary.ca" TargetMode="External"/><Relationship Id="rId4" Type="http://schemas.openxmlformats.org/officeDocument/2006/relationships/hyperlink" Target="mailto:rafeeal.ahsan@ucalgary.c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1183709" y="1339007"/>
            <a:ext cx="58809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en"/>
              <a:t>Scalable Data Analytics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1183709" y="3096024"/>
            <a:ext cx="5880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SENG 550</a:t>
            </a:r>
            <a:endParaRPr/>
          </a:p>
        </p:txBody>
      </p:sp>
      <p:sp>
        <p:nvSpPr>
          <p:cNvPr id="57" name="Google Shape;57;p1"/>
          <p:cNvSpPr txBox="1"/>
          <p:nvPr>
            <p:ph idx="2" type="body"/>
          </p:nvPr>
        </p:nvSpPr>
        <p:spPr>
          <a:xfrm>
            <a:off x="1183709" y="3636920"/>
            <a:ext cx="58809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AKA Big Data, Data Engineering</a:t>
            </a:r>
            <a:endParaRPr/>
          </a:p>
        </p:txBody>
      </p:sp>
      <p:sp>
        <p:nvSpPr>
          <p:cNvPr id="58" name="Google Shape;58;p1"/>
          <p:cNvSpPr txBox="1"/>
          <p:nvPr>
            <p:ph idx="3" type="body"/>
          </p:nvPr>
        </p:nvSpPr>
        <p:spPr>
          <a:xfrm>
            <a:off x="1183709" y="4485884"/>
            <a:ext cx="4939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Armin Zirak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 sz="3600"/>
              <a:t>Course Introduction and Overview</a:t>
            </a:r>
            <a:endParaRPr sz="3600"/>
          </a:p>
        </p:txBody>
      </p:sp>
      <p:sp>
        <p:nvSpPr>
          <p:cNvPr id="64" name="Google Shape;64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Week 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Instructors</a:t>
            </a:r>
            <a:endParaRPr/>
          </a:p>
        </p:txBody>
      </p:sp>
      <p:sp>
        <p:nvSpPr>
          <p:cNvPr id="70" name="Google Shape;70;p3"/>
          <p:cNvSpPr txBox="1"/>
          <p:nvPr>
            <p:ph idx="1" type="body"/>
          </p:nvPr>
        </p:nvSpPr>
        <p:spPr>
          <a:xfrm>
            <a:off x="421975" y="1329900"/>
            <a:ext cx="85047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L01: </a:t>
            </a:r>
            <a:r>
              <a:rPr lang="en" sz="1700"/>
              <a:t>Armin Zirak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armin.zirak@ucalgary.ca</a:t>
            </a:r>
            <a:endParaRPr sz="17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L02: Rafee Al Ahsan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 u="sng">
                <a:solidFill>
                  <a:schemeClr val="hlink"/>
                </a:solidFill>
                <a:hlinkClick r:id="rId4"/>
              </a:rPr>
              <a:t>rafeeal.ahsan@ucalgary.ca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 lectures are almost identical in content, assignments, exams, and grading rubric, with the main differences being in class hours.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Grading</a:t>
            </a:r>
            <a:endParaRPr/>
          </a:p>
        </p:txBody>
      </p:sp>
      <p:sp>
        <p:nvSpPr>
          <p:cNvPr id="76" name="Google Shape;76;p4"/>
          <p:cNvSpPr txBox="1"/>
          <p:nvPr>
            <p:ph idx="1" type="body"/>
          </p:nvPr>
        </p:nvSpPr>
        <p:spPr>
          <a:xfrm>
            <a:off x="421975" y="1329900"/>
            <a:ext cx="85047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</p:txBody>
      </p:sp>
      <p:graphicFrame>
        <p:nvGraphicFramePr>
          <p:cNvPr id="77" name="Google Shape;77;p4"/>
          <p:cNvGraphicFramePr/>
          <p:nvPr/>
        </p:nvGraphicFramePr>
        <p:xfrm>
          <a:off x="1655638" y="142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{65869B8D-D127-4D9D-BE9A-CE48474CEE5E}</a:tableStyleId>
              </a:tblPr>
              <a:tblGrid>
                <a:gridCol w="804325"/>
                <a:gridCol w="804325"/>
                <a:gridCol w="804325"/>
                <a:gridCol w="804325"/>
                <a:gridCol w="804325"/>
                <a:gridCol w="804325"/>
              </a:tblGrid>
              <a:tr h="381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Component</a:t>
                      </a:r>
                      <a:endParaRPr b="1" sz="1000" u="none" cap="none" strike="noStrike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Weight</a:t>
                      </a:r>
                      <a:endParaRPr b="1" sz="1000" u="none" cap="none" strike="noStrike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</a:tr>
              <a:tr h="381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3</a:t>
                      </a:r>
                      <a:r>
                        <a:rPr lang="en" sz="1400" u="none" cap="none" strike="noStrike"/>
                        <a:t> Assignments</a:t>
                      </a:r>
                      <a:endParaRPr sz="1400" u="none" cap="none" strike="noStrike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40</a:t>
                      </a:r>
                      <a:r>
                        <a:rPr lang="en" sz="1400" u="none" cap="none" strike="noStrike"/>
                        <a:t>%</a:t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Midterm</a:t>
                      </a:r>
                      <a:endParaRPr sz="1400" u="none" cap="none" strike="noStrike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25%</a:t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Final</a:t>
                      </a:r>
                      <a:endParaRPr sz="1400" u="none" cap="none" strike="noStrike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25%</a:t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Participation</a:t>
                      </a:r>
                      <a:endParaRPr sz="1400" u="none" cap="none" strike="noStrike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10%</a:t>
                      </a:r>
                      <a:endParaRPr sz="1400" u="none" cap="none" strike="noStrike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799795015_0_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Assignments</a:t>
            </a:r>
            <a:endParaRPr/>
          </a:p>
        </p:txBody>
      </p:sp>
      <p:sp>
        <p:nvSpPr>
          <p:cNvPr id="83" name="Google Shape;83;g37799795015_0_0"/>
          <p:cNvSpPr txBox="1"/>
          <p:nvPr>
            <p:ph idx="1" type="body"/>
          </p:nvPr>
        </p:nvSpPr>
        <p:spPr>
          <a:xfrm>
            <a:off x="421975" y="1329900"/>
            <a:ext cx="85047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Assignments are mainly programming mini-projects, but they may also include theoretical or hand-solving questions. 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Programming parts can be done in groups of two. 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Individual work is also welcome but does not provide extra credit. 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Any theoretical or problem-solving parts must be completed and submitted individually.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Assignments will be demoed to the TAs. 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If a member’s participation is not substantial, they may lose marks accordingly.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799795015_0_8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Exams</a:t>
            </a:r>
            <a:endParaRPr/>
          </a:p>
        </p:txBody>
      </p:sp>
      <p:sp>
        <p:nvSpPr>
          <p:cNvPr id="89" name="Google Shape;89;g37799795015_0_8"/>
          <p:cNvSpPr txBox="1"/>
          <p:nvPr>
            <p:ph idx="1" type="body"/>
          </p:nvPr>
        </p:nvSpPr>
        <p:spPr>
          <a:xfrm>
            <a:off x="421975" y="1329900"/>
            <a:ext cx="85047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Midterm is scheduled to be on </a:t>
            </a:r>
            <a:r>
              <a:rPr b="1" lang="en" sz="1700"/>
              <a:t>October 29th, 2025 (Wednesday) from 7 pm (2.5 hours duration).</a:t>
            </a:r>
            <a:endParaRPr b="1"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It will primarily assess your knowledge of the lectures.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Labs</a:t>
            </a:r>
            <a:endParaRPr/>
          </a:p>
        </p:txBody>
      </p:sp>
      <p:sp>
        <p:nvSpPr>
          <p:cNvPr id="95" name="Google Shape;95;p5"/>
          <p:cNvSpPr txBox="1"/>
          <p:nvPr>
            <p:ph idx="1" type="body"/>
          </p:nvPr>
        </p:nvSpPr>
        <p:spPr>
          <a:xfrm>
            <a:off x="421975" y="1329900"/>
            <a:ext cx="85047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Labs are not held every week; we will announce which weeks will have labs.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Some labs provide teaching materials (e.g., Python), some support assignments, and others may be used for demos.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700"/>
          </a:p>
        </p:txBody>
      </p:sp>
      <p:graphicFrame>
        <p:nvGraphicFramePr>
          <p:cNvPr id="96" name="Google Shape;96;p5"/>
          <p:cNvGraphicFramePr/>
          <p:nvPr/>
        </p:nvGraphicFramePr>
        <p:xfrm>
          <a:off x="95252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{65869B8D-D127-4D9D-BE9A-CE48474CEE5E}</a:tableStyleId>
              </a:tblPr>
              <a:tblGrid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Section</a:t>
                      </a:r>
                      <a:endParaRPr b="1" sz="1000" u="none" cap="none" strike="noStrike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Day(s) of the Week</a:t>
                      </a:r>
                      <a:endParaRPr b="1" sz="1000" u="none" cap="none" strike="noStrike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Time</a:t>
                      </a:r>
                      <a:endParaRPr b="1" sz="1000" u="none" cap="none" strike="noStrike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Location</a:t>
                      </a:r>
                      <a:endParaRPr b="1" sz="1000" u="none" cap="none" strike="noStrike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</a:tr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LAB B01</a:t>
                      </a:r>
                      <a:endParaRPr sz="1400" u="none" cap="none" strike="noStrike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08:00-09:50</a:t>
                      </a:r>
                      <a:endParaRPr sz="1400" u="none" cap="none" strike="noStrike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ENG 203</a:t>
                      </a:r>
                      <a:endParaRPr sz="1400" u="none" cap="none" strike="noStrike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LAB B02</a:t>
                      </a:r>
                      <a:endParaRPr sz="1400" u="none" cap="none" strike="noStrike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11:00-12:50</a:t>
                      </a:r>
                      <a:endParaRPr sz="1400" u="none" cap="none" strike="noStrike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ENG 203</a:t>
                      </a:r>
                      <a:endParaRPr sz="1400" u="none" cap="none" strike="noStrike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799795015_0_1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Participation (L01)</a:t>
            </a:r>
            <a:endParaRPr/>
          </a:p>
        </p:txBody>
      </p:sp>
      <p:sp>
        <p:nvSpPr>
          <p:cNvPr id="102" name="Google Shape;102;g37799795015_0_13"/>
          <p:cNvSpPr txBox="1"/>
          <p:nvPr>
            <p:ph idx="1" type="body"/>
          </p:nvPr>
        </p:nvSpPr>
        <p:spPr>
          <a:xfrm>
            <a:off x="421975" y="1329900"/>
            <a:ext cx="85047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Participation counts for 10% of the grading rubric. 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At the end of each class (except the first two weeks), I will hold a short participation quiz. 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You should be able to answer if you follow the class. We are not strict with these quizzes—unless you sleep through the entire class, you should be able to answer.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We expect to have 22 or more participation quizzes by the end of the semester.</a:t>
            </a:r>
            <a:r>
              <a:rPr lang="en" sz="1700"/>
              <a:t> 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Each quiz is worth 1 mark. You need 10 quizzes to get the full mark for this part. 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If you do more than 10, half of the extra points will be carried over as bonus points.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Course Requirements</a:t>
            </a:r>
            <a:endParaRPr/>
          </a:p>
        </p:txBody>
      </p:sp>
      <p:sp>
        <p:nvSpPr>
          <p:cNvPr id="108" name="Google Shape;108;p6"/>
          <p:cNvSpPr txBox="1"/>
          <p:nvPr>
            <p:ph idx="1" type="body"/>
          </p:nvPr>
        </p:nvSpPr>
        <p:spPr>
          <a:xfrm>
            <a:off x="421971" y="1329896"/>
            <a:ext cx="72933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Python is the main component of the assignments.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Knowledge of databases and SQL is helpful.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will cover databases and SQL in the course.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Software Engineering concepts are commonly referenced in the course.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Content Overview</a:t>
            </a:r>
            <a:endParaRPr/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421975" y="1329900"/>
            <a:ext cx="85047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Our primary aim is to cover </a:t>
            </a:r>
            <a:r>
              <a:rPr b="1" lang="en" sz="1700"/>
              <a:t>data engineering</a:t>
            </a:r>
            <a:r>
              <a:rPr lang="en" sz="1700"/>
              <a:t> concepts (also called</a:t>
            </a:r>
            <a:r>
              <a:rPr b="1" lang="en" sz="1700"/>
              <a:t> big data</a:t>
            </a:r>
            <a:r>
              <a:rPr lang="en" sz="1700"/>
              <a:t>).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If you are working with a data intensive application (e.g., an application that consumes a  lot of data or produces a lot of data, or interacts with a lot of data), the concepts of this course will become relevant.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Topics Overview</a:t>
            </a:r>
            <a:endParaRPr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421975" y="1329900"/>
            <a:ext cx="85047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Understanding Big Data and Data Intensive Applications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Data Storage Technologies 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Databases: SQL and NoSQL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Data Warehouses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Data Lakes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Distributed Databases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Replication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Sharding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Data Pipelines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Data Ingestion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Data Transformation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ETL/ELT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799795015_0_2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Topics Overview – Continued</a:t>
            </a:r>
            <a:endParaRPr/>
          </a:p>
        </p:txBody>
      </p:sp>
      <p:sp>
        <p:nvSpPr>
          <p:cNvPr id="126" name="Google Shape;126;g37799795015_0_20"/>
          <p:cNvSpPr txBox="1"/>
          <p:nvPr>
            <p:ph idx="1" type="body"/>
          </p:nvPr>
        </p:nvSpPr>
        <p:spPr>
          <a:xfrm>
            <a:off x="421975" y="1329900"/>
            <a:ext cx="85047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Data Modeling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Normalization and Denormalization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Star Schema, Fact and Dim tables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Hadoop and Mapreduce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Might be removed.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Spark (A considerable portion)</a:t>
            </a:r>
            <a:endParaRPr b="1"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799795015_0_31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Books</a:t>
            </a:r>
            <a:endParaRPr/>
          </a:p>
        </p:txBody>
      </p:sp>
      <p:sp>
        <p:nvSpPr>
          <p:cNvPr id="132" name="Google Shape;132;g37799795015_0_31"/>
          <p:cNvSpPr txBox="1"/>
          <p:nvPr>
            <p:ph idx="1" type="body"/>
          </p:nvPr>
        </p:nvSpPr>
        <p:spPr>
          <a:xfrm>
            <a:off x="421975" y="1329900"/>
            <a:ext cx="3447600" cy="3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Studying lectures is enough for this course.</a:t>
            </a:r>
            <a:endParaRPr sz="17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content is borrowed or inspired from…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Designing Data-Intensive Applications.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Fundamentals</a:t>
            </a:r>
            <a:r>
              <a:rPr lang="en" sz="1700"/>
              <a:t> of Data Engineering.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33" name="Google Shape;133;g37799795015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7125" y="1227413"/>
            <a:ext cx="2048750" cy="268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7799795015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2350" y="1227425"/>
            <a:ext cx="2048750" cy="2688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799795015_0_4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Machine Learning and AI</a:t>
            </a:r>
            <a:endParaRPr/>
          </a:p>
        </p:txBody>
      </p:sp>
      <p:sp>
        <p:nvSpPr>
          <p:cNvPr id="140" name="Google Shape;140;g37799795015_0_47"/>
          <p:cNvSpPr txBox="1"/>
          <p:nvPr>
            <p:ph idx="1" type="body"/>
          </p:nvPr>
        </p:nvSpPr>
        <p:spPr>
          <a:xfrm>
            <a:off x="421975" y="1329900"/>
            <a:ext cx="85047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This course doesn’t focus on AI (Or Data Science).</a:t>
            </a:r>
            <a:endParaRPr sz="17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We might or might not touch on some AI concepts or teach some of the basics.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Serve data for AI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799795015_0_3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Who benefits from this course?</a:t>
            </a:r>
            <a:endParaRPr/>
          </a:p>
        </p:txBody>
      </p:sp>
      <p:sp>
        <p:nvSpPr>
          <p:cNvPr id="146" name="Google Shape;146;g37799795015_0_36"/>
          <p:cNvSpPr txBox="1"/>
          <p:nvPr>
            <p:ph idx="1" type="body"/>
          </p:nvPr>
        </p:nvSpPr>
        <p:spPr>
          <a:xfrm>
            <a:off x="421975" y="1329900"/>
            <a:ext cx="85047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Data Engineers or Software Engineers who work with large amounts of data are the primary job titles related to this course.</a:t>
            </a:r>
            <a:endParaRPr sz="17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closer you are to large amounts of data or data storage systems (e.g., writing database queries), the more you will gain from these concepts.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While we may not teach AI directly, if you are an AI engineer, ML engineer, or data scientist, the skills from this course will still be somewhat helpful.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idx="1" type="body"/>
          </p:nvPr>
        </p:nvSpPr>
        <p:spPr>
          <a:xfrm>
            <a:off x="1183710" y="1227953"/>
            <a:ext cx="6562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idx="1" type="body"/>
          </p:nvPr>
        </p:nvSpPr>
        <p:spPr>
          <a:xfrm>
            <a:off x="1183710" y="1227953"/>
            <a:ext cx="6562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"/>
              <a:t>Good Luck!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Calgary 2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