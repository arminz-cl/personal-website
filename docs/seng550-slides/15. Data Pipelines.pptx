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2" roundtripDataSignature="AMtx7mjhCioSX0avBWY3IRDIfPns1wk8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1FB491-FCF1-4931-9B01-D58F9D746A22}">
  <a:tblStyle styleId="{FD1FB491-FCF1-4931-9B01-D58F9D746A2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828F62D-6F7D-4AE6-9CBA-4B0967183F7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ono-regular.fntdata"/><Relationship Id="rId47" Type="http://schemas.openxmlformats.org/officeDocument/2006/relationships/slide" Target="slides/slide41.xml"/><Relationship Id="rId49"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Italic.fntdata"/><Relationship Id="rId50" Type="http://schemas.openxmlformats.org/officeDocument/2006/relationships/font" Target="fonts/RobotoMono-italic.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4726a4ff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3a4726a4ff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4726a4ff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a4726a4ff4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4726a4ff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a4726a4ff4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4726a4ff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a4726a4ff4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4726a4ff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a4726a4ff4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4726a4ff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a4726a4ff4_0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4726a4ff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a4726a4ff4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4726a4ff4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a4726a4ff4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4726a4ff4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a4726a4ff4_0_2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4726a4ff4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a4726a4ff4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4726a4ff4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a4726a4ff4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4726a4ff4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a4726a4ff4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4726a4ff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a4726a4ff4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4726a4ff4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a4726a4ff4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4726a4ff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a4726a4ff4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4726a4ff4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a4726a4ff4_0_2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4726a4ff4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a4726a4ff4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9cb9bca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99cb9bcab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9cb9bcab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99cb9bcab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9cb9bcab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399cb9bcabe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9cb9bcab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99cb9bcabe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9cb9bcab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99cb9bcabe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9cb9bcab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99cb9bcabe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9cb9bcab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99cb9bcabe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9cb9bcab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99cb9bcabe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99cb9bcabe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99cb9bcabe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9cb9bcab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99cb9bcabe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9cb9bcabe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399cb9bcabe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9cb9bcabe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99cb9bcabe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9cb9bcab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399cb9bcabe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99cb9bcab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399cb9bcabe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4726a4ff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3a4726a4ff4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4726a4ff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a4726a4ff4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99cb9bcabe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99cb9bcabe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99cb9bcab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99cb9bcab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9cb9bcabe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9cb9bcabe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6a60523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3a6a60523d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9cb9bcabe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9cb9bcabe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6" name="Shape 6"/>
        <p:cNvGrpSpPr/>
        <p:nvPr/>
      </p:nvGrpSpPr>
      <p:grpSpPr>
        <a:xfrm>
          <a:off x="0" y="0"/>
          <a:ext cx="0" cy="0"/>
          <a:chOff x="0" y="0"/>
          <a:chExt cx="0" cy="0"/>
        </a:xfrm>
      </p:grpSpPr>
      <p:sp>
        <p:nvSpPr>
          <p:cNvPr id="7" name="Google Shape;7;p23"/>
          <p:cNvSpPr txBox="1"/>
          <p:nvPr>
            <p:ph type="ctrTitle"/>
          </p:nvPr>
        </p:nvSpPr>
        <p:spPr>
          <a:xfrm>
            <a:off x="1183709" y="1339007"/>
            <a:ext cx="5880900" cy="1757100"/>
          </a:xfrm>
          <a:prstGeom prst="rect">
            <a:avLst/>
          </a:prstGeom>
          <a:noFill/>
          <a:ln>
            <a:noFill/>
          </a:ln>
        </p:spPr>
        <p:txBody>
          <a:bodyPr anchorCtr="0" anchor="b" bIns="34275" lIns="68575" spcFirstLastPara="1" rIns="68575" wrap="square" tIns="34275">
            <a:normAutofit/>
          </a:bodyPr>
          <a:lstStyle>
            <a:lvl1pPr lvl="0" marR="0" rtl="0" algn="l">
              <a:lnSpc>
                <a:spcPct val="103703"/>
              </a:lnSpc>
              <a:spcBef>
                <a:spcPts val="0"/>
              </a:spcBef>
              <a:spcAft>
                <a:spcPts val="0"/>
              </a:spcAft>
              <a:buClr>
                <a:schemeClr val="accent1"/>
              </a:buClr>
              <a:buSzPts val="4100"/>
              <a:buFont typeface="Calibri"/>
              <a:buNone/>
              <a:defRPr b="1" i="0" sz="41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3"/>
          <p:cNvSpPr txBox="1"/>
          <p:nvPr>
            <p:ph idx="1" type="subTitle"/>
          </p:nvPr>
        </p:nvSpPr>
        <p:spPr>
          <a:xfrm>
            <a:off x="1183709" y="3096024"/>
            <a:ext cx="5880900" cy="536100"/>
          </a:xfrm>
          <a:prstGeom prst="rect">
            <a:avLst/>
          </a:prstGeom>
          <a:noFill/>
          <a:ln>
            <a:noFill/>
          </a:ln>
        </p:spPr>
        <p:txBody>
          <a:bodyPr anchorCtr="0" anchor="t" bIns="34275" lIns="68575" spcFirstLastPara="1" rIns="68575" wrap="square" tIns="34275">
            <a:noAutofit/>
          </a:bodyPr>
          <a:lstStyle>
            <a:lvl1pPr lvl="0" marR="0" rtl="0" algn="l">
              <a:lnSpc>
                <a:spcPct val="108333"/>
              </a:lnSpc>
              <a:spcBef>
                <a:spcPts val="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9" name="Google Shape;9;p23"/>
          <p:cNvSpPr txBox="1"/>
          <p:nvPr>
            <p:ph idx="2" type="body"/>
          </p:nvPr>
        </p:nvSpPr>
        <p:spPr>
          <a:xfrm>
            <a:off x="1183709" y="3636920"/>
            <a:ext cx="5880900" cy="8442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11111"/>
              </a:lnSpc>
              <a:spcBef>
                <a:spcPts val="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0" name="Google Shape;10;p23"/>
          <p:cNvSpPr txBox="1"/>
          <p:nvPr>
            <p:ph idx="3" type="body"/>
          </p:nvPr>
        </p:nvSpPr>
        <p:spPr>
          <a:xfrm>
            <a:off x="1183709" y="4485884"/>
            <a:ext cx="4939500" cy="3915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0"/>
              </a:spcBef>
              <a:spcAft>
                <a:spcPts val="0"/>
              </a:spcAft>
              <a:buClr>
                <a:schemeClr val="accent3"/>
              </a:buClr>
              <a:buSzPts val="1100"/>
              <a:buFont typeface="Arial"/>
              <a:buNone/>
              <a:defRPr b="1" i="0" sz="1100" u="none" cap="none" strike="noStrike">
                <a:solidFill>
                  <a:schemeClr val="accent3"/>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cxnSp>
        <p:nvCxnSpPr>
          <p:cNvPr id="12" name="Google Shape;12;p2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3" name="Google Shape;13;p2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4" name="Google Shape;14;p24"/>
          <p:cNvGrpSpPr/>
          <p:nvPr/>
        </p:nvGrpSpPr>
        <p:grpSpPr>
          <a:xfrm>
            <a:off x="1004144" y="1022025"/>
            <a:ext cx="7136668" cy="152400"/>
            <a:chOff x="1346429" y="1011300"/>
            <a:chExt cx="6452100" cy="152400"/>
          </a:xfrm>
        </p:grpSpPr>
        <p:cxnSp>
          <p:nvCxnSpPr>
            <p:cNvPr id="15" name="Google Shape;15;p2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6" name="Google Shape;16;p2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7" name="Google Shape;17;p24"/>
          <p:cNvGrpSpPr/>
          <p:nvPr/>
        </p:nvGrpSpPr>
        <p:grpSpPr>
          <a:xfrm>
            <a:off x="1004151" y="3969100"/>
            <a:ext cx="7136668" cy="152400"/>
            <a:chOff x="1346435" y="3969088"/>
            <a:chExt cx="6452100" cy="152400"/>
          </a:xfrm>
        </p:grpSpPr>
        <p:cxnSp>
          <p:nvCxnSpPr>
            <p:cNvPr id="18" name="Google Shape;18;p2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9" name="Google Shape;19;p2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20" name="Google Shape;20;p24"/>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9pPr>
          </a:lstStyle>
          <a:p/>
        </p:txBody>
      </p:sp>
      <p:sp>
        <p:nvSpPr>
          <p:cNvPr id="21" name="Google Shape;21;p24"/>
          <p:cNvSpPr txBox="1"/>
          <p:nvPr>
            <p:ph idx="1" type="subTitle"/>
          </p:nvPr>
        </p:nvSpPr>
        <p:spPr>
          <a:xfrm>
            <a:off x="2137225" y="2850039"/>
            <a:ext cx="48705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9pPr>
          </a:lstStyle>
          <a:p/>
        </p:txBody>
      </p:sp>
      <p:sp>
        <p:nvSpPr>
          <p:cNvPr id="22" name="Google Shape;2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2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25"/>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E32726"/>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rgbClr val="FBB03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rgbClr val="8B857B"/>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 name="Google Shape;26;p25"/>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53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to with text">
  <p:cSld name="Single photo with tex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26"/>
          <p:cNvSpPr/>
          <p:nvPr>
            <p:ph idx="2" type="pic"/>
          </p:nvPr>
        </p:nvSpPr>
        <p:spPr>
          <a:xfrm>
            <a:off x="700398" y="1329766"/>
            <a:ext cx="2953800" cy="2953800"/>
          </a:xfrm>
          <a:prstGeom prst="rect">
            <a:avLst/>
          </a:prstGeom>
          <a:noFill/>
          <a:ln>
            <a:noFill/>
          </a:ln>
        </p:spPr>
      </p:sp>
      <p:sp>
        <p:nvSpPr>
          <p:cNvPr id="29" name="Google Shape;29;p26"/>
          <p:cNvSpPr txBox="1"/>
          <p:nvPr>
            <p:ph idx="1" type="body"/>
          </p:nvPr>
        </p:nvSpPr>
        <p:spPr>
          <a:xfrm>
            <a:off x="4010677" y="1329766"/>
            <a:ext cx="4510200" cy="29538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accent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rgbClr val="FBB03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rgbClr val="8B857B"/>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0" name="Google Shape;30;p26"/>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26"/>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photo with text">
  <p:cSld name="Double photo with text">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27"/>
          <p:cNvSpPr/>
          <p:nvPr>
            <p:ph idx="2" type="pic"/>
          </p:nvPr>
        </p:nvSpPr>
        <p:spPr>
          <a:xfrm>
            <a:off x="700398" y="1241431"/>
            <a:ext cx="2987100" cy="1667100"/>
          </a:xfrm>
          <a:prstGeom prst="rect">
            <a:avLst/>
          </a:prstGeom>
          <a:noFill/>
          <a:ln>
            <a:noFill/>
          </a:ln>
        </p:spPr>
      </p:sp>
      <p:sp>
        <p:nvSpPr>
          <p:cNvPr id="34" name="Google Shape;34;p27"/>
          <p:cNvSpPr txBox="1"/>
          <p:nvPr>
            <p:ph idx="1" type="body"/>
          </p:nvPr>
        </p:nvSpPr>
        <p:spPr>
          <a:xfrm>
            <a:off x="700398" y="3151862"/>
            <a:ext cx="2997000" cy="13764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90000"/>
              </a:lnSpc>
              <a:spcBef>
                <a:spcPts val="800"/>
              </a:spcBef>
              <a:spcAft>
                <a:spcPts val="0"/>
              </a:spcAft>
              <a:buClr>
                <a:schemeClr val="accent1"/>
              </a:buClr>
              <a:buSzPts val="1500"/>
              <a:buFont typeface="Arial"/>
              <a:buChar char="•"/>
              <a:defRPr b="0" i="0" sz="1500" u="none" cap="none" strike="noStrike">
                <a:solidFill>
                  <a:schemeClr val="dk1"/>
                </a:solidFill>
                <a:latin typeface="Calibri"/>
                <a:ea typeface="Calibri"/>
                <a:cs typeface="Calibri"/>
                <a:sym typeface="Calibri"/>
              </a:defRPr>
            </a:lvl1pPr>
            <a:lvl2pPr indent="-317500" lvl="1" marL="914400" marR="0" rtl="0" algn="l">
              <a:lnSpc>
                <a:spcPct val="90000"/>
              </a:lnSpc>
              <a:spcBef>
                <a:spcPts val="400"/>
              </a:spcBef>
              <a:spcAft>
                <a:spcPts val="0"/>
              </a:spcAft>
              <a:buClr>
                <a:srgbClr val="FBB03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90000"/>
              </a:lnSpc>
              <a:spcBef>
                <a:spcPts val="400"/>
              </a:spcBef>
              <a:spcAft>
                <a:spcPts val="0"/>
              </a:spcAft>
              <a:buClr>
                <a:srgbClr val="8B857B"/>
              </a:buClr>
              <a:buSzPts val="1200"/>
              <a:buFont typeface="Arial"/>
              <a:buChar char="•"/>
              <a:defRPr b="0" i="0" sz="1200" u="none" cap="none" strike="noStrike">
                <a:solidFill>
                  <a:schemeClr val="dk1"/>
                </a:solidFill>
                <a:latin typeface="Calibri"/>
                <a:ea typeface="Calibri"/>
                <a:cs typeface="Calibri"/>
                <a:sym typeface="Calibri"/>
              </a:defRPr>
            </a:lvl3pPr>
            <a:lvl4pPr indent="-298450" lvl="3" marL="1828800" marR="0" rtl="0" algn="l">
              <a:lnSpc>
                <a:spcPct val="90000"/>
              </a:lnSpc>
              <a:spcBef>
                <a:spcPts val="400"/>
              </a:spcBef>
              <a:spcAft>
                <a:spcPts val="0"/>
              </a:spcAft>
              <a:buClr>
                <a:schemeClr val="accent3"/>
              </a:buClr>
              <a:buSzPts val="1100"/>
              <a:buFont typeface="Arial"/>
              <a:buChar char="•"/>
              <a:defRPr b="0" i="0" sz="1100" u="none" cap="none" strike="noStrike">
                <a:solidFill>
                  <a:schemeClr val="dk1"/>
                </a:solidFill>
                <a:latin typeface="Calibri"/>
                <a:ea typeface="Calibri"/>
                <a:cs typeface="Calibri"/>
                <a:sym typeface="Calibri"/>
              </a:defRPr>
            </a:lvl4pPr>
            <a:lvl5pPr indent="-298450" lvl="4" marL="2286000" marR="0" rtl="0" algn="l">
              <a:lnSpc>
                <a:spcPct val="90000"/>
              </a:lnSpc>
              <a:spcBef>
                <a:spcPts val="400"/>
              </a:spcBef>
              <a:spcAft>
                <a:spcPts val="0"/>
              </a:spcAft>
              <a:buClr>
                <a:schemeClr val="accent1"/>
              </a:buClr>
              <a:buSzPts val="1100"/>
              <a:buFont typeface="Arial"/>
              <a:buChar char="•"/>
              <a:defRPr b="0" i="0" sz="11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5" name="Google Shape;35;p27"/>
          <p:cNvSpPr/>
          <p:nvPr>
            <p:ph idx="3" type="pic"/>
          </p:nvPr>
        </p:nvSpPr>
        <p:spPr>
          <a:xfrm>
            <a:off x="5430539" y="1241431"/>
            <a:ext cx="2987100" cy="1667100"/>
          </a:xfrm>
          <a:prstGeom prst="rect">
            <a:avLst/>
          </a:prstGeom>
          <a:noFill/>
          <a:ln>
            <a:noFill/>
          </a:ln>
        </p:spPr>
      </p:sp>
      <p:cxnSp>
        <p:nvCxnSpPr>
          <p:cNvPr id="36" name="Google Shape;36;p27"/>
          <p:cNvCxnSpPr/>
          <p:nvPr/>
        </p:nvCxnSpPr>
        <p:spPr>
          <a:xfrm>
            <a:off x="4572000" y="1163485"/>
            <a:ext cx="0" cy="3490200"/>
          </a:xfrm>
          <a:prstGeom prst="straightConnector1">
            <a:avLst/>
          </a:prstGeom>
          <a:noFill/>
          <a:ln cap="flat" cmpd="sng" w="9525">
            <a:solidFill>
              <a:schemeClr val="dk2"/>
            </a:solidFill>
            <a:prstDash val="solid"/>
            <a:miter lim="800000"/>
            <a:headEnd len="sm" w="sm" type="none"/>
            <a:tailEnd len="sm" w="sm" type="none"/>
          </a:ln>
        </p:spPr>
      </p:cxnSp>
      <p:sp>
        <p:nvSpPr>
          <p:cNvPr id="37" name="Google Shape;37;p27"/>
          <p:cNvSpPr txBox="1"/>
          <p:nvPr>
            <p:ph idx="4" type="body"/>
          </p:nvPr>
        </p:nvSpPr>
        <p:spPr>
          <a:xfrm>
            <a:off x="5430539" y="3151862"/>
            <a:ext cx="2997000" cy="13764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90000"/>
              </a:lnSpc>
              <a:spcBef>
                <a:spcPts val="800"/>
              </a:spcBef>
              <a:spcAft>
                <a:spcPts val="0"/>
              </a:spcAft>
              <a:buClr>
                <a:schemeClr val="accent1"/>
              </a:buClr>
              <a:buSzPts val="1500"/>
              <a:buFont typeface="Arial"/>
              <a:buChar char="•"/>
              <a:defRPr b="0" i="0" sz="1500" u="none" cap="none" strike="noStrike">
                <a:solidFill>
                  <a:schemeClr val="dk1"/>
                </a:solidFill>
                <a:latin typeface="Calibri"/>
                <a:ea typeface="Calibri"/>
                <a:cs typeface="Calibri"/>
                <a:sym typeface="Calibri"/>
              </a:defRPr>
            </a:lvl1pPr>
            <a:lvl2pPr indent="-317500" lvl="1" marL="914400" marR="0" rtl="0" algn="l">
              <a:lnSpc>
                <a:spcPct val="90000"/>
              </a:lnSpc>
              <a:spcBef>
                <a:spcPts val="400"/>
              </a:spcBef>
              <a:spcAft>
                <a:spcPts val="0"/>
              </a:spcAft>
              <a:buClr>
                <a:srgbClr val="FBB03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90000"/>
              </a:lnSpc>
              <a:spcBef>
                <a:spcPts val="400"/>
              </a:spcBef>
              <a:spcAft>
                <a:spcPts val="0"/>
              </a:spcAft>
              <a:buClr>
                <a:srgbClr val="8B857B"/>
              </a:buClr>
              <a:buSzPts val="1200"/>
              <a:buFont typeface="Arial"/>
              <a:buChar char="•"/>
              <a:defRPr b="0" i="0" sz="1200" u="none" cap="none" strike="noStrike">
                <a:solidFill>
                  <a:schemeClr val="dk1"/>
                </a:solidFill>
                <a:latin typeface="Calibri"/>
                <a:ea typeface="Calibri"/>
                <a:cs typeface="Calibri"/>
                <a:sym typeface="Calibri"/>
              </a:defRPr>
            </a:lvl3pPr>
            <a:lvl4pPr indent="-298450" lvl="3" marL="1828800" marR="0" rtl="0" algn="l">
              <a:lnSpc>
                <a:spcPct val="90000"/>
              </a:lnSpc>
              <a:spcBef>
                <a:spcPts val="400"/>
              </a:spcBef>
              <a:spcAft>
                <a:spcPts val="0"/>
              </a:spcAft>
              <a:buClr>
                <a:schemeClr val="accent3"/>
              </a:buClr>
              <a:buSzPts val="1100"/>
              <a:buFont typeface="Arial"/>
              <a:buChar char="•"/>
              <a:defRPr b="0" i="0" sz="1100" u="none" cap="none" strike="noStrike">
                <a:solidFill>
                  <a:schemeClr val="dk1"/>
                </a:solidFill>
                <a:latin typeface="Calibri"/>
                <a:ea typeface="Calibri"/>
                <a:cs typeface="Calibri"/>
                <a:sym typeface="Calibri"/>
              </a:defRPr>
            </a:lvl4pPr>
            <a:lvl5pPr indent="-298450" lvl="4" marL="2286000" marR="0" rtl="0" algn="l">
              <a:lnSpc>
                <a:spcPct val="90000"/>
              </a:lnSpc>
              <a:spcBef>
                <a:spcPts val="400"/>
              </a:spcBef>
              <a:spcAft>
                <a:spcPts val="0"/>
              </a:spcAft>
              <a:buClr>
                <a:schemeClr val="accent1"/>
              </a:buClr>
              <a:buSzPts val="1100"/>
              <a:buFont typeface="Arial"/>
              <a:buChar char="•"/>
              <a:defRPr b="0" i="0" sz="11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8" name="Google Shape;38;p27"/>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2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
  <p:cSld name="Statement slide">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28"/>
          <p:cNvSpPr txBox="1"/>
          <p:nvPr>
            <p:ph idx="1" type="body"/>
          </p:nvPr>
        </p:nvSpPr>
        <p:spPr>
          <a:xfrm>
            <a:off x="1183710" y="1227953"/>
            <a:ext cx="6562200" cy="3466200"/>
          </a:xfrm>
          <a:prstGeom prst="rect">
            <a:avLst/>
          </a:prstGeom>
          <a:noFill/>
          <a:ln>
            <a:noFill/>
          </a:ln>
        </p:spPr>
        <p:txBody>
          <a:bodyPr anchorCtr="0" anchor="ctr" bIns="34275" lIns="68575" spcFirstLastPara="1" rIns="68575" wrap="square" tIns="34275">
            <a:noAutofit/>
          </a:bodyPr>
          <a:lstStyle>
            <a:lvl1pPr indent="-228600" lvl="0" marL="457200" marR="0" rtl="0" algn="l">
              <a:lnSpc>
                <a:spcPct val="103333"/>
              </a:lnSpc>
              <a:spcBef>
                <a:spcPts val="0"/>
              </a:spcBef>
              <a:spcAft>
                <a:spcPts val="0"/>
              </a:spcAft>
              <a:buClr>
                <a:schemeClr val="accent1"/>
              </a:buClr>
              <a:buSzPts val="4500"/>
              <a:buFont typeface="Arial"/>
              <a:buNone/>
              <a:defRPr b="1" i="0" sz="4500" u="none" cap="none" strike="noStrike">
                <a:solidFill>
                  <a:schemeClr val="accen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ding slide">
  <p:cSld name="Concluding slide">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29"/>
          <p:cNvSpPr txBox="1"/>
          <p:nvPr>
            <p:ph type="ctrTitle"/>
          </p:nvPr>
        </p:nvSpPr>
        <p:spPr>
          <a:xfrm>
            <a:off x="1183709" y="1260389"/>
            <a:ext cx="6313800" cy="1446300"/>
          </a:xfrm>
          <a:prstGeom prst="rect">
            <a:avLst/>
          </a:prstGeom>
          <a:noFill/>
          <a:ln>
            <a:noFill/>
          </a:ln>
        </p:spPr>
        <p:txBody>
          <a:bodyPr anchorCtr="0" anchor="b"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4" name="Google Shape;44;p29"/>
          <p:cNvSpPr txBox="1"/>
          <p:nvPr>
            <p:ph idx="1" type="subTitle"/>
          </p:nvPr>
        </p:nvSpPr>
        <p:spPr>
          <a:xfrm>
            <a:off x="1183709" y="2718141"/>
            <a:ext cx="6313800" cy="585600"/>
          </a:xfrm>
          <a:prstGeom prst="rect">
            <a:avLst/>
          </a:prstGeom>
          <a:noFill/>
          <a:ln>
            <a:noFill/>
          </a:ln>
        </p:spPr>
        <p:txBody>
          <a:bodyPr anchorCtr="0" anchor="t" bIns="34275" lIns="68575" spcFirstLastPara="1" rIns="68575" wrap="square" tIns="34275">
            <a:noAutofit/>
          </a:bodyPr>
          <a:lstStyle>
            <a:lvl1pPr lvl="0" marR="0" rtl="0" algn="l">
              <a:lnSpc>
                <a:spcPct val="108333"/>
              </a:lnSpc>
              <a:spcBef>
                <a:spcPts val="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45" name="Google Shape;45;p29"/>
          <p:cNvSpPr txBox="1"/>
          <p:nvPr>
            <p:ph idx="2" type="body"/>
          </p:nvPr>
        </p:nvSpPr>
        <p:spPr>
          <a:xfrm>
            <a:off x="1183709" y="3315289"/>
            <a:ext cx="6313800" cy="11016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11111"/>
              </a:lnSpc>
              <a:spcBef>
                <a:spcPts val="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30"/>
          <p:cNvSpPr txBox="1"/>
          <p:nvPr>
            <p:ph type="title"/>
          </p:nvPr>
        </p:nvSpPr>
        <p:spPr>
          <a:xfrm>
            <a:off x="311700" y="445025"/>
            <a:ext cx="8520600" cy="7074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48" name="Google Shape;48;p30"/>
          <p:cNvSpPr txBox="1"/>
          <p:nvPr>
            <p:ph idx="1" type="body"/>
          </p:nvPr>
        </p:nvSpPr>
        <p:spPr>
          <a:xfrm>
            <a:off x="311700" y="1266175"/>
            <a:ext cx="3999900" cy="33027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49" name="Google Shape;49;p30"/>
          <p:cNvSpPr txBox="1"/>
          <p:nvPr>
            <p:ph idx="2" type="body"/>
          </p:nvPr>
        </p:nvSpPr>
        <p:spPr>
          <a:xfrm>
            <a:off x="4832400" y="1266175"/>
            <a:ext cx="3999900" cy="33027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50" name="Google Shape;5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ph type="ctrTitle"/>
          </p:nvPr>
        </p:nvSpPr>
        <p:spPr>
          <a:xfrm>
            <a:off x="1183709" y="1339007"/>
            <a:ext cx="5880900" cy="1757100"/>
          </a:xfrm>
          <a:prstGeom prst="rect">
            <a:avLst/>
          </a:prstGeom>
          <a:noFill/>
          <a:ln>
            <a:noFill/>
          </a:ln>
        </p:spPr>
        <p:txBody>
          <a:bodyPr anchorCtr="0" anchor="b" bIns="34275" lIns="68575" spcFirstLastPara="1" rIns="68575" wrap="square" tIns="34275">
            <a:normAutofit/>
          </a:bodyPr>
          <a:lstStyle/>
          <a:p>
            <a:pPr indent="0" lvl="0" marL="0" rtl="0" algn="l">
              <a:lnSpc>
                <a:spcPct val="103703"/>
              </a:lnSpc>
              <a:spcBef>
                <a:spcPts val="0"/>
              </a:spcBef>
              <a:spcAft>
                <a:spcPts val="0"/>
              </a:spcAft>
              <a:buSzPts val="4100"/>
              <a:buNone/>
            </a:pPr>
            <a:r>
              <a:rPr lang="en"/>
              <a:t>Scalable Data Analytics</a:t>
            </a:r>
            <a:endParaRPr/>
          </a:p>
        </p:txBody>
      </p:sp>
      <p:sp>
        <p:nvSpPr>
          <p:cNvPr id="56" name="Google Shape;56;p1"/>
          <p:cNvSpPr txBox="1"/>
          <p:nvPr>
            <p:ph idx="1" type="subTitle"/>
          </p:nvPr>
        </p:nvSpPr>
        <p:spPr>
          <a:xfrm>
            <a:off x="1183709" y="3096024"/>
            <a:ext cx="5880900" cy="536100"/>
          </a:xfrm>
          <a:prstGeom prst="rect">
            <a:avLst/>
          </a:prstGeom>
          <a:noFill/>
          <a:ln>
            <a:noFill/>
          </a:ln>
        </p:spPr>
        <p:txBody>
          <a:bodyPr anchorCtr="0" anchor="t" bIns="34275" lIns="68575" spcFirstLastPara="1" rIns="68575" wrap="square" tIns="34275">
            <a:noAutofit/>
          </a:bodyPr>
          <a:lstStyle/>
          <a:p>
            <a:pPr indent="0" lvl="0" marL="0" rtl="0" algn="l">
              <a:lnSpc>
                <a:spcPct val="108333"/>
              </a:lnSpc>
              <a:spcBef>
                <a:spcPts val="0"/>
              </a:spcBef>
              <a:spcAft>
                <a:spcPts val="0"/>
              </a:spcAft>
              <a:buSzPts val="1800"/>
              <a:buNone/>
            </a:pPr>
            <a:r>
              <a:rPr lang="en"/>
              <a:t>SENG 550</a:t>
            </a:r>
            <a:endParaRPr/>
          </a:p>
        </p:txBody>
      </p:sp>
      <p:sp>
        <p:nvSpPr>
          <p:cNvPr id="57" name="Google Shape;57;p1"/>
          <p:cNvSpPr txBox="1"/>
          <p:nvPr>
            <p:ph idx="2" type="body"/>
          </p:nvPr>
        </p:nvSpPr>
        <p:spPr>
          <a:xfrm>
            <a:off x="1183709" y="3636920"/>
            <a:ext cx="5880900" cy="844200"/>
          </a:xfrm>
          <a:prstGeom prst="rect">
            <a:avLst/>
          </a:prstGeom>
          <a:noFill/>
          <a:ln>
            <a:noFill/>
          </a:ln>
        </p:spPr>
        <p:txBody>
          <a:bodyPr anchorCtr="0" anchor="b" bIns="34275" lIns="68575" spcFirstLastPara="1" rIns="68575" wrap="square" tIns="34275">
            <a:noAutofit/>
          </a:bodyPr>
          <a:lstStyle/>
          <a:p>
            <a:pPr indent="0" lvl="0" marL="0" rtl="0" algn="l">
              <a:lnSpc>
                <a:spcPct val="111111"/>
              </a:lnSpc>
              <a:spcBef>
                <a:spcPts val="0"/>
              </a:spcBef>
              <a:spcAft>
                <a:spcPts val="0"/>
              </a:spcAft>
              <a:buSzPts val="1400"/>
              <a:buNone/>
            </a:pPr>
            <a:r>
              <a:rPr lang="en"/>
              <a:t>AKA. Big Data - Data Engineering</a:t>
            </a:r>
            <a:endParaRPr/>
          </a:p>
        </p:txBody>
      </p:sp>
      <p:sp>
        <p:nvSpPr>
          <p:cNvPr id="58" name="Google Shape;58;p1"/>
          <p:cNvSpPr txBox="1"/>
          <p:nvPr>
            <p:ph idx="3" type="body"/>
          </p:nvPr>
        </p:nvSpPr>
        <p:spPr>
          <a:xfrm>
            <a:off x="1183709" y="4485884"/>
            <a:ext cx="4939500" cy="3915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SzPts val="1100"/>
              <a:buNone/>
            </a:pPr>
            <a:r>
              <a:rPr lang="en"/>
              <a:t>Armin Zirak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400"/>
              <a:buNone/>
            </a:pPr>
            <a:r>
              <a:rPr lang="en" sz="3000"/>
              <a:t>Data Pipelines</a:t>
            </a:r>
            <a:endParaRPr sz="3000"/>
          </a:p>
        </p:txBody>
      </p:sp>
      <p:sp>
        <p:nvSpPr>
          <p:cNvPr id="64" name="Google Shape;64;p2"/>
          <p:cNvSpPr txBox="1"/>
          <p:nvPr>
            <p:ph idx="1" type="subTitle"/>
          </p:nvPr>
        </p:nvSpPr>
        <p:spPr>
          <a:xfrm>
            <a:off x="2137225" y="2850039"/>
            <a:ext cx="4870500" cy="79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a:t>11</a:t>
            </a:r>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a4726a4ff4_0_1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Pipeline</a:t>
            </a:r>
            <a:endParaRPr/>
          </a:p>
        </p:txBody>
      </p:sp>
      <p:sp>
        <p:nvSpPr>
          <p:cNvPr id="70" name="Google Shape;70;g3a4726a4ff4_0_10"/>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A data pipeline is a system that moves data from one place to another place and performs any necessary process along the way.</a:t>
            </a:r>
            <a:endParaRPr sz="1600"/>
          </a:p>
          <a:p>
            <a:pPr indent="-330200" lvl="0" marL="457200" rtl="0" algn="l">
              <a:lnSpc>
                <a:spcPct val="115000"/>
              </a:lnSpc>
              <a:spcBef>
                <a:spcPts val="800"/>
              </a:spcBef>
              <a:spcAft>
                <a:spcPts val="0"/>
              </a:spcAft>
              <a:buSzPts val="1600"/>
              <a:buChar char="●"/>
            </a:pPr>
            <a:r>
              <a:rPr lang="en" sz="1600"/>
              <a:t>A data pipeline connects data sources (e.g., databases, APIs, sensors, applications) to destinations (e.g., data warehouses, analytics tools, machine learning models).</a:t>
            </a:r>
            <a:endParaRPr sz="1600"/>
          </a:p>
        </p:txBody>
      </p:sp>
      <p:pic>
        <p:nvPicPr>
          <p:cNvPr id="71" name="Google Shape;71;g3a4726a4ff4_0_10"/>
          <p:cNvPicPr preferRelativeResize="0"/>
          <p:nvPr/>
        </p:nvPicPr>
        <p:blipFill>
          <a:blip r:embed="rId3">
            <a:alphaModFix/>
          </a:blip>
          <a:stretch>
            <a:fillRect/>
          </a:stretch>
        </p:blipFill>
        <p:spPr>
          <a:xfrm>
            <a:off x="1484563" y="2400125"/>
            <a:ext cx="5168125" cy="2293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a4726a4ff4_0_2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Pipeline Stages</a:t>
            </a:r>
            <a:endParaRPr/>
          </a:p>
        </p:txBody>
      </p:sp>
      <p:sp>
        <p:nvSpPr>
          <p:cNvPr id="77" name="Google Shape;77;g3a4726a4ff4_0_24"/>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en" sz="1600"/>
              <a:t>A typical data pipeline contains three stages. </a:t>
            </a:r>
            <a:endParaRPr sz="1600"/>
          </a:p>
          <a:p>
            <a:pPr indent="-330200" lvl="0" marL="457200" rtl="0" algn="l">
              <a:lnSpc>
                <a:spcPct val="115000"/>
              </a:lnSpc>
              <a:spcBef>
                <a:spcPts val="800"/>
              </a:spcBef>
              <a:spcAft>
                <a:spcPts val="0"/>
              </a:spcAft>
              <a:buSzPts val="1600"/>
              <a:buAutoNum type="arabicPeriod"/>
            </a:pPr>
            <a:r>
              <a:rPr b="1" lang="en" sz="1600"/>
              <a:t>Data Ingestion: </a:t>
            </a:r>
            <a:r>
              <a:rPr lang="en" sz="1600"/>
              <a:t>Collecting and bringing data from one or more sources into a storage or process</a:t>
            </a:r>
            <a:r>
              <a:rPr lang="en" sz="1600"/>
              <a:t>ing</a:t>
            </a:r>
            <a:r>
              <a:rPr lang="en" sz="1600"/>
              <a:t> system.</a:t>
            </a:r>
            <a:endParaRPr sz="1600"/>
          </a:p>
          <a:p>
            <a:pPr indent="-330200" lvl="0" marL="457200" rtl="0" algn="l">
              <a:lnSpc>
                <a:spcPct val="115000"/>
              </a:lnSpc>
              <a:spcBef>
                <a:spcPts val="0"/>
              </a:spcBef>
              <a:spcAft>
                <a:spcPts val="0"/>
              </a:spcAft>
              <a:buSzPts val="1600"/>
              <a:buAutoNum type="arabicPeriod"/>
            </a:pPr>
            <a:r>
              <a:rPr b="1" lang="en" sz="1600"/>
              <a:t>Data Transformation:</a:t>
            </a:r>
            <a:r>
              <a:rPr lang="en" sz="1600"/>
              <a:t> Cleaning, reshaping, enriching, and preparing data so it’s usable for analysis or applications.</a:t>
            </a:r>
            <a:endParaRPr sz="1600"/>
          </a:p>
          <a:p>
            <a:pPr indent="-330200" lvl="0" marL="457200" rtl="0" algn="l">
              <a:lnSpc>
                <a:spcPct val="115000"/>
              </a:lnSpc>
              <a:spcBef>
                <a:spcPts val="0"/>
              </a:spcBef>
              <a:spcAft>
                <a:spcPts val="0"/>
              </a:spcAft>
              <a:buSzPts val="1600"/>
              <a:buAutoNum type="arabicPeriod"/>
            </a:pPr>
            <a:r>
              <a:rPr b="1" lang="en" sz="1600"/>
              <a:t>Data Serving: </a:t>
            </a:r>
            <a:r>
              <a:rPr lang="en" sz="1600"/>
              <a:t>Making data accessible for consumption by analysts, dashboards, ML models, or applications.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a4726a4ff4_0_5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Conceptual Stages</a:t>
            </a:r>
            <a:endParaRPr/>
          </a:p>
        </p:txBody>
      </p:sp>
      <p:pic>
        <p:nvPicPr>
          <p:cNvPr id="83" name="Google Shape;83;g3a4726a4ff4_0_50"/>
          <p:cNvPicPr preferRelativeResize="0"/>
          <p:nvPr/>
        </p:nvPicPr>
        <p:blipFill>
          <a:blip r:embed="rId3">
            <a:alphaModFix/>
          </a:blip>
          <a:stretch>
            <a:fillRect/>
          </a:stretch>
        </p:blipFill>
        <p:spPr>
          <a:xfrm>
            <a:off x="714925" y="1122868"/>
            <a:ext cx="7293300" cy="37646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a4726a4ff4_0_3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Ingestion</a:t>
            </a:r>
            <a:endParaRPr/>
          </a:p>
        </p:txBody>
      </p:sp>
      <p:sp>
        <p:nvSpPr>
          <p:cNvPr id="89" name="Google Shape;89;g3a4726a4ff4_0_37"/>
          <p:cNvSpPr txBox="1"/>
          <p:nvPr>
            <p:ph idx="1" type="body"/>
          </p:nvPr>
        </p:nvSpPr>
        <p:spPr>
          <a:xfrm>
            <a:off x="273700" y="1059163"/>
            <a:ext cx="44991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b="1" lang="en" sz="1600"/>
              <a:t>Data ingestion</a:t>
            </a:r>
            <a:r>
              <a:rPr lang="en" sz="1600"/>
              <a:t> is the process of collecting data from one or more sources and bringing it into a system where it can be stored, processed, or analyzed.</a:t>
            </a:r>
            <a:endParaRPr sz="1600"/>
          </a:p>
          <a:p>
            <a:pPr indent="-330200" lvl="0" marL="457200" rtl="0" algn="l">
              <a:lnSpc>
                <a:spcPct val="115000"/>
              </a:lnSpc>
              <a:spcBef>
                <a:spcPts val="800"/>
              </a:spcBef>
              <a:spcAft>
                <a:spcPts val="0"/>
              </a:spcAft>
              <a:buSzPts val="1600"/>
              <a:buChar char="●"/>
            </a:pPr>
            <a:r>
              <a:rPr lang="en" sz="1600"/>
              <a:t>It is typically the first stage of a data pipeline.</a:t>
            </a:r>
            <a:endParaRPr sz="1600"/>
          </a:p>
          <a:p>
            <a:pPr indent="0" lvl="0" marL="0" rtl="0" algn="l">
              <a:lnSpc>
                <a:spcPct val="115000"/>
              </a:lnSpc>
              <a:spcBef>
                <a:spcPts val="800"/>
              </a:spcBef>
              <a:spcAft>
                <a:spcPts val="0"/>
              </a:spcAft>
              <a:buNone/>
            </a:pPr>
            <a:r>
              <a:t/>
            </a:r>
            <a:endParaRPr sz="1600"/>
          </a:p>
        </p:txBody>
      </p:sp>
      <p:pic>
        <p:nvPicPr>
          <p:cNvPr id="90" name="Google Shape;90;g3a4726a4ff4_0_37"/>
          <p:cNvPicPr preferRelativeResize="0"/>
          <p:nvPr/>
        </p:nvPicPr>
        <p:blipFill rotWithShape="1">
          <a:blip r:embed="rId3">
            <a:alphaModFix/>
          </a:blip>
          <a:srcRect b="0" l="0" r="26616" t="0"/>
          <a:stretch/>
        </p:blipFill>
        <p:spPr>
          <a:xfrm>
            <a:off x="4652325" y="915850"/>
            <a:ext cx="4323449" cy="3927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a4726a4ff4_0_6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Ingestion Sources</a:t>
            </a:r>
            <a:endParaRPr/>
          </a:p>
        </p:txBody>
      </p:sp>
      <p:sp>
        <p:nvSpPr>
          <p:cNvPr id="96" name="Google Shape;96;g3a4726a4ff4_0_64"/>
          <p:cNvSpPr txBox="1"/>
          <p:nvPr>
            <p:ph idx="1" type="body"/>
          </p:nvPr>
        </p:nvSpPr>
        <p:spPr>
          <a:xfrm>
            <a:off x="273700" y="1059175"/>
            <a:ext cx="86139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b="1" lang="en" sz="1600"/>
              <a:t>APIs:</a:t>
            </a:r>
            <a:r>
              <a:rPr lang="en" sz="1600"/>
              <a:t> Data is retrieved from web services or applications </a:t>
            </a:r>
            <a:endParaRPr sz="1600"/>
          </a:p>
          <a:p>
            <a:pPr indent="-330200" lvl="1" marL="914400" rtl="0" algn="l">
              <a:lnSpc>
                <a:spcPct val="150000"/>
              </a:lnSpc>
              <a:spcBef>
                <a:spcPts val="0"/>
              </a:spcBef>
              <a:spcAft>
                <a:spcPts val="0"/>
              </a:spcAft>
              <a:buSzPts val="1600"/>
              <a:buChar char="○"/>
            </a:pPr>
            <a:r>
              <a:rPr lang="en" sz="1600"/>
              <a:t>Social media APIs like Twitter, weather APIs</a:t>
            </a:r>
            <a:endParaRPr sz="1600"/>
          </a:p>
          <a:p>
            <a:pPr indent="-330200" lvl="0" marL="457200" rtl="0" algn="l">
              <a:lnSpc>
                <a:spcPct val="150000"/>
              </a:lnSpc>
              <a:spcBef>
                <a:spcPts val="0"/>
              </a:spcBef>
              <a:spcAft>
                <a:spcPts val="0"/>
              </a:spcAft>
              <a:buSzPts val="1600"/>
              <a:buChar char="●"/>
            </a:pPr>
            <a:r>
              <a:rPr b="1" lang="en" sz="1600"/>
              <a:t>Emails: </a:t>
            </a:r>
            <a:r>
              <a:rPr lang="en" sz="1600"/>
              <a:t> Third party tools might send the data via email.</a:t>
            </a:r>
            <a:endParaRPr sz="1600"/>
          </a:p>
          <a:p>
            <a:pPr indent="-330200" lvl="0" marL="457200" rtl="0" algn="l">
              <a:lnSpc>
                <a:spcPct val="150000"/>
              </a:lnSpc>
              <a:spcBef>
                <a:spcPts val="0"/>
              </a:spcBef>
              <a:spcAft>
                <a:spcPts val="0"/>
              </a:spcAft>
              <a:buSzPts val="1600"/>
              <a:buChar char="●"/>
            </a:pPr>
            <a:r>
              <a:rPr b="1" lang="en" sz="1600"/>
              <a:t>SFTP</a:t>
            </a:r>
            <a:r>
              <a:rPr lang="en" sz="1600"/>
              <a:t> </a:t>
            </a:r>
            <a:r>
              <a:rPr b="1" lang="en" sz="1600"/>
              <a:t>(Secure File Transfer Protocol):</a:t>
            </a:r>
            <a:r>
              <a:rPr lang="en" sz="1600"/>
              <a:t> Files are transferred from external systems.</a:t>
            </a:r>
            <a:endParaRPr sz="1600"/>
          </a:p>
          <a:p>
            <a:pPr indent="-330200" lvl="0" marL="457200" rtl="0" algn="l">
              <a:lnSpc>
                <a:spcPct val="150000"/>
              </a:lnSpc>
              <a:spcBef>
                <a:spcPts val="0"/>
              </a:spcBef>
              <a:spcAft>
                <a:spcPts val="0"/>
              </a:spcAft>
              <a:buSzPts val="1600"/>
              <a:buChar char="●"/>
            </a:pPr>
            <a:r>
              <a:rPr b="1" lang="en" sz="1600"/>
              <a:t>Real-Time Streams: </a:t>
            </a:r>
            <a:r>
              <a:rPr lang="en" sz="1600"/>
              <a:t>Data is constantly flowing from sources such as IoT devices.</a:t>
            </a:r>
            <a:endParaRPr sz="1600"/>
          </a:p>
          <a:p>
            <a:pPr indent="-330200" lvl="0" marL="457200" rtl="0" algn="l">
              <a:lnSpc>
                <a:spcPct val="150000"/>
              </a:lnSpc>
              <a:spcBef>
                <a:spcPts val="0"/>
              </a:spcBef>
              <a:spcAft>
                <a:spcPts val="0"/>
              </a:spcAft>
              <a:buSzPts val="1600"/>
              <a:buChar char="●"/>
            </a:pPr>
            <a:r>
              <a:rPr b="1" lang="en" sz="1600"/>
              <a:t>Databases</a:t>
            </a:r>
            <a:r>
              <a:rPr lang="en" sz="1600"/>
              <a:t>: The data can be collected from databases directly.</a:t>
            </a:r>
            <a:endParaRPr sz="1600"/>
          </a:p>
          <a:p>
            <a:pPr indent="-330200" lvl="1" marL="914400" rtl="0" algn="l">
              <a:lnSpc>
                <a:spcPct val="150000"/>
              </a:lnSpc>
              <a:spcBef>
                <a:spcPts val="0"/>
              </a:spcBef>
              <a:spcAft>
                <a:spcPts val="0"/>
              </a:spcAft>
              <a:buSzPts val="1600"/>
              <a:buChar char="○"/>
            </a:pPr>
            <a:r>
              <a:rPr lang="en" sz="1600"/>
              <a:t>PostgreSQL, MySQL, MongoDB.</a:t>
            </a:r>
            <a:endParaRPr sz="1600"/>
          </a:p>
          <a:p>
            <a:pPr indent="0" lvl="0" marL="0" rtl="0" algn="l">
              <a:lnSpc>
                <a:spcPct val="150000"/>
              </a:lnSpc>
              <a:spcBef>
                <a:spcPts val="800"/>
              </a:spcBef>
              <a:spcAft>
                <a:spcPts val="0"/>
              </a:spcAft>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a4726a4ff4_0_173"/>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Ingestion Modes</a:t>
            </a:r>
            <a:endParaRPr/>
          </a:p>
        </p:txBody>
      </p:sp>
      <p:sp>
        <p:nvSpPr>
          <p:cNvPr id="102" name="Google Shape;102;g3a4726a4ff4_0_173"/>
          <p:cNvSpPr txBox="1"/>
          <p:nvPr>
            <p:ph idx="1" type="body"/>
          </p:nvPr>
        </p:nvSpPr>
        <p:spPr>
          <a:xfrm>
            <a:off x="273700" y="1059175"/>
            <a:ext cx="86139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AutoNum type="arabicPeriod"/>
            </a:pPr>
            <a:r>
              <a:rPr lang="en" sz="1600"/>
              <a:t>Batch Ingestion: Data is collected and moved in discrete chunks at scheduled intervals (hourly, daily, weekly).</a:t>
            </a:r>
            <a:endParaRPr sz="1600"/>
          </a:p>
          <a:p>
            <a:pPr indent="-330200" lvl="0" marL="914400" rtl="0" algn="l">
              <a:lnSpc>
                <a:spcPct val="150000"/>
              </a:lnSpc>
              <a:spcBef>
                <a:spcPts val="0"/>
              </a:spcBef>
              <a:spcAft>
                <a:spcPts val="0"/>
              </a:spcAft>
              <a:buSzPts val="1600"/>
              <a:buChar char="●"/>
            </a:pPr>
            <a:r>
              <a:rPr lang="en" sz="1600"/>
              <a:t>Daily CSV exports</a:t>
            </a:r>
            <a:endParaRPr sz="1600"/>
          </a:p>
          <a:p>
            <a:pPr indent="-330200" lvl="0" marL="914400" rtl="0" algn="l">
              <a:lnSpc>
                <a:spcPct val="150000"/>
              </a:lnSpc>
              <a:spcBef>
                <a:spcPts val="0"/>
              </a:spcBef>
              <a:spcAft>
                <a:spcPts val="0"/>
              </a:spcAft>
              <a:buSzPts val="1600"/>
              <a:buChar char="●"/>
            </a:pPr>
            <a:r>
              <a:rPr lang="en" sz="1600"/>
              <a:t>Nightly replication of a database to a data warehouse</a:t>
            </a:r>
            <a:endParaRPr sz="1600"/>
          </a:p>
          <a:p>
            <a:pPr indent="-330200" lvl="0" marL="914400" rtl="0" algn="l">
              <a:lnSpc>
                <a:spcPct val="150000"/>
              </a:lnSpc>
              <a:spcBef>
                <a:spcPts val="0"/>
              </a:spcBef>
              <a:spcAft>
                <a:spcPts val="0"/>
              </a:spcAft>
              <a:buSzPts val="1600"/>
              <a:buChar char="●"/>
            </a:pPr>
            <a:r>
              <a:rPr lang="en" sz="1600"/>
              <a:t>Scheduled API pulls</a:t>
            </a:r>
            <a:endParaRPr sz="1600"/>
          </a:p>
          <a:p>
            <a:pPr indent="-330200" lvl="0" marL="457200" rtl="0" algn="l">
              <a:lnSpc>
                <a:spcPct val="150000"/>
              </a:lnSpc>
              <a:spcBef>
                <a:spcPts val="0"/>
              </a:spcBef>
              <a:spcAft>
                <a:spcPts val="0"/>
              </a:spcAft>
              <a:buSzPts val="1600"/>
              <a:buAutoNum type="arabicPeriod"/>
            </a:pPr>
            <a:r>
              <a:rPr lang="en" sz="1600"/>
              <a:t>Streaming Ingestion: Data is collected and moved continuously as it is generated, in near real-time</a:t>
            </a:r>
            <a:r>
              <a:rPr lang="en" sz="1600"/>
              <a:t>.</a:t>
            </a:r>
            <a:endParaRPr sz="1600"/>
          </a:p>
          <a:p>
            <a:pPr indent="-330200" lvl="0" marL="914400" rtl="0" algn="l">
              <a:lnSpc>
                <a:spcPct val="150000"/>
              </a:lnSpc>
              <a:spcBef>
                <a:spcPts val="0"/>
              </a:spcBef>
              <a:spcAft>
                <a:spcPts val="0"/>
              </a:spcAft>
              <a:buSzPts val="1600"/>
              <a:buChar char="●"/>
            </a:pPr>
            <a:r>
              <a:rPr lang="en" sz="1600"/>
              <a:t>Web clickstream events</a:t>
            </a:r>
            <a:endParaRPr sz="1600"/>
          </a:p>
          <a:p>
            <a:pPr indent="-330200" lvl="0" marL="914400" rtl="0" algn="l">
              <a:lnSpc>
                <a:spcPct val="150000"/>
              </a:lnSpc>
              <a:spcBef>
                <a:spcPts val="0"/>
              </a:spcBef>
              <a:spcAft>
                <a:spcPts val="0"/>
              </a:spcAft>
              <a:buSzPts val="1600"/>
              <a:buChar char="●"/>
            </a:pPr>
            <a:r>
              <a:rPr lang="en" sz="1600"/>
              <a:t>IoT sensor data streaming</a:t>
            </a:r>
            <a:endParaRPr sz="1600"/>
          </a:p>
          <a:p>
            <a:pPr indent="-330200" lvl="0" marL="914400" rtl="0" algn="l">
              <a:lnSpc>
                <a:spcPct val="150000"/>
              </a:lnSpc>
              <a:spcBef>
                <a:spcPts val="0"/>
              </a:spcBef>
              <a:spcAft>
                <a:spcPts val="0"/>
              </a:spcAft>
              <a:buSzPts val="1600"/>
              <a:buChar char="●"/>
            </a:pPr>
            <a:r>
              <a:rPr lang="en" sz="1600"/>
              <a:t>Real-time stock market feeds</a:t>
            </a:r>
            <a:endParaRPr sz="1600"/>
          </a:p>
          <a:p>
            <a:pPr indent="0" lvl="0" marL="0" rtl="0" algn="l">
              <a:lnSpc>
                <a:spcPct val="150000"/>
              </a:lnSpc>
              <a:spcBef>
                <a:spcPts val="800"/>
              </a:spcBef>
              <a:spcAft>
                <a:spcPts val="0"/>
              </a:spcAft>
              <a:buNone/>
            </a:pPr>
            <a:r>
              <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a4726a4ff4_0_178"/>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Ingestion Modes</a:t>
            </a:r>
            <a:endParaRPr/>
          </a:p>
        </p:txBody>
      </p:sp>
      <p:pic>
        <p:nvPicPr>
          <p:cNvPr id="108" name="Google Shape;108;g3a4726a4ff4_0_178"/>
          <p:cNvPicPr preferRelativeResize="0"/>
          <p:nvPr/>
        </p:nvPicPr>
        <p:blipFill rotWithShape="1">
          <a:blip r:embed="rId3">
            <a:alphaModFix/>
          </a:blip>
          <a:srcRect b="7430" l="-5359" r="5359" t="-7430"/>
          <a:stretch/>
        </p:blipFill>
        <p:spPr>
          <a:xfrm>
            <a:off x="1556950" y="981025"/>
            <a:ext cx="5941500" cy="40204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a4726a4ff4_0_18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Batch Processing</a:t>
            </a:r>
            <a:endParaRPr/>
          </a:p>
        </p:txBody>
      </p:sp>
      <p:sp>
        <p:nvSpPr>
          <p:cNvPr id="114" name="Google Shape;114;g3a4726a4ff4_0_189"/>
          <p:cNvSpPr txBox="1"/>
          <p:nvPr>
            <p:ph idx="1" type="body"/>
          </p:nvPr>
        </p:nvSpPr>
        <p:spPr>
          <a:xfrm>
            <a:off x="273700" y="1059175"/>
            <a:ext cx="8613900" cy="3641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None/>
            </a:pPr>
            <a:r>
              <a:rPr lang="en" sz="1600"/>
              <a:t>Data is collected and moved in discrete chunks at scheduled intervals (hourly, daily, weekly).</a:t>
            </a:r>
            <a:endParaRPr sz="1600"/>
          </a:p>
          <a:p>
            <a:pPr indent="-330200" lvl="0" marL="457200" rtl="0" algn="l">
              <a:lnSpc>
                <a:spcPct val="150000"/>
              </a:lnSpc>
              <a:spcBef>
                <a:spcPts val="800"/>
              </a:spcBef>
              <a:spcAft>
                <a:spcPts val="0"/>
              </a:spcAft>
              <a:buSzPts val="1600"/>
              <a:buChar char="●"/>
            </a:pPr>
            <a:r>
              <a:rPr lang="en" sz="1600"/>
              <a:t>Data is collected over a period (e.g., hourly, daily, weekly) and processed together.</a:t>
            </a:r>
            <a:endParaRPr sz="1600"/>
          </a:p>
          <a:p>
            <a:pPr indent="-330200" lvl="1" marL="914400" rtl="0" algn="l">
              <a:lnSpc>
                <a:spcPct val="150000"/>
              </a:lnSpc>
              <a:spcBef>
                <a:spcPts val="0"/>
              </a:spcBef>
              <a:spcAft>
                <a:spcPts val="0"/>
              </a:spcAft>
              <a:buSzPts val="1600"/>
              <a:buChar char="○"/>
            </a:pPr>
            <a:r>
              <a:rPr lang="en" sz="1600"/>
              <a:t>Or, size-based: e.g., 10 MB of data</a:t>
            </a:r>
            <a:endParaRPr sz="1600"/>
          </a:p>
          <a:p>
            <a:pPr indent="-330200" lvl="0" marL="457200" rtl="0" algn="l">
              <a:lnSpc>
                <a:spcPct val="150000"/>
              </a:lnSpc>
              <a:spcBef>
                <a:spcPts val="0"/>
              </a:spcBef>
              <a:spcAft>
                <a:spcPts val="0"/>
              </a:spcAft>
              <a:buSzPts val="1600"/>
              <a:buChar char="●"/>
            </a:pPr>
            <a:r>
              <a:rPr lang="en" sz="1600"/>
              <a:t>Has a</a:t>
            </a:r>
            <a:r>
              <a:rPr lang="en" sz="1600"/>
              <a:t> latency in nature. Results can’t be available before the execution.</a:t>
            </a:r>
            <a:endParaRPr sz="1600"/>
          </a:p>
          <a:p>
            <a:pPr indent="-330200" lvl="1" marL="914400" rtl="0" algn="l">
              <a:lnSpc>
                <a:spcPct val="150000"/>
              </a:lnSpc>
              <a:spcBef>
                <a:spcPts val="0"/>
              </a:spcBef>
              <a:spcAft>
                <a:spcPts val="0"/>
              </a:spcAft>
              <a:buSzPts val="1600"/>
              <a:buChar char="○"/>
            </a:pPr>
            <a:r>
              <a:rPr lang="en" sz="1600"/>
              <a:t>Sometimes it’s not an issue at all -&gt; Monthly payroll or billing calculations</a:t>
            </a:r>
            <a:endParaRPr sz="1600"/>
          </a:p>
          <a:p>
            <a:pPr indent="-330200" lvl="1" marL="914400" rtl="0" algn="l">
              <a:lnSpc>
                <a:spcPct val="150000"/>
              </a:lnSpc>
              <a:spcBef>
                <a:spcPts val="0"/>
              </a:spcBef>
              <a:spcAft>
                <a:spcPts val="0"/>
              </a:spcAft>
              <a:buSzPts val="1600"/>
              <a:buChar char="○"/>
            </a:pPr>
            <a:r>
              <a:rPr lang="en" sz="1600"/>
              <a:t>Sometimes it becomes a downside -&gt; Receipt of orders.</a:t>
            </a:r>
            <a:endParaRPr sz="1600"/>
          </a:p>
          <a:p>
            <a:pPr indent="0" lvl="0" marL="0" rtl="0" algn="l">
              <a:lnSpc>
                <a:spcPct val="150000"/>
              </a:lnSpc>
              <a:spcBef>
                <a:spcPts val="800"/>
              </a:spcBef>
              <a:spcAft>
                <a:spcPts val="0"/>
              </a:spcAft>
              <a:buNone/>
            </a:pPr>
            <a:r>
              <a:t/>
            </a:r>
            <a:endParaRPr sz="1600"/>
          </a:p>
          <a:p>
            <a:pPr indent="0" lvl="0" marL="0" rtl="0" algn="l">
              <a:lnSpc>
                <a:spcPct val="150000"/>
              </a:lnSpc>
              <a:spcBef>
                <a:spcPts val="800"/>
              </a:spcBef>
              <a:spcAft>
                <a:spcPts val="0"/>
              </a:spcAft>
              <a:buNone/>
            </a:pPr>
            <a:r>
              <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a4726a4ff4_0_22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Batch Processing (Components)</a:t>
            </a:r>
            <a:endParaRPr/>
          </a:p>
        </p:txBody>
      </p:sp>
      <p:sp>
        <p:nvSpPr>
          <p:cNvPr id="120" name="Google Shape;120;g3a4726a4ff4_0_225"/>
          <p:cNvSpPr txBox="1"/>
          <p:nvPr>
            <p:ph idx="1" type="body"/>
          </p:nvPr>
        </p:nvSpPr>
        <p:spPr>
          <a:xfrm>
            <a:off x="273700" y="1059175"/>
            <a:ext cx="86139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lang="en" sz="1600"/>
              <a:t>Distribution / Parallelism</a:t>
            </a:r>
            <a:endParaRPr sz="1600"/>
          </a:p>
          <a:p>
            <a:pPr indent="-330200" lvl="1" marL="914400" rtl="0" algn="l">
              <a:lnSpc>
                <a:spcPct val="150000"/>
              </a:lnSpc>
              <a:spcBef>
                <a:spcPts val="0"/>
              </a:spcBef>
              <a:spcAft>
                <a:spcPts val="0"/>
              </a:spcAft>
              <a:buSzPts val="1600"/>
              <a:buChar char="○"/>
            </a:pPr>
            <a:r>
              <a:rPr lang="en" sz="1600"/>
              <a:t>Single-node: Processes the batch on one machine; limited throughput.</a:t>
            </a:r>
            <a:endParaRPr sz="1600"/>
          </a:p>
          <a:p>
            <a:pPr indent="-330200" lvl="1" marL="914400" rtl="0" algn="l">
              <a:lnSpc>
                <a:spcPct val="150000"/>
              </a:lnSpc>
              <a:spcBef>
                <a:spcPts val="0"/>
              </a:spcBef>
              <a:spcAft>
                <a:spcPts val="0"/>
              </a:spcAft>
              <a:buSzPts val="1600"/>
              <a:buChar char="○"/>
            </a:pPr>
            <a:r>
              <a:rPr lang="en" sz="1600"/>
              <a:t>Distributed: Splits the batch across multiple nodes to handle large datasets efficiently.</a:t>
            </a:r>
            <a:endParaRPr sz="1600"/>
          </a:p>
          <a:p>
            <a:pPr indent="-330200" lvl="1" marL="914400" rtl="0" algn="l">
              <a:lnSpc>
                <a:spcPct val="150000"/>
              </a:lnSpc>
              <a:spcBef>
                <a:spcPts val="0"/>
              </a:spcBef>
              <a:spcAft>
                <a:spcPts val="0"/>
              </a:spcAft>
              <a:buSzPts val="1600"/>
              <a:buChar char="○"/>
            </a:pPr>
            <a:r>
              <a:rPr lang="en" sz="1600"/>
              <a:t>Example: Hadoop MapReduce, Spark</a:t>
            </a:r>
            <a:endParaRPr sz="1600"/>
          </a:p>
          <a:p>
            <a:pPr indent="-330200" lvl="0" marL="457200" rtl="0" algn="l">
              <a:lnSpc>
                <a:spcPct val="150000"/>
              </a:lnSpc>
              <a:spcBef>
                <a:spcPts val="0"/>
              </a:spcBef>
              <a:spcAft>
                <a:spcPts val="0"/>
              </a:spcAft>
              <a:buSzPts val="1600"/>
              <a:buChar char="●"/>
            </a:pPr>
            <a:r>
              <a:rPr lang="en" sz="1600"/>
              <a:t>Processing Mode</a:t>
            </a:r>
            <a:endParaRPr sz="1600"/>
          </a:p>
          <a:p>
            <a:pPr indent="-330200" lvl="1" marL="914400" rtl="0" algn="l">
              <a:lnSpc>
                <a:spcPct val="150000"/>
              </a:lnSpc>
              <a:spcBef>
                <a:spcPts val="0"/>
              </a:spcBef>
              <a:spcAft>
                <a:spcPts val="0"/>
              </a:spcAft>
              <a:buSzPts val="1600"/>
              <a:buChar char="○"/>
            </a:pPr>
            <a:r>
              <a:rPr lang="en" sz="1600"/>
              <a:t>Full batch: Processes all available data at once.</a:t>
            </a:r>
            <a:endParaRPr sz="1600"/>
          </a:p>
          <a:p>
            <a:pPr indent="-330200" lvl="2" marL="1371600" rtl="0" algn="l">
              <a:lnSpc>
                <a:spcPct val="150000"/>
              </a:lnSpc>
              <a:spcBef>
                <a:spcPts val="0"/>
              </a:spcBef>
              <a:spcAft>
                <a:spcPts val="0"/>
              </a:spcAft>
              <a:buSzPts val="1600"/>
              <a:buChar char="■"/>
            </a:pPr>
            <a:r>
              <a:rPr lang="en" sz="1600"/>
              <a:t>Simpler, less efficient, more accurate</a:t>
            </a:r>
            <a:endParaRPr sz="1600"/>
          </a:p>
          <a:p>
            <a:pPr indent="-330200" lvl="1" marL="914400" rtl="0" algn="l">
              <a:lnSpc>
                <a:spcPct val="150000"/>
              </a:lnSpc>
              <a:spcBef>
                <a:spcPts val="0"/>
              </a:spcBef>
              <a:spcAft>
                <a:spcPts val="0"/>
              </a:spcAft>
              <a:buSzPts val="1600"/>
              <a:buChar char="○"/>
            </a:pPr>
            <a:r>
              <a:rPr lang="en" sz="1600"/>
              <a:t>Incremental: Processes only new or changed data since the last batch.</a:t>
            </a:r>
            <a:endParaRPr sz="1600"/>
          </a:p>
          <a:p>
            <a:pPr indent="-330200" lvl="2" marL="1371600" rtl="0" algn="l">
              <a:lnSpc>
                <a:spcPct val="150000"/>
              </a:lnSpc>
              <a:spcBef>
                <a:spcPts val="0"/>
              </a:spcBef>
              <a:spcAft>
                <a:spcPts val="0"/>
              </a:spcAft>
              <a:buSzPts val="1600"/>
              <a:buChar char="■"/>
            </a:pPr>
            <a:r>
              <a:rPr lang="en" sz="1600"/>
              <a:t>More complex, more efficient, less accurate, sometimes the only possible option</a:t>
            </a:r>
            <a:endParaRPr sz="1600"/>
          </a:p>
          <a:p>
            <a:pPr indent="0" lvl="0" marL="0" rtl="0" algn="l">
              <a:lnSpc>
                <a:spcPct val="150000"/>
              </a:lnSpc>
              <a:spcBef>
                <a:spcPts val="800"/>
              </a:spcBef>
              <a:spcAft>
                <a:spcPts val="0"/>
              </a:spcAft>
              <a:buNone/>
            </a:pPr>
            <a:r>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a4726a4ff4_0_19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Streaming</a:t>
            </a:r>
            <a:endParaRPr/>
          </a:p>
        </p:txBody>
      </p:sp>
      <p:sp>
        <p:nvSpPr>
          <p:cNvPr id="126" name="Google Shape;126;g3a4726a4ff4_0_194"/>
          <p:cNvSpPr txBox="1"/>
          <p:nvPr>
            <p:ph idx="1" type="body"/>
          </p:nvPr>
        </p:nvSpPr>
        <p:spPr>
          <a:xfrm>
            <a:off x="273700" y="1059175"/>
            <a:ext cx="8613900" cy="3641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None/>
            </a:pPr>
            <a:r>
              <a:rPr lang="en" sz="1600"/>
              <a:t>Data is collected and moved continuously as it is generated, in </a:t>
            </a:r>
            <a:r>
              <a:rPr b="1" lang="en" sz="1600"/>
              <a:t>near real-time</a:t>
            </a:r>
            <a:r>
              <a:rPr lang="en" sz="1600"/>
              <a:t>.</a:t>
            </a:r>
            <a:endParaRPr sz="1600"/>
          </a:p>
          <a:p>
            <a:pPr indent="-330200" lvl="0" marL="457200" rtl="0" algn="l">
              <a:lnSpc>
                <a:spcPct val="150000"/>
              </a:lnSpc>
              <a:spcBef>
                <a:spcPts val="800"/>
              </a:spcBef>
              <a:spcAft>
                <a:spcPts val="0"/>
              </a:spcAft>
              <a:buSzPts val="1600"/>
              <a:buChar char="●"/>
            </a:pPr>
            <a:r>
              <a:rPr lang="en" sz="1600"/>
              <a:t>Data is processed event-by-event or in small micro-batches.</a:t>
            </a:r>
            <a:endParaRPr sz="1600"/>
          </a:p>
          <a:p>
            <a:pPr indent="-330200" lvl="0" marL="457200" rtl="0" algn="l">
              <a:lnSpc>
                <a:spcPct val="150000"/>
              </a:lnSpc>
              <a:spcBef>
                <a:spcPts val="0"/>
              </a:spcBef>
              <a:spcAft>
                <a:spcPts val="0"/>
              </a:spcAft>
              <a:buSzPts val="1600"/>
              <a:buChar char="●"/>
            </a:pPr>
            <a:r>
              <a:rPr lang="en" sz="1600"/>
              <a:t>Low latency. Data doesn’t have to wait for the next scheduled run.</a:t>
            </a:r>
            <a:endParaRPr sz="1600"/>
          </a:p>
          <a:p>
            <a:pPr indent="0" lvl="0" marL="0" rtl="0" algn="l">
              <a:lnSpc>
                <a:spcPct val="150000"/>
              </a:lnSpc>
              <a:spcBef>
                <a:spcPts val="800"/>
              </a:spcBef>
              <a:spcAft>
                <a:spcPts val="0"/>
              </a:spcAft>
              <a:buNone/>
            </a:pPr>
            <a:r>
              <a:t/>
            </a:r>
            <a:endParaRPr sz="1600"/>
          </a:p>
          <a:p>
            <a:pPr indent="0" lvl="0" marL="0" rtl="0" algn="l">
              <a:lnSpc>
                <a:spcPct val="150000"/>
              </a:lnSpc>
              <a:spcBef>
                <a:spcPts val="800"/>
              </a:spcBef>
              <a:spcAft>
                <a:spcPts val="0"/>
              </a:spcAft>
              <a:buNone/>
            </a:pPr>
            <a:r>
              <a:t/>
            </a:r>
            <a:endParaRPr sz="1600"/>
          </a:p>
          <a:p>
            <a:pPr indent="0" lvl="0" marL="0" rtl="0" algn="l">
              <a:lnSpc>
                <a:spcPct val="150000"/>
              </a:lnSpc>
              <a:spcBef>
                <a:spcPts val="800"/>
              </a:spcBef>
              <a:spcAft>
                <a:spcPts val="0"/>
              </a:spcAft>
              <a:buNone/>
            </a:pPr>
            <a:r>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a4726a4ff4_0_20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Streaming</a:t>
            </a:r>
            <a:endParaRPr/>
          </a:p>
        </p:txBody>
      </p:sp>
      <p:sp>
        <p:nvSpPr>
          <p:cNvPr id="132" name="Google Shape;132;g3a4726a4ff4_0_200"/>
          <p:cNvSpPr txBox="1"/>
          <p:nvPr>
            <p:ph idx="1" type="body"/>
          </p:nvPr>
        </p:nvSpPr>
        <p:spPr>
          <a:xfrm>
            <a:off x="273700" y="1059175"/>
            <a:ext cx="8613900" cy="3641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None/>
            </a:pPr>
            <a:r>
              <a:rPr lang="en" sz="1600"/>
              <a:t>Streaming pipelines can be thought of as a continuous data “pipe”, where data flows from producers → streaming system → consumers in real time.</a:t>
            </a:r>
            <a:endParaRPr sz="1600"/>
          </a:p>
          <a:p>
            <a:pPr indent="0" lvl="0" marL="0" rtl="0" algn="l">
              <a:lnSpc>
                <a:spcPct val="150000"/>
              </a:lnSpc>
              <a:spcBef>
                <a:spcPts val="800"/>
              </a:spcBef>
              <a:spcAft>
                <a:spcPts val="0"/>
              </a:spcAft>
              <a:buNone/>
            </a:pPr>
            <a:r>
              <a:t/>
            </a:r>
            <a:endParaRPr sz="1600"/>
          </a:p>
        </p:txBody>
      </p:sp>
      <p:pic>
        <p:nvPicPr>
          <p:cNvPr id="133" name="Google Shape;133;g3a4726a4ff4_0_200"/>
          <p:cNvPicPr preferRelativeResize="0"/>
          <p:nvPr/>
        </p:nvPicPr>
        <p:blipFill rotWithShape="1">
          <a:blip r:embed="rId3">
            <a:alphaModFix/>
          </a:blip>
          <a:srcRect b="0" l="0" r="0" t="0"/>
          <a:stretch/>
        </p:blipFill>
        <p:spPr>
          <a:xfrm>
            <a:off x="1751575" y="1847075"/>
            <a:ext cx="5875651" cy="285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a4726a4ff4_0_20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Streaming</a:t>
            </a:r>
            <a:endParaRPr/>
          </a:p>
        </p:txBody>
      </p:sp>
      <p:sp>
        <p:nvSpPr>
          <p:cNvPr id="139" name="Google Shape;139;g3a4726a4ff4_0_207"/>
          <p:cNvSpPr txBox="1"/>
          <p:nvPr>
            <p:ph idx="1" type="body"/>
          </p:nvPr>
        </p:nvSpPr>
        <p:spPr>
          <a:xfrm>
            <a:off x="273700" y="1059175"/>
            <a:ext cx="86139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lang="en" sz="1600"/>
              <a:t>Producers:  Systems or devices that generate events or data continuously.</a:t>
            </a:r>
            <a:endParaRPr sz="1600"/>
          </a:p>
          <a:p>
            <a:pPr indent="-330200" lvl="1" marL="914400" rtl="0" algn="l">
              <a:lnSpc>
                <a:spcPct val="150000"/>
              </a:lnSpc>
              <a:spcBef>
                <a:spcPts val="0"/>
              </a:spcBef>
              <a:spcAft>
                <a:spcPts val="0"/>
              </a:spcAft>
              <a:buSzPts val="1600"/>
              <a:buChar char="○"/>
            </a:pPr>
            <a:r>
              <a:rPr lang="en" sz="1600"/>
              <a:t>web applications, IoT sensors, mobile apps, financial transactions.</a:t>
            </a:r>
            <a:endParaRPr sz="1600"/>
          </a:p>
          <a:p>
            <a:pPr indent="-330200" lvl="0" marL="457200" rtl="0" algn="l">
              <a:lnSpc>
                <a:spcPct val="150000"/>
              </a:lnSpc>
              <a:spcBef>
                <a:spcPts val="0"/>
              </a:spcBef>
              <a:spcAft>
                <a:spcPts val="0"/>
              </a:spcAft>
              <a:buSzPts val="1600"/>
              <a:buChar char="●"/>
            </a:pPr>
            <a:r>
              <a:rPr lang="en" sz="1600"/>
              <a:t>Streaming Platform / Middleware: Handles ingestion, buffering, and transport of data streams.</a:t>
            </a:r>
            <a:endParaRPr sz="1600"/>
          </a:p>
          <a:p>
            <a:pPr indent="-330200" lvl="1" marL="914400" rtl="0" algn="l">
              <a:lnSpc>
                <a:spcPct val="150000"/>
              </a:lnSpc>
              <a:spcBef>
                <a:spcPts val="0"/>
              </a:spcBef>
              <a:spcAft>
                <a:spcPts val="0"/>
              </a:spcAft>
              <a:buSzPts val="1600"/>
              <a:buChar char="○"/>
            </a:pPr>
            <a:r>
              <a:rPr lang="en" sz="1600"/>
              <a:t>Apache Kafka, Google Pub/Sub, Amazon Kinesis, Spark Streaming.</a:t>
            </a:r>
            <a:endParaRPr sz="1600"/>
          </a:p>
          <a:p>
            <a:pPr indent="-330200" lvl="0" marL="457200" rtl="0" algn="l">
              <a:lnSpc>
                <a:spcPct val="150000"/>
              </a:lnSpc>
              <a:spcBef>
                <a:spcPts val="0"/>
              </a:spcBef>
              <a:spcAft>
                <a:spcPts val="0"/>
              </a:spcAft>
              <a:buSzPts val="1600"/>
              <a:buChar char="●"/>
            </a:pPr>
            <a:r>
              <a:rPr lang="en" sz="1600"/>
              <a:t>Consumers: Systems that process, transform, or store the data in near real-time.</a:t>
            </a:r>
            <a:endParaRPr sz="1600"/>
          </a:p>
          <a:p>
            <a:pPr indent="0" lvl="0" marL="0" rtl="0" algn="l">
              <a:lnSpc>
                <a:spcPct val="150000"/>
              </a:lnSpc>
              <a:spcBef>
                <a:spcPts val="800"/>
              </a:spcBef>
              <a:spcAft>
                <a:spcPts val="0"/>
              </a:spcAft>
              <a:buNone/>
            </a:pPr>
            <a:r>
              <a:t/>
            </a:r>
            <a:endParaRPr sz="1600"/>
          </a:p>
          <a:p>
            <a:pPr indent="0" lvl="0" marL="0" rtl="0" algn="l">
              <a:lnSpc>
                <a:spcPct val="150000"/>
              </a:lnSpc>
              <a:spcBef>
                <a:spcPts val="800"/>
              </a:spcBef>
              <a:spcAft>
                <a:spcPts val="0"/>
              </a:spcAft>
              <a:buClr>
                <a:schemeClr val="dk1"/>
              </a:buClr>
              <a:buSzPts val="1100"/>
              <a:buFont typeface="Arial"/>
              <a:buNone/>
            </a:pPr>
            <a:r>
              <a:t/>
            </a:r>
            <a:endParaRPr sz="1600"/>
          </a:p>
          <a:p>
            <a:pPr indent="0" lvl="0" marL="0" rtl="0" algn="l">
              <a:lnSpc>
                <a:spcPct val="150000"/>
              </a:lnSpc>
              <a:spcBef>
                <a:spcPts val="800"/>
              </a:spcBef>
              <a:spcAft>
                <a:spcPts val="0"/>
              </a:spcAft>
              <a:buClr>
                <a:schemeClr val="dk1"/>
              </a:buClr>
              <a:buSzPts val="1100"/>
              <a:buFont typeface="Arial"/>
              <a:buNone/>
            </a:pPr>
            <a:r>
              <a:t/>
            </a:r>
            <a:endParaRPr sz="1600"/>
          </a:p>
          <a:p>
            <a:pPr indent="0" lvl="0" marL="0" rtl="0" algn="l">
              <a:lnSpc>
                <a:spcPct val="150000"/>
              </a:lnSpc>
              <a:spcBef>
                <a:spcPts val="800"/>
              </a:spcBef>
              <a:spcAft>
                <a:spcPts val="0"/>
              </a:spcAft>
              <a:buClr>
                <a:schemeClr val="dk1"/>
              </a:buClr>
              <a:buSzPts val="1100"/>
              <a:buFont typeface="Arial"/>
              <a:buNone/>
            </a:pPr>
            <a:r>
              <a:t/>
            </a:r>
            <a:endParaRPr sz="1600"/>
          </a:p>
          <a:p>
            <a:pPr indent="0" lvl="0" marL="0" rtl="0" algn="l">
              <a:lnSpc>
                <a:spcPct val="150000"/>
              </a:lnSpc>
              <a:spcBef>
                <a:spcPts val="800"/>
              </a:spcBef>
              <a:spcAft>
                <a:spcPts val="0"/>
              </a:spcAft>
              <a:buNone/>
            </a:pPr>
            <a:r>
              <a:t/>
            </a:r>
            <a:endParaRPr sz="1600"/>
          </a:p>
          <a:p>
            <a:pPr indent="0" lvl="0" marL="0" rtl="0" algn="l">
              <a:lnSpc>
                <a:spcPct val="150000"/>
              </a:lnSpc>
              <a:spcBef>
                <a:spcPts val="800"/>
              </a:spcBef>
              <a:spcAft>
                <a:spcPts val="0"/>
              </a:spcAft>
              <a:buNone/>
            </a:pPr>
            <a:r>
              <a:t/>
            </a:r>
            <a:endParaRPr sz="1600"/>
          </a:p>
        </p:txBody>
      </p:sp>
      <p:pic>
        <p:nvPicPr>
          <p:cNvPr id="140" name="Google Shape;140;g3a4726a4ff4_0_207"/>
          <p:cNvPicPr preferRelativeResize="0"/>
          <p:nvPr/>
        </p:nvPicPr>
        <p:blipFill rotWithShape="1">
          <a:blip r:embed="rId3">
            <a:alphaModFix/>
          </a:blip>
          <a:srcRect b="22928" l="6589" r="9791" t="21862"/>
          <a:stretch/>
        </p:blipFill>
        <p:spPr>
          <a:xfrm>
            <a:off x="1093575" y="2831250"/>
            <a:ext cx="6524349" cy="20403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a4726a4ff4_0_21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Streaming (Characteristics)</a:t>
            </a:r>
            <a:endParaRPr/>
          </a:p>
        </p:txBody>
      </p:sp>
      <p:sp>
        <p:nvSpPr>
          <p:cNvPr id="146" name="Google Shape;146;g3a4726a4ff4_0_214"/>
          <p:cNvSpPr txBox="1"/>
          <p:nvPr>
            <p:ph idx="1" type="body"/>
          </p:nvPr>
        </p:nvSpPr>
        <p:spPr>
          <a:xfrm>
            <a:off x="273700" y="1059175"/>
            <a:ext cx="88704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lang="en" sz="1600"/>
              <a:t>Distribution</a:t>
            </a:r>
            <a:endParaRPr sz="1600"/>
          </a:p>
          <a:p>
            <a:pPr indent="-330200" lvl="1" marL="914400" rtl="0" algn="l">
              <a:lnSpc>
                <a:spcPct val="150000"/>
              </a:lnSpc>
              <a:spcBef>
                <a:spcPts val="0"/>
              </a:spcBef>
              <a:spcAft>
                <a:spcPts val="0"/>
              </a:spcAft>
              <a:buSzPts val="1600"/>
              <a:buChar char="○"/>
            </a:pPr>
            <a:r>
              <a:rPr lang="en" sz="1600"/>
              <a:t>Non-distributed: Runs on a single node; limited scalability.</a:t>
            </a:r>
            <a:endParaRPr sz="1600"/>
          </a:p>
          <a:p>
            <a:pPr indent="-330200" lvl="1" marL="914400" rtl="0" algn="l">
              <a:lnSpc>
                <a:spcPct val="150000"/>
              </a:lnSpc>
              <a:spcBef>
                <a:spcPts val="0"/>
              </a:spcBef>
              <a:spcAft>
                <a:spcPts val="0"/>
              </a:spcAft>
              <a:buSzPts val="1600"/>
              <a:buChar char="○"/>
            </a:pPr>
            <a:r>
              <a:rPr lang="en" sz="1600"/>
              <a:t>Distributed: Splits streams into partitions across multiple nodes for parallel processing.</a:t>
            </a:r>
            <a:endParaRPr sz="1600"/>
          </a:p>
          <a:p>
            <a:pPr indent="-330200" lvl="1" marL="914400" rtl="0" algn="l">
              <a:lnSpc>
                <a:spcPct val="150000"/>
              </a:lnSpc>
              <a:spcBef>
                <a:spcPts val="0"/>
              </a:spcBef>
              <a:spcAft>
                <a:spcPts val="0"/>
              </a:spcAft>
              <a:buSzPts val="1600"/>
              <a:buChar char="○"/>
            </a:pPr>
            <a:r>
              <a:rPr lang="en" sz="1600"/>
              <a:t>Example: Kafka, Pulsar, Kinesis are distributed; a simple in-memory queue is non-distributed.</a:t>
            </a:r>
            <a:endParaRPr sz="1600"/>
          </a:p>
          <a:p>
            <a:pPr indent="-330200" lvl="0" marL="457200" rtl="0" algn="l">
              <a:lnSpc>
                <a:spcPct val="150000"/>
              </a:lnSpc>
              <a:spcBef>
                <a:spcPts val="0"/>
              </a:spcBef>
              <a:spcAft>
                <a:spcPts val="0"/>
              </a:spcAft>
              <a:buSzPts val="1600"/>
              <a:buChar char="●"/>
            </a:pPr>
            <a:r>
              <a:rPr lang="en" sz="1600"/>
              <a:t>Ordering</a:t>
            </a:r>
            <a:endParaRPr sz="1600"/>
          </a:p>
          <a:p>
            <a:pPr indent="-330200" lvl="1" marL="914400" rtl="0" algn="l">
              <a:lnSpc>
                <a:spcPct val="150000"/>
              </a:lnSpc>
              <a:spcBef>
                <a:spcPts val="0"/>
              </a:spcBef>
              <a:spcAft>
                <a:spcPts val="0"/>
              </a:spcAft>
              <a:buSzPts val="1600"/>
              <a:buChar char="○"/>
            </a:pPr>
            <a:r>
              <a:rPr lang="en" sz="1600"/>
              <a:t>Ordered: Guarantees event order within a partition.</a:t>
            </a:r>
            <a:endParaRPr sz="1600"/>
          </a:p>
          <a:p>
            <a:pPr indent="-330200" lvl="1" marL="914400" rtl="0" algn="l">
              <a:lnSpc>
                <a:spcPct val="150000"/>
              </a:lnSpc>
              <a:spcBef>
                <a:spcPts val="0"/>
              </a:spcBef>
              <a:spcAft>
                <a:spcPts val="0"/>
              </a:spcAft>
              <a:buSzPts val="1600"/>
              <a:buChar char="○"/>
            </a:pPr>
            <a:r>
              <a:rPr lang="en" sz="1600"/>
              <a:t>Unordered: Makes no ordering guarantees; events may arrive out of sequence.</a:t>
            </a:r>
            <a:endParaRPr sz="1600"/>
          </a:p>
          <a:p>
            <a:pPr indent="-330200" lvl="1" marL="914400" rtl="0" algn="l">
              <a:lnSpc>
                <a:spcPct val="150000"/>
              </a:lnSpc>
              <a:spcBef>
                <a:spcPts val="0"/>
              </a:spcBef>
              <a:spcAft>
                <a:spcPts val="0"/>
              </a:spcAft>
              <a:buSzPts val="1600"/>
              <a:buChar char="○"/>
            </a:pPr>
            <a:r>
              <a:rPr lang="en" sz="1600"/>
              <a:t>Example: Kafka preserves partition order; some message queues don’t guarantee order.</a:t>
            </a:r>
            <a:endParaRPr sz="1600"/>
          </a:p>
          <a:p>
            <a:pPr indent="0" lvl="0" marL="457200" rtl="0" algn="l">
              <a:lnSpc>
                <a:spcPct val="150000"/>
              </a:lnSpc>
              <a:spcBef>
                <a:spcPts val="800"/>
              </a:spcBef>
              <a:spcAft>
                <a:spcPts val="0"/>
              </a:spcAft>
              <a:buNone/>
            </a:pPr>
            <a:r>
              <a:t/>
            </a:r>
            <a:endParaRPr sz="1600"/>
          </a:p>
        </p:txBody>
      </p:sp>
      <p:graphicFrame>
        <p:nvGraphicFramePr>
          <p:cNvPr id="147" name="Google Shape;147;g3a4726a4ff4_0_214"/>
          <p:cNvGraphicFramePr/>
          <p:nvPr/>
        </p:nvGraphicFramePr>
        <p:xfrm>
          <a:off x="5180125" y="4158738"/>
          <a:ext cx="3000000" cy="3000000"/>
        </p:xfrm>
        <a:graphic>
          <a:graphicData uri="http://schemas.openxmlformats.org/drawingml/2006/table">
            <a:tbl>
              <a:tblPr>
                <a:noFill/>
                <a:tableStyleId>{FD1FB491-FCF1-4931-9B01-D58F9D746A22}</a:tableStyleId>
              </a:tblPr>
              <a:tblGrid>
                <a:gridCol w="652675"/>
                <a:gridCol w="652675"/>
                <a:gridCol w="652675"/>
                <a:gridCol w="652675"/>
                <a:gridCol w="652675"/>
              </a:tblGrid>
              <a:tr h="211275">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t>Data Point 3</a:t>
                      </a:r>
                      <a:endParaRPr sz="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1</a:t>
                      </a:r>
                      <a:endParaRPr sz="600" u="none" cap="none" strike="noStrike">
                        <a:solidFill>
                          <a:srgbClr val="00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4</a:t>
                      </a:r>
                      <a:endParaRPr sz="600" u="none" cap="none" strike="noStrike">
                        <a:solidFill>
                          <a:srgbClr val="00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2</a:t>
                      </a:r>
                      <a:endParaRPr sz="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5</a:t>
                      </a:r>
                      <a:endParaRPr sz="600" u="none" cap="none" strike="noStrike"/>
                    </a:p>
                  </a:txBody>
                  <a:tcPr marT="91425" marB="91425" marR="91425" marL="91425"/>
                </a:tc>
              </a:tr>
            </a:tbl>
          </a:graphicData>
        </a:graphic>
      </p:graphicFrame>
      <p:graphicFrame>
        <p:nvGraphicFramePr>
          <p:cNvPr id="148" name="Google Shape;148;g3a4726a4ff4_0_214"/>
          <p:cNvGraphicFramePr/>
          <p:nvPr/>
        </p:nvGraphicFramePr>
        <p:xfrm>
          <a:off x="622125" y="4158738"/>
          <a:ext cx="3000000" cy="3000000"/>
        </p:xfrm>
        <a:graphic>
          <a:graphicData uri="http://schemas.openxmlformats.org/drawingml/2006/table">
            <a:tbl>
              <a:tblPr>
                <a:noFill/>
                <a:tableStyleId>{FD1FB491-FCF1-4931-9B01-D58F9D746A22}</a:tableStyleId>
              </a:tblPr>
              <a:tblGrid>
                <a:gridCol w="652675"/>
                <a:gridCol w="652675"/>
                <a:gridCol w="652675"/>
                <a:gridCol w="652675"/>
                <a:gridCol w="652675"/>
              </a:tblGrid>
              <a:tr h="211275">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t>Data Point 1</a:t>
                      </a:r>
                      <a:endParaRPr sz="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2</a:t>
                      </a:r>
                      <a:endParaRPr sz="600" u="none" cap="none" strike="noStrike">
                        <a:solidFill>
                          <a:srgbClr val="00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3</a:t>
                      </a:r>
                      <a:endParaRPr sz="600" u="none" cap="none" strike="noStrike">
                        <a:solidFill>
                          <a:srgbClr val="00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4</a:t>
                      </a:r>
                      <a:endParaRPr sz="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000000"/>
                          </a:solidFill>
                        </a:rPr>
                        <a:t>Data Point 5</a:t>
                      </a:r>
                      <a:endParaRPr sz="600" u="none" cap="none" strike="noStrike"/>
                    </a:p>
                  </a:txBody>
                  <a:tcPr marT="91425" marB="91425" marR="91425" marL="91425"/>
                </a:tc>
              </a:tr>
            </a:tbl>
          </a:graphicData>
        </a:graphic>
      </p:graphicFrame>
      <p:cxnSp>
        <p:nvCxnSpPr>
          <p:cNvPr id="149" name="Google Shape;149;g3a4726a4ff4_0_214"/>
          <p:cNvCxnSpPr/>
          <p:nvPr/>
        </p:nvCxnSpPr>
        <p:spPr>
          <a:xfrm>
            <a:off x="3910913" y="4309400"/>
            <a:ext cx="1260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a4726a4ff4_0_22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Streaming (Characteristics)</a:t>
            </a:r>
            <a:endParaRPr/>
          </a:p>
        </p:txBody>
      </p:sp>
      <p:sp>
        <p:nvSpPr>
          <p:cNvPr id="155" name="Google Shape;155;g3a4726a4ff4_0_220"/>
          <p:cNvSpPr txBox="1"/>
          <p:nvPr>
            <p:ph idx="1" type="body"/>
          </p:nvPr>
        </p:nvSpPr>
        <p:spPr>
          <a:xfrm>
            <a:off x="273700" y="1059175"/>
            <a:ext cx="92442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lang="en" sz="1600"/>
              <a:t>Delivery Semantics</a:t>
            </a:r>
            <a:endParaRPr sz="1600"/>
          </a:p>
          <a:p>
            <a:pPr indent="-330200" lvl="1" marL="914400" rtl="0" algn="l">
              <a:lnSpc>
                <a:spcPct val="150000"/>
              </a:lnSpc>
              <a:spcBef>
                <a:spcPts val="0"/>
              </a:spcBef>
              <a:spcAft>
                <a:spcPts val="0"/>
              </a:spcAft>
              <a:buSzPts val="1600"/>
              <a:buChar char="○"/>
            </a:pPr>
            <a:r>
              <a:rPr lang="en" sz="1600"/>
              <a:t>At-least-once: Messages may be delivered more than once.</a:t>
            </a:r>
            <a:endParaRPr sz="1600"/>
          </a:p>
          <a:p>
            <a:pPr indent="-330200" lvl="1" marL="914400" rtl="0" algn="l">
              <a:lnSpc>
                <a:spcPct val="150000"/>
              </a:lnSpc>
              <a:spcBef>
                <a:spcPts val="0"/>
              </a:spcBef>
              <a:spcAft>
                <a:spcPts val="0"/>
              </a:spcAft>
              <a:buSzPts val="1600"/>
              <a:buChar char="○"/>
            </a:pPr>
            <a:r>
              <a:rPr lang="en" sz="1600"/>
              <a:t>Exactly-once: Each message is delivered only once (deduplicated).</a:t>
            </a:r>
            <a:endParaRPr sz="1600"/>
          </a:p>
          <a:p>
            <a:pPr indent="-330200" lvl="1" marL="914400" rtl="0" algn="l">
              <a:lnSpc>
                <a:spcPct val="150000"/>
              </a:lnSpc>
              <a:spcBef>
                <a:spcPts val="0"/>
              </a:spcBef>
              <a:spcAft>
                <a:spcPts val="0"/>
              </a:spcAft>
              <a:buSzPts val="1600"/>
              <a:buChar char="○"/>
            </a:pPr>
            <a:r>
              <a:rPr lang="en" sz="1600"/>
              <a:t>At-most-once: Messages may be lost, but never duplicated.</a:t>
            </a:r>
            <a:endParaRPr sz="1600"/>
          </a:p>
          <a:p>
            <a:pPr indent="-330200" lvl="1" marL="914400" rtl="0" algn="l">
              <a:lnSpc>
                <a:spcPct val="150000"/>
              </a:lnSpc>
              <a:spcBef>
                <a:spcPts val="0"/>
              </a:spcBef>
              <a:spcAft>
                <a:spcPts val="0"/>
              </a:spcAft>
              <a:buSzPts val="1600"/>
              <a:buChar char="○"/>
            </a:pPr>
            <a:r>
              <a:rPr lang="en" sz="1600"/>
              <a:t>Example: Kafka can be configured for exactly-once; simpler queues may be at-least-once.</a:t>
            </a:r>
            <a:endParaRPr sz="1600"/>
          </a:p>
          <a:p>
            <a:pPr indent="-330200" lvl="0" marL="457200" rtl="0" algn="l">
              <a:lnSpc>
                <a:spcPct val="150000"/>
              </a:lnSpc>
              <a:spcBef>
                <a:spcPts val="0"/>
              </a:spcBef>
              <a:spcAft>
                <a:spcPts val="0"/>
              </a:spcAft>
              <a:buSzPts val="1600"/>
              <a:buChar char="●"/>
            </a:pPr>
            <a:r>
              <a:rPr lang="en" sz="1600"/>
              <a:t>Overflow / Backpressure Handling</a:t>
            </a:r>
            <a:endParaRPr sz="1600"/>
          </a:p>
          <a:p>
            <a:pPr indent="-330200" lvl="1" marL="914400" rtl="0" algn="l">
              <a:lnSpc>
                <a:spcPct val="150000"/>
              </a:lnSpc>
              <a:spcBef>
                <a:spcPts val="0"/>
              </a:spcBef>
              <a:spcAft>
                <a:spcPts val="0"/>
              </a:spcAft>
              <a:buSzPts val="1600"/>
              <a:buChar char="○"/>
            </a:pPr>
            <a:r>
              <a:rPr lang="en" sz="1600"/>
              <a:t>Buffered: Temporarily stores messages until consumers can catch up.</a:t>
            </a:r>
            <a:endParaRPr sz="1600"/>
          </a:p>
          <a:p>
            <a:pPr indent="-330200" lvl="1" marL="914400" rtl="0" algn="l">
              <a:lnSpc>
                <a:spcPct val="150000"/>
              </a:lnSpc>
              <a:spcBef>
                <a:spcPts val="0"/>
              </a:spcBef>
              <a:spcAft>
                <a:spcPts val="0"/>
              </a:spcAft>
              <a:buSzPts val="1600"/>
              <a:buChar char="○"/>
            </a:pPr>
            <a:r>
              <a:rPr lang="en" sz="1600"/>
              <a:t>Throttled: Limits producer speed to avoid overload.</a:t>
            </a:r>
            <a:endParaRPr sz="1600"/>
          </a:p>
          <a:p>
            <a:pPr indent="-330200" lvl="1" marL="914400" rtl="0" algn="l">
              <a:lnSpc>
                <a:spcPct val="150000"/>
              </a:lnSpc>
              <a:spcBef>
                <a:spcPts val="0"/>
              </a:spcBef>
              <a:spcAft>
                <a:spcPts val="0"/>
              </a:spcAft>
              <a:buSzPts val="1600"/>
              <a:buChar char="○"/>
            </a:pPr>
            <a:r>
              <a:rPr lang="en" sz="1600"/>
              <a:t>Dropped: Old messages are discarded when capacity is exceeded.</a:t>
            </a:r>
            <a:endParaRPr sz="1600"/>
          </a:p>
          <a:p>
            <a:pPr indent="-330200" lvl="1" marL="914400" rtl="0" algn="l">
              <a:lnSpc>
                <a:spcPct val="150000"/>
              </a:lnSpc>
              <a:spcBef>
                <a:spcPts val="0"/>
              </a:spcBef>
              <a:spcAft>
                <a:spcPts val="0"/>
              </a:spcAft>
              <a:buSzPts val="1600"/>
              <a:buChar char="○"/>
            </a:pPr>
            <a:r>
              <a:rPr lang="en" sz="1600"/>
              <a:t>Example: Kafka buffers to disk; some cloud queues may drop messages if retention is exceeded.</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a4726a4ff4_0_23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Streaming vs Batch Processing</a:t>
            </a:r>
            <a:endParaRPr/>
          </a:p>
        </p:txBody>
      </p:sp>
      <p:graphicFrame>
        <p:nvGraphicFramePr>
          <p:cNvPr id="161" name="Google Shape;161;g3a4726a4ff4_0_239"/>
          <p:cNvGraphicFramePr/>
          <p:nvPr/>
        </p:nvGraphicFramePr>
        <p:xfrm>
          <a:off x="257475" y="1032550"/>
          <a:ext cx="3000000" cy="3000000"/>
        </p:xfrm>
        <a:graphic>
          <a:graphicData uri="http://schemas.openxmlformats.org/drawingml/2006/table">
            <a:tbl>
              <a:tblPr>
                <a:noFill/>
                <a:tableStyleId>{B828F62D-6F7D-4AE6-9CBA-4B0967183F76}</a:tableStyleId>
              </a:tblPr>
              <a:tblGrid>
                <a:gridCol w="1940350"/>
                <a:gridCol w="3349000"/>
                <a:gridCol w="2644675"/>
              </a:tblGrid>
              <a:tr h="3941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Batch</a:t>
                      </a:r>
                      <a:endParaRPr/>
                    </a:p>
                  </a:txBody>
                  <a:tcPr marT="91425" marB="91425" marR="91425" marL="91425"/>
                </a:tc>
                <a:tc>
                  <a:txBody>
                    <a:bodyPr/>
                    <a:lstStyle/>
                    <a:p>
                      <a:pPr indent="0" lvl="0" marL="0" rtl="0" algn="l">
                        <a:spcBef>
                          <a:spcPts val="0"/>
                        </a:spcBef>
                        <a:spcAft>
                          <a:spcPts val="0"/>
                        </a:spcAft>
                        <a:buNone/>
                      </a:pPr>
                      <a:r>
                        <a:rPr lang="en"/>
                        <a:t>Streaming</a:t>
                      </a:r>
                      <a:endParaRPr/>
                    </a:p>
                  </a:txBody>
                  <a:tcPr marT="91425" marB="91425" marR="91425" marL="91425"/>
                </a:tc>
              </a:tr>
              <a:tr h="394150">
                <a:tc>
                  <a:txBody>
                    <a:bodyPr/>
                    <a:lstStyle/>
                    <a:p>
                      <a:pPr indent="0" lvl="0" marL="0" rtl="0" algn="l">
                        <a:spcBef>
                          <a:spcPts val="0"/>
                        </a:spcBef>
                        <a:spcAft>
                          <a:spcPts val="0"/>
                        </a:spcAft>
                        <a:buNone/>
                      </a:pPr>
                      <a:r>
                        <a:rPr lang="en"/>
                        <a:t>Latency</a:t>
                      </a:r>
                      <a:endParaRPr/>
                    </a:p>
                  </a:txBody>
                  <a:tcPr marT="91425" marB="91425" marR="91425" marL="91425"/>
                </a:tc>
                <a:tc>
                  <a:txBody>
                    <a:bodyPr/>
                    <a:lstStyle/>
                    <a:p>
                      <a:pPr indent="0" lvl="0" marL="0" rtl="0" algn="l">
                        <a:spcBef>
                          <a:spcPts val="0"/>
                        </a:spcBef>
                        <a:spcAft>
                          <a:spcPts val="0"/>
                        </a:spcAft>
                        <a:buNone/>
                      </a:pPr>
                      <a:r>
                        <a:rPr lang="en"/>
                        <a:t>High</a:t>
                      </a:r>
                      <a:endParaRPr/>
                    </a:p>
                  </a:txBody>
                  <a:tcPr marT="91425" marB="91425" marR="91425" marL="91425"/>
                </a:tc>
                <a:tc>
                  <a:txBody>
                    <a:bodyPr/>
                    <a:lstStyle/>
                    <a:p>
                      <a:pPr indent="0" lvl="0" marL="0" rtl="0" algn="l">
                        <a:spcBef>
                          <a:spcPts val="0"/>
                        </a:spcBef>
                        <a:spcAft>
                          <a:spcPts val="0"/>
                        </a:spcAft>
                        <a:buNone/>
                      </a:pPr>
                      <a:r>
                        <a:rPr lang="en"/>
                        <a:t>Low</a:t>
                      </a:r>
                      <a:endParaRPr/>
                    </a:p>
                  </a:txBody>
                  <a:tcPr marT="91425" marB="91425" marR="91425" marL="91425"/>
                </a:tc>
              </a:tr>
              <a:tr h="606400">
                <a:tc>
                  <a:txBody>
                    <a:bodyPr/>
                    <a:lstStyle/>
                    <a:p>
                      <a:pPr indent="0" lvl="0" marL="0" rtl="0" algn="l">
                        <a:spcBef>
                          <a:spcPts val="0"/>
                        </a:spcBef>
                        <a:spcAft>
                          <a:spcPts val="0"/>
                        </a:spcAft>
                        <a:buNone/>
                      </a:pPr>
                      <a:r>
                        <a:rPr lang="en"/>
                        <a:t>Complexity</a:t>
                      </a:r>
                      <a:endParaRPr/>
                    </a:p>
                  </a:txBody>
                  <a:tcPr marT="91425" marB="91425" marR="91425" marL="91425"/>
                </a:tc>
                <a:tc>
                  <a:txBody>
                    <a:bodyPr/>
                    <a:lstStyle/>
                    <a:p>
                      <a:pPr indent="0" lvl="0" marL="0" rtl="0" algn="l">
                        <a:spcBef>
                          <a:spcPts val="0"/>
                        </a:spcBef>
                        <a:spcAft>
                          <a:spcPts val="0"/>
                        </a:spcAft>
                        <a:buNone/>
                      </a:pPr>
                      <a:r>
                        <a:rPr lang="en"/>
                        <a:t>Lower. simpler scheduling and deterministic execution</a:t>
                      </a:r>
                      <a:endParaRPr/>
                    </a:p>
                  </a:txBody>
                  <a:tcPr marT="91425" marB="91425" marR="91425" marL="91425"/>
                </a:tc>
                <a:tc>
                  <a:txBody>
                    <a:bodyPr/>
                    <a:lstStyle/>
                    <a:p>
                      <a:pPr indent="0" lvl="0" marL="0" rtl="0" algn="l">
                        <a:spcBef>
                          <a:spcPts val="0"/>
                        </a:spcBef>
                        <a:spcAft>
                          <a:spcPts val="0"/>
                        </a:spcAft>
                        <a:buNone/>
                      </a:pPr>
                      <a:r>
                        <a:rPr lang="en"/>
                        <a:t>Higher. Requires handling state, ordering, delivery guarantees, and backpressure</a:t>
                      </a:r>
                      <a:endParaRPr/>
                    </a:p>
                  </a:txBody>
                  <a:tcPr marT="91425" marB="91425" marR="91425" marL="91425"/>
                </a:tc>
              </a:tr>
              <a:tr h="379025">
                <a:tc>
                  <a:txBody>
                    <a:bodyPr/>
                    <a:lstStyle/>
                    <a:p>
                      <a:pPr indent="0" lvl="0" marL="0" rtl="0" algn="l">
                        <a:spcBef>
                          <a:spcPts val="0"/>
                        </a:spcBef>
                        <a:spcAft>
                          <a:spcPts val="0"/>
                        </a:spcAft>
                        <a:buNone/>
                      </a:pPr>
                      <a:r>
                        <a:rPr lang="en"/>
                        <a:t>Monitoring Debugging</a:t>
                      </a:r>
                      <a:endParaRPr/>
                    </a:p>
                  </a:txBody>
                  <a:tcPr marT="91425" marB="91425" marR="91425" marL="91425"/>
                </a:tc>
                <a:tc>
                  <a:txBody>
                    <a:bodyPr/>
                    <a:lstStyle/>
                    <a:p>
                      <a:pPr indent="0" lvl="0" marL="0" rtl="0" algn="l">
                        <a:spcBef>
                          <a:spcPts val="0"/>
                        </a:spcBef>
                        <a:spcAft>
                          <a:spcPts val="0"/>
                        </a:spcAft>
                        <a:buNone/>
                      </a:pPr>
                      <a:r>
                        <a:rPr lang="en"/>
                        <a:t>Easier, jobs are deterministic</a:t>
                      </a:r>
                      <a:endParaRPr/>
                    </a:p>
                  </a:txBody>
                  <a:tcPr marT="91425" marB="91425" marR="91425" marL="91425"/>
                </a:tc>
                <a:tc>
                  <a:txBody>
                    <a:bodyPr/>
                    <a:lstStyle/>
                    <a:p>
                      <a:pPr indent="0" lvl="0" marL="0" rtl="0" algn="l">
                        <a:spcBef>
                          <a:spcPts val="0"/>
                        </a:spcBef>
                        <a:spcAft>
                          <a:spcPts val="0"/>
                        </a:spcAft>
                        <a:buNone/>
                      </a:pPr>
                      <a:r>
                        <a:rPr lang="en"/>
                        <a:t>Harder, continuous, requires real-time metrics, alerting, and troubleshooting partial failures</a:t>
                      </a:r>
                      <a:endParaRPr/>
                    </a:p>
                  </a:txBody>
                  <a:tcPr marT="91425" marB="91425" marR="91425" marL="91425"/>
                </a:tc>
              </a:tr>
              <a:tr h="379025">
                <a:tc>
                  <a:txBody>
                    <a:bodyPr/>
                    <a:lstStyle/>
                    <a:p>
                      <a:pPr indent="0" lvl="0" marL="0" rtl="0" algn="l">
                        <a:spcBef>
                          <a:spcPts val="0"/>
                        </a:spcBef>
                        <a:spcAft>
                          <a:spcPts val="0"/>
                        </a:spcAft>
                        <a:buNone/>
                      </a:pPr>
                      <a:r>
                        <a:rPr lang="en"/>
                        <a:t>Efficiency</a:t>
                      </a:r>
                      <a:endParaRPr/>
                    </a:p>
                  </a:txBody>
                  <a:tcPr marT="91425" marB="91425" marR="91425" marL="91425"/>
                </a:tc>
                <a:tc>
                  <a:txBody>
                    <a:bodyPr/>
                    <a:lstStyle/>
                    <a:p>
                      <a:pPr indent="0" lvl="0" marL="0" rtl="0" algn="l">
                        <a:spcBef>
                          <a:spcPts val="0"/>
                        </a:spcBef>
                        <a:spcAft>
                          <a:spcPts val="0"/>
                        </a:spcAft>
                        <a:buNone/>
                      </a:pPr>
                      <a:r>
                        <a:rPr lang="en"/>
                        <a:t>Usually more efficient to process a bulk (e.g., batch insert to a columnar storage)</a:t>
                      </a:r>
                      <a:endParaRPr/>
                    </a:p>
                  </a:txBody>
                  <a:tcPr marT="91425" marB="91425" marR="91425" marL="91425"/>
                </a:tc>
                <a:tc>
                  <a:txBody>
                    <a:bodyPr/>
                    <a:lstStyle/>
                    <a:p>
                      <a:pPr indent="0" lvl="0" marL="0" rtl="0" algn="l">
                        <a:spcBef>
                          <a:spcPts val="0"/>
                        </a:spcBef>
                        <a:spcAft>
                          <a:spcPts val="0"/>
                        </a:spcAft>
                        <a:buNone/>
                      </a:pPr>
                      <a:r>
                        <a:rPr lang="en"/>
                        <a:t>Correspondingly</a:t>
                      </a:r>
                      <a:r>
                        <a:rPr lang="en"/>
                        <a:t>, can be less efficient or even impossible.</a:t>
                      </a: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a4726a4ff4_0_25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105555"/>
              </a:lnSpc>
              <a:spcBef>
                <a:spcPts val="0"/>
              </a:spcBef>
              <a:spcAft>
                <a:spcPts val="0"/>
              </a:spcAft>
              <a:buSzPct val="100000"/>
              <a:buNone/>
            </a:pPr>
            <a:r>
              <a:rPr lang="en"/>
              <a:t>Hybrid Data Pipelines: Combining Batch and Streaming</a:t>
            </a:r>
            <a:endParaRPr/>
          </a:p>
        </p:txBody>
      </p:sp>
      <p:sp>
        <p:nvSpPr>
          <p:cNvPr id="167" name="Google Shape;167;g3a4726a4ff4_0_259"/>
          <p:cNvSpPr txBox="1"/>
          <p:nvPr>
            <p:ph idx="1" type="body"/>
          </p:nvPr>
        </p:nvSpPr>
        <p:spPr>
          <a:xfrm>
            <a:off x="273700" y="1059175"/>
            <a:ext cx="85860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b="1" lang="en" sz="1600"/>
              <a:t>Key Idea: </a:t>
            </a:r>
            <a:r>
              <a:rPr lang="en" sz="1600"/>
              <a:t>A single data pipeline may include multiple components, each of which can operate in batch or streaming mode independently.</a:t>
            </a:r>
            <a:br>
              <a:rPr lang="en" sz="1600"/>
            </a:br>
            <a:r>
              <a:rPr lang="en" sz="1600"/>
              <a:t>For example, IoT devices may send data continuously in a streaming fashion. That data can be stored in CSV files, which are then processed in batches and loaded into a database like Redshift. This allows the pipeline to handle real-time data ingestion while still using batch processing for downstream systems that work best with bulk operations.</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a4726a4ff4_0_26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Lambda Architecture</a:t>
            </a:r>
            <a:endParaRPr/>
          </a:p>
        </p:txBody>
      </p:sp>
      <p:sp>
        <p:nvSpPr>
          <p:cNvPr id="173" name="Google Shape;173;g3a4726a4ff4_0_265"/>
          <p:cNvSpPr txBox="1"/>
          <p:nvPr>
            <p:ph idx="1" type="body"/>
          </p:nvPr>
        </p:nvSpPr>
        <p:spPr>
          <a:xfrm>
            <a:off x="273700" y="1059175"/>
            <a:ext cx="3896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50000"/>
              </a:lnSpc>
              <a:spcBef>
                <a:spcPts val="800"/>
              </a:spcBef>
              <a:spcAft>
                <a:spcPts val="0"/>
              </a:spcAft>
              <a:buSzPts val="1600"/>
              <a:buChar char="●"/>
            </a:pPr>
            <a:r>
              <a:rPr lang="en" sz="1600"/>
              <a:t>A design pattern that combines batch and streaming processing to provide both accurate and low-latency results.</a:t>
            </a:r>
            <a:endParaRPr sz="1600"/>
          </a:p>
          <a:p>
            <a:pPr indent="-330200" lvl="0" marL="457200" rtl="0" algn="l">
              <a:lnSpc>
                <a:spcPct val="150000"/>
              </a:lnSpc>
              <a:spcBef>
                <a:spcPts val="0"/>
              </a:spcBef>
              <a:spcAft>
                <a:spcPts val="0"/>
              </a:spcAft>
              <a:buSzPts val="1600"/>
              <a:buChar char="●"/>
            </a:pPr>
            <a:r>
              <a:rPr lang="en" sz="1600"/>
              <a:t>Batch Layer: Stores all historical data and c</a:t>
            </a:r>
            <a:r>
              <a:rPr lang="en" sz="1600"/>
              <a:t>o</a:t>
            </a:r>
            <a:r>
              <a:rPr lang="en" sz="1600"/>
              <a:t>mputes accurate results.</a:t>
            </a:r>
            <a:endParaRPr sz="1600"/>
          </a:p>
          <a:p>
            <a:pPr indent="-330200" lvl="0" marL="457200" rtl="0" algn="l">
              <a:lnSpc>
                <a:spcPct val="150000"/>
              </a:lnSpc>
              <a:spcBef>
                <a:spcPts val="0"/>
              </a:spcBef>
              <a:spcAft>
                <a:spcPts val="0"/>
              </a:spcAft>
              <a:buSzPts val="1600"/>
              <a:buChar char="●"/>
            </a:pPr>
            <a:r>
              <a:rPr lang="en" sz="1600"/>
              <a:t>Speed Layer: Processes recent data in real time for low-latency updates.ws.</a:t>
            </a:r>
            <a:endParaRPr sz="1600"/>
          </a:p>
        </p:txBody>
      </p:sp>
      <p:pic>
        <p:nvPicPr>
          <p:cNvPr id="174" name="Google Shape;174;g3a4726a4ff4_0_265"/>
          <p:cNvPicPr preferRelativeResize="0"/>
          <p:nvPr/>
        </p:nvPicPr>
        <p:blipFill>
          <a:blip r:embed="rId3">
            <a:alphaModFix/>
          </a:blip>
          <a:stretch>
            <a:fillRect/>
          </a:stretch>
        </p:blipFill>
        <p:spPr>
          <a:xfrm>
            <a:off x="4117758" y="936025"/>
            <a:ext cx="4854817" cy="3641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99cb9bcabe_0_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Transformation</a:t>
            </a:r>
            <a:endParaRPr/>
          </a:p>
        </p:txBody>
      </p:sp>
      <p:sp>
        <p:nvSpPr>
          <p:cNvPr id="180" name="Google Shape;180;g399cb9bcabe_0_0"/>
          <p:cNvSpPr txBox="1"/>
          <p:nvPr>
            <p:ph idx="1" type="body"/>
          </p:nvPr>
        </p:nvSpPr>
        <p:spPr>
          <a:xfrm>
            <a:off x="273700" y="1059175"/>
            <a:ext cx="86511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b="1" lang="en" sz="1600"/>
              <a:t>Transformation </a:t>
            </a:r>
            <a:r>
              <a:rPr lang="en" sz="1600"/>
              <a:t>is the process of converting raw data into a usable, clean, structured, and analytics-ready form.</a:t>
            </a:r>
            <a:endParaRPr sz="1600"/>
          </a:p>
          <a:p>
            <a:pPr indent="0" lvl="0" marL="0" rtl="0" algn="l">
              <a:lnSpc>
                <a:spcPct val="115000"/>
              </a:lnSpc>
              <a:spcBef>
                <a:spcPts val="800"/>
              </a:spcBef>
              <a:spcAft>
                <a:spcPts val="0"/>
              </a:spcAft>
              <a:buNone/>
            </a:pPr>
            <a:r>
              <a:t/>
            </a:r>
            <a:endParaRPr sz="1600"/>
          </a:p>
        </p:txBody>
      </p:sp>
      <p:pic>
        <p:nvPicPr>
          <p:cNvPr id="181" name="Google Shape;181;g399cb9bcabe_0_0"/>
          <p:cNvPicPr preferRelativeResize="0"/>
          <p:nvPr/>
        </p:nvPicPr>
        <p:blipFill>
          <a:blip r:embed="rId3">
            <a:alphaModFix/>
          </a:blip>
          <a:stretch>
            <a:fillRect/>
          </a:stretch>
        </p:blipFill>
        <p:spPr>
          <a:xfrm>
            <a:off x="2035425" y="1863126"/>
            <a:ext cx="4066400" cy="203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99cb9bcabe_0_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Transformation Components</a:t>
            </a:r>
            <a:endParaRPr/>
          </a:p>
        </p:txBody>
      </p:sp>
      <p:sp>
        <p:nvSpPr>
          <p:cNvPr id="187" name="Google Shape;187;g399cb9bcabe_0_9"/>
          <p:cNvSpPr txBox="1"/>
          <p:nvPr>
            <p:ph idx="1" type="body"/>
          </p:nvPr>
        </p:nvSpPr>
        <p:spPr>
          <a:xfrm>
            <a:off x="273700" y="1059175"/>
            <a:ext cx="8651100" cy="3641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None/>
            </a:pPr>
            <a:r>
              <a:rPr b="1" lang="en" sz="1600"/>
              <a:t>Normalization &amp; Denormalization:</a:t>
            </a:r>
            <a:r>
              <a:rPr lang="en" sz="1600"/>
              <a:t> Adjusting data structure to reduce redundancy (normalization) or combining tables to improve (denormalization)</a:t>
            </a:r>
            <a:endParaRPr sz="1600"/>
          </a:p>
          <a:p>
            <a:pPr indent="-330200" lvl="1" marL="914400" rtl="0" algn="l">
              <a:lnSpc>
                <a:spcPct val="150000"/>
              </a:lnSpc>
              <a:spcBef>
                <a:spcPts val="400"/>
              </a:spcBef>
              <a:spcAft>
                <a:spcPts val="0"/>
              </a:spcAft>
              <a:buSzPts val="1600"/>
              <a:buChar char="○"/>
            </a:pPr>
            <a:r>
              <a:rPr lang="en" sz="1600"/>
              <a:t>E.g., denormalizing data in the process of moving from a database to a data warehouse</a:t>
            </a:r>
            <a:endParaRPr sz="1600"/>
          </a:p>
          <a:p>
            <a:pPr indent="0" lvl="0" marL="457200" rtl="0" algn="l">
              <a:lnSpc>
                <a:spcPct val="100000"/>
              </a:lnSpc>
              <a:spcBef>
                <a:spcPts val="800"/>
              </a:spcBef>
              <a:spcAft>
                <a:spcPts val="0"/>
              </a:spcAft>
              <a:buNone/>
            </a:pPr>
            <a:r>
              <a:rPr lang="en" sz="1500">
                <a:solidFill>
                  <a:srgbClr val="C53929"/>
                </a:solidFill>
                <a:latin typeface="Roboto Mono"/>
                <a:ea typeface="Roboto Mono"/>
                <a:cs typeface="Roboto Mono"/>
                <a:sym typeface="Roboto Mono"/>
              </a:rPr>
              <a:t>SELECT</a:t>
            </a:r>
            <a:r>
              <a:rPr lang="en" sz="1500">
                <a:solidFill>
                  <a:srgbClr val="37474F"/>
                </a:solidFill>
                <a:latin typeface="Roboto Mono"/>
                <a:ea typeface="Roboto Mono"/>
                <a:cs typeface="Roboto Mono"/>
                <a:sym typeface="Roboto Mono"/>
              </a:rPr>
              <a:t> </a:t>
            </a:r>
            <a:endParaRPr sz="1500">
              <a:solidFill>
                <a:srgbClr val="37474F"/>
              </a:solidFill>
              <a:latin typeface="Roboto Mono"/>
              <a:ea typeface="Roboto Mono"/>
              <a:cs typeface="Roboto Mono"/>
              <a:sym typeface="Roboto Mono"/>
            </a:endParaRPr>
          </a:p>
          <a:p>
            <a:pPr indent="457200" lvl="0" marL="457200" rtl="0" algn="l">
              <a:lnSpc>
                <a:spcPct val="100000"/>
              </a:lnSpc>
              <a:spcBef>
                <a:spcPts val="800"/>
              </a:spcBef>
              <a:spcAft>
                <a:spcPts val="0"/>
              </a:spcAft>
              <a:buNone/>
            </a:pPr>
            <a:r>
              <a:rPr lang="en" sz="1500">
                <a:solidFill>
                  <a:srgbClr val="37474F"/>
                </a:solidFill>
                <a:latin typeface="Roboto Mono"/>
                <a:ea typeface="Roboto Mono"/>
                <a:cs typeface="Roboto Mono"/>
                <a:sym typeface="Roboto Mono"/>
              </a:rPr>
              <a:t>o.order_id,</a:t>
            </a:r>
            <a:endParaRPr sz="1500">
              <a:latin typeface="Roboto Mono"/>
              <a:ea typeface="Roboto Mono"/>
              <a:cs typeface="Roboto Mono"/>
              <a:sym typeface="Roboto Mono"/>
            </a:endParaRPr>
          </a:p>
          <a:p>
            <a:pPr indent="0" lvl="0" marL="457200" rtl="0" algn="l">
              <a:lnSpc>
                <a:spcPct val="100000"/>
              </a:lnSpc>
              <a:spcBef>
                <a:spcPts val="800"/>
              </a:spcBef>
              <a:spcAft>
                <a:spcPts val="0"/>
              </a:spcAft>
              <a:buNone/>
            </a:pPr>
            <a:r>
              <a:rPr lang="en" sz="1500">
                <a:solidFill>
                  <a:srgbClr val="37474F"/>
                </a:solidFill>
                <a:latin typeface="Roboto Mono"/>
                <a:ea typeface="Roboto Mono"/>
                <a:cs typeface="Roboto Mono"/>
                <a:sym typeface="Roboto Mono"/>
              </a:rPr>
              <a:t>    c.name </a:t>
            </a:r>
            <a:r>
              <a:rPr lang="en" sz="1500">
                <a:solidFill>
                  <a:srgbClr val="C53929"/>
                </a:solidFill>
                <a:latin typeface="Roboto Mono"/>
                <a:ea typeface="Roboto Mono"/>
                <a:cs typeface="Roboto Mono"/>
                <a:sym typeface="Roboto Mono"/>
              </a:rPr>
              <a:t>AS</a:t>
            </a:r>
            <a:r>
              <a:rPr lang="en" sz="1500">
                <a:solidFill>
                  <a:srgbClr val="37474F"/>
                </a:solidFill>
                <a:latin typeface="Roboto Mono"/>
                <a:ea typeface="Roboto Mono"/>
                <a:cs typeface="Roboto Mono"/>
                <a:sym typeface="Roboto Mono"/>
              </a:rPr>
              <a:t> customer_name,</a:t>
            </a:r>
            <a:endParaRPr sz="1500">
              <a:latin typeface="Roboto Mono"/>
              <a:ea typeface="Roboto Mono"/>
              <a:cs typeface="Roboto Mono"/>
              <a:sym typeface="Roboto Mono"/>
            </a:endParaRPr>
          </a:p>
          <a:p>
            <a:pPr indent="457200" lvl="0" marL="457200" rtl="0" algn="l">
              <a:lnSpc>
                <a:spcPct val="100000"/>
              </a:lnSpc>
              <a:spcBef>
                <a:spcPts val="800"/>
              </a:spcBef>
              <a:spcAft>
                <a:spcPts val="0"/>
              </a:spcAft>
              <a:buNone/>
            </a:pPr>
            <a:r>
              <a:rPr lang="en" sz="1500">
                <a:solidFill>
                  <a:srgbClr val="37474F"/>
                </a:solidFill>
                <a:latin typeface="Roboto Mono"/>
                <a:ea typeface="Roboto Mono"/>
                <a:cs typeface="Roboto Mono"/>
                <a:sym typeface="Roboto Mono"/>
              </a:rPr>
              <a:t>o.total_cost </a:t>
            </a:r>
            <a:endParaRPr sz="1500">
              <a:solidFill>
                <a:srgbClr val="37474F"/>
              </a:solidFill>
              <a:latin typeface="Roboto Mono"/>
              <a:ea typeface="Roboto Mono"/>
              <a:cs typeface="Roboto Mono"/>
              <a:sym typeface="Roboto Mono"/>
            </a:endParaRPr>
          </a:p>
          <a:p>
            <a:pPr indent="0" lvl="0" marL="457200" rtl="0" algn="l">
              <a:lnSpc>
                <a:spcPct val="100000"/>
              </a:lnSpc>
              <a:spcBef>
                <a:spcPts val="800"/>
              </a:spcBef>
              <a:spcAft>
                <a:spcPts val="0"/>
              </a:spcAft>
              <a:buNone/>
            </a:pPr>
            <a:r>
              <a:rPr lang="en" sz="1500">
                <a:solidFill>
                  <a:srgbClr val="C53929"/>
                </a:solidFill>
                <a:latin typeface="Roboto Mono"/>
                <a:ea typeface="Roboto Mono"/>
                <a:cs typeface="Roboto Mono"/>
                <a:sym typeface="Roboto Mono"/>
              </a:rPr>
              <a:t>FROM</a:t>
            </a:r>
            <a:r>
              <a:rPr lang="en" sz="1500">
                <a:solidFill>
                  <a:srgbClr val="37474F"/>
                </a:solidFill>
                <a:latin typeface="Roboto Mono"/>
                <a:ea typeface="Roboto Mono"/>
                <a:cs typeface="Roboto Mono"/>
                <a:sym typeface="Roboto Mono"/>
              </a:rPr>
              <a:t> Orders o </a:t>
            </a:r>
            <a:endParaRPr sz="1500">
              <a:solidFill>
                <a:srgbClr val="37474F"/>
              </a:solidFill>
              <a:latin typeface="Roboto Mono"/>
              <a:ea typeface="Roboto Mono"/>
              <a:cs typeface="Roboto Mono"/>
              <a:sym typeface="Roboto Mono"/>
            </a:endParaRPr>
          </a:p>
          <a:p>
            <a:pPr indent="457200" lvl="0" marL="457200" rtl="0" algn="l">
              <a:lnSpc>
                <a:spcPct val="100000"/>
              </a:lnSpc>
              <a:spcBef>
                <a:spcPts val="800"/>
              </a:spcBef>
              <a:spcAft>
                <a:spcPts val="0"/>
              </a:spcAft>
              <a:buNone/>
            </a:pPr>
            <a:r>
              <a:rPr lang="en" sz="1500">
                <a:solidFill>
                  <a:srgbClr val="C53929"/>
                </a:solidFill>
                <a:latin typeface="Roboto Mono"/>
                <a:ea typeface="Roboto Mono"/>
                <a:cs typeface="Roboto Mono"/>
                <a:sym typeface="Roboto Mono"/>
              </a:rPr>
              <a:t>JOIN</a:t>
            </a:r>
            <a:r>
              <a:rPr lang="en" sz="1500">
                <a:solidFill>
                  <a:srgbClr val="37474F"/>
                </a:solidFill>
                <a:latin typeface="Roboto Mono"/>
                <a:ea typeface="Roboto Mono"/>
                <a:cs typeface="Roboto Mono"/>
                <a:sym typeface="Roboto Mono"/>
              </a:rPr>
              <a:t> Customers c </a:t>
            </a:r>
            <a:endParaRPr sz="1500">
              <a:solidFill>
                <a:srgbClr val="37474F"/>
              </a:solidFill>
              <a:latin typeface="Roboto Mono"/>
              <a:ea typeface="Roboto Mono"/>
              <a:cs typeface="Roboto Mono"/>
              <a:sym typeface="Roboto Mono"/>
            </a:endParaRPr>
          </a:p>
          <a:p>
            <a:pPr indent="457200" lvl="0" marL="914400" rtl="0" algn="l">
              <a:lnSpc>
                <a:spcPct val="100000"/>
              </a:lnSpc>
              <a:spcBef>
                <a:spcPts val="800"/>
              </a:spcBef>
              <a:spcAft>
                <a:spcPts val="0"/>
              </a:spcAft>
              <a:buNone/>
            </a:pPr>
            <a:r>
              <a:rPr lang="en" sz="1500">
                <a:solidFill>
                  <a:srgbClr val="C53929"/>
                </a:solidFill>
                <a:latin typeface="Roboto Mono"/>
                <a:ea typeface="Roboto Mono"/>
                <a:cs typeface="Roboto Mono"/>
                <a:sym typeface="Roboto Mono"/>
              </a:rPr>
              <a:t>ON</a:t>
            </a:r>
            <a:r>
              <a:rPr lang="en" sz="1500">
                <a:solidFill>
                  <a:srgbClr val="37474F"/>
                </a:solidFill>
                <a:latin typeface="Roboto Mono"/>
                <a:ea typeface="Roboto Mono"/>
                <a:cs typeface="Roboto Mono"/>
                <a:sym typeface="Roboto Mono"/>
              </a:rPr>
              <a:t> o.customer_id </a:t>
            </a:r>
            <a:r>
              <a:rPr lang="en" sz="1500">
                <a:solidFill>
                  <a:srgbClr val="3F51B5"/>
                </a:solidFill>
                <a:latin typeface="Roboto Mono"/>
                <a:ea typeface="Roboto Mono"/>
                <a:cs typeface="Roboto Mono"/>
                <a:sym typeface="Roboto Mono"/>
              </a:rPr>
              <a:t>=</a:t>
            </a:r>
            <a:endParaRPr sz="1500">
              <a:latin typeface="Roboto Mono"/>
              <a:ea typeface="Roboto Mono"/>
              <a:cs typeface="Roboto Mono"/>
              <a:sym typeface="Roboto Mono"/>
            </a:endParaRPr>
          </a:p>
          <a:p>
            <a:pPr indent="0" lvl="0" marL="457200" rtl="0" algn="l">
              <a:lnSpc>
                <a:spcPct val="100000"/>
              </a:lnSpc>
              <a:spcBef>
                <a:spcPts val="0"/>
              </a:spcBef>
              <a:spcAft>
                <a:spcPts val="0"/>
              </a:spcAft>
              <a:buNone/>
            </a:pPr>
            <a:r>
              <a:rPr lang="en" sz="1500">
                <a:solidFill>
                  <a:srgbClr val="37474F"/>
                </a:solidFill>
                <a:latin typeface="Roboto Mono"/>
                <a:ea typeface="Roboto Mono"/>
                <a:cs typeface="Roboto Mono"/>
                <a:sym typeface="Roboto Mono"/>
              </a:rPr>
              <a:t>        	c.customer_id;</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99cb9bcabe_0_26"/>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Transformation Components (Cleaning)</a:t>
            </a:r>
            <a:endParaRPr/>
          </a:p>
        </p:txBody>
      </p:sp>
      <p:sp>
        <p:nvSpPr>
          <p:cNvPr id="193" name="Google Shape;193;g399cb9bcabe_0_26"/>
          <p:cNvSpPr txBox="1"/>
          <p:nvPr>
            <p:ph idx="1" type="body"/>
          </p:nvPr>
        </p:nvSpPr>
        <p:spPr>
          <a:xfrm>
            <a:off x="273700" y="1059175"/>
            <a:ext cx="8651100" cy="36411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None/>
            </a:pPr>
            <a:r>
              <a:rPr b="1" lang="en" sz="1600"/>
              <a:t>Data Cleaning:</a:t>
            </a:r>
            <a:r>
              <a:rPr lang="en" sz="1600"/>
              <a:t> Fixing data quality issues by removing errors, inconsistencies, and invalid values.</a:t>
            </a:r>
            <a:endParaRPr sz="1600"/>
          </a:p>
          <a:p>
            <a:pPr indent="-330200" lvl="0" marL="457200" rtl="0" algn="l">
              <a:lnSpc>
                <a:spcPct val="150000"/>
              </a:lnSpc>
              <a:spcBef>
                <a:spcPts val="800"/>
              </a:spcBef>
              <a:spcAft>
                <a:spcPts val="0"/>
              </a:spcAft>
              <a:buSzPts val="1600"/>
              <a:buChar char="●"/>
            </a:pPr>
            <a:r>
              <a:rPr lang="en" sz="1600"/>
              <a:t>Example: Removing duplicate customer records or filling missing weights with 0.</a:t>
            </a:r>
            <a:endParaRPr sz="1500">
              <a:latin typeface="Roboto Mono"/>
              <a:ea typeface="Roboto Mono"/>
              <a:cs typeface="Roboto Mono"/>
              <a:sym typeface="Roboto Mono"/>
            </a:endParaRPr>
          </a:p>
          <a:p>
            <a:pPr indent="0" lvl="0" marL="457200" rtl="0" algn="l">
              <a:lnSpc>
                <a:spcPct val="100000"/>
              </a:lnSpc>
              <a:spcBef>
                <a:spcPts val="0"/>
              </a:spcBef>
              <a:spcAft>
                <a:spcPts val="0"/>
              </a:spcAft>
              <a:buNone/>
            </a:pPr>
            <a:r>
              <a:rPr lang="en" sz="1500">
                <a:solidFill>
                  <a:srgbClr val="C53929"/>
                </a:solidFill>
                <a:latin typeface="Roboto Mono"/>
                <a:ea typeface="Roboto Mono"/>
                <a:cs typeface="Roboto Mono"/>
                <a:sym typeface="Roboto Mono"/>
              </a:rPr>
              <a:t>SELECT</a:t>
            </a:r>
            <a:endParaRPr sz="1500">
              <a:latin typeface="Roboto Mono"/>
              <a:ea typeface="Roboto Mono"/>
              <a:cs typeface="Roboto Mono"/>
              <a:sym typeface="Roboto Mono"/>
            </a:endParaRPr>
          </a:p>
          <a:p>
            <a:pPr indent="0" lvl="0" marL="457200" rtl="0" algn="l">
              <a:lnSpc>
                <a:spcPct val="100000"/>
              </a:lnSpc>
              <a:spcBef>
                <a:spcPts val="0"/>
              </a:spcBef>
              <a:spcAft>
                <a:spcPts val="0"/>
              </a:spcAft>
              <a:buNone/>
            </a:pPr>
            <a:r>
              <a:rPr lang="en" sz="1500">
                <a:solidFill>
                  <a:srgbClr val="37474F"/>
                </a:solidFill>
                <a:latin typeface="Roboto Mono"/>
                <a:ea typeface="Roboto Mono"/>
                <a:cs typeface="Roboto Mono"/>
                <a:sym typeface="Roboto Mono"/>
              </a:rPr>
              <a:t>    id,</a:t>
            </a:r>
            <a:endParaRPr sz="1500">
              <a:latin typeface="Roboto Mono"/>
              <a:ea typeface="Roboto Mono"/>
              <a:cs typeface="Roboto Mono"/>
              <a:sym typeface="Roboto Mono"/>
            </a:endParaRPr>
          </a:p>
          <a:p>
            <a:pPr indent="0" lvl="0" marL="457200" rtl="0" algn="l">
              <a:lnSpc>
                <a:spcPct val="100000"/>
              </a:lnSpc>
              <a:spcBef>
                <a:spcPts val="0"/>
              </a:spcBef>
              <a:spcAft>
                <a:spcPts val="0"/>
              </a:spcAft>
              <a:buNone/>
            </a:pPr>
            <a:r>
              <a:rPr lang="en" sz="1500">
                <a:solidFill>
                  <a:srgbClr val="9C27B0"/>
                </a:solidFill>
                <a:latin typeface="Roboto Mono"/>
                <a:ea typeface="Roboto Mono"/>
                <a:cs typeface="Roboto Mono"/>
                <a:sym typeface="Roboto Mono"/>
              </a:rPr>
              <a:t>    COALESCE</a:t>
            </a:r>
            <a:r>
              <a:rPr lang="en" sz="1500">
                <a:solidFill>
                  <a:srgbClr val="37474F"/>
                </a:solidFill>
                <a:latin typeface="Roboto Mono"/>
                <a:ea typeface="Roboto Mono"/>
                <a:cs typeface="Roboto Mono"/>
                <a:sym typeface="Roboto Mono"/>
              </a:rPr>
              <a:t>(weight_kg, </a:t>
            </a:r>
            <a:r>
              <a:rPr lang="en" sz="1500">
                <a:solidFill>
                  <a:srgbClr val="9C27B0"/>
                </a:solidFill>
                <a:latin typeface="Roboto Mono"/>
                <a:ea typeface="Roboto Mono"/>
                <a:cs typeface="Roboto Mono"/>
                <a:sym typeface="Roboto Mono"/>
              </a:rPr>
              <a:t>0</a:t>
            </a:r>
            <a:r>
              <a:rPr lang="en" sz="1500">
                <a:solidFill>
                  <a:srgbClr val="37474F"/>
                </a:solidFill>
                <a:latin typeface="Roboto Mono"/>
                <a:ea typeface="Roboto Mono"/>
                <a:cs typeface="Roboto Mono"/>
                <a:sym typeface="Roboto Mono"/>
              </a:rPr>
              <a:t>) </a:t>
            </a:r>
            <a:r>
              <a:rPr lang="en" sz="1500">
                <a:solidFill>
                  <a:srgbClr val="C53929"/>
                </a:solidFill>
                <a:latin typeface="Roboto Mono"/>
                <a:ea typeface="Roboto Mono"/>
                <a:cs typeface="Roboto Mono"/>
                <a:sym typeface="Roboto Mono"/>
              </a:rPr>
              <a:t>AS</a:t>
            </a:r>
            <a:r>
              <a:rPr lang="en" sz="1500">
                <a:solidFill>
                  <a:srgbClr val="37474F"/>
                </a:solidFill>
                <a:latin typeface="Roboto Mono"/>
                <a:ea typeface="Roboto Mono"/>
                <a:cs typeface="Roboto Mono"/>
                <a:sym typeface="Roboto Mono"/>
              </a:rPr>
              <a:t> weight_kg,</a:t>
            </a:r>
            <a:endParaRPr sz="1500">
              <a:latin typeface="Roboto Mono"/>
              <a:ea typeface="Roboto Mono"/>
              <a:cs typeface="Roboto Mono"/>
              <a:sym typeface="Roboto Mono"/>
            </a:endParaRPr>
          </a:p>
          <a:p>
            <a:pPr indent="0" lvl="0" marL="457200" rtl="0" algn="l">
              <a:lnSpc>
                <a:spcPct val="100000"/>
              </a:lnSpc>
              <a:spcBef>
                <a:spcPts val="0"/>
              </a:spcBef>
              <a:spcAft>
                <a:spcPts val="0"/>
              </a:spcAft>
              <a:buNone/>
            </a:pPr>
            <a:r>
              <a:rPr lang="en" sz="1500">
                <a:solidFill>
                  <a:srgbClr val="9C27B0"/>
                </a:solidFill>
                <a:latin typeface="Roboto Mono"/>
                <a:ea typeface="Roboto Mono"/>
                <a:cs typeface="Roboto Mono"/>
                <a:sym typeface="Roboto Mono"/>
              </a:rPr>
              <a:t>    ABS</a:t>
            </a:r>
            <a:r>
              <a:rPr lang="en" sz="1500">
                <a:solidFill>
                  <a:srgbClr val="37474F"/>
                </a:solidFill>
                <a:latin typeface="Roboto Mono"/>
                <a:ea typeface="Roboto Mono"/>
                <a:cs typeface="Roboto Mono"/>
                <a:sym typeface="Roboto Mono"/>
              </a:rPr>
              <a:t>(price) </a:t>
            </a:r>
            <a:r>
              <a:rPr lang="en" sz="1500">
                <a:solidFill>
                  <a:srgbClr val="C53929"/>
                </a:solidFill>
                <a:latin typeface="Roboto Mono"/>
                <a:ea typeface="Roboto Mono"/>
                <a:cs typeface="Roboto Mono"/>
                <a:sym typeface="Roboto Mono"/>
              </a:rPr>
              <a:t>AS</a:t>
            </a:r>
            <a:r>
              <a:rPr lang="en" sz="1500">
                <a:solidFill>
                  <a:srgbClr val="37474F"/>
                </a:solidFill>
                <a:latin typeface="Roboto Mono"/>
                <a:ea typeface="Roboto Mono"/>
                <a:cs typeface="Roboto Mono"/>
                <a:sym typeface="Roboto Mono"/>
              </a:rPr>
              <a:t> price</a:t>
            </a:r>
            <a:endParaRPr sz="1500">
              <a:latin typeface="Roboto Mono"/>
              <a:ea typeface="Roboto Mono"/>
              <a:cs typeface="Roboto Mono"/>
              <a:sym typeface="Roboto Mono"/>
            </a:endParaRPr>
          </a:p>
          <a:p>
            <a:pPr indent="0" lvl="0" marL="457200" rtl="0" algn="l">
              <a:lnSpc>
                <a:spcPct val="150000"/>
              </a:lnSpc>
              <a:spcBef>
                <a:spcPts val="0"/>
              </a:spcBef>
              <a:spcAft>
                <a:spcPts val="0"/>
              </a:spcAft>
              <a:buNone/>
            </a:pPr>
            <a:r>
              <a:rPr lang="en" sz="1500">
                <a:solidFill>
                  <a:srgbClr val="C53929"/>
                </a:solidFill>
                <a:latin typeface="Roboto Mono"/>
                <a:ea typeface="Roboto Mono"/>
                <a:cs typeface="Roboto Mono"/>
                <a:sym typeface="Roboto Mono"/>
              </a:rPr>
              <a:t>FROM</a:t>
            </a:r>
            <a:r>
              <a:rPr lang="en" sz="1500">
                <a:solidFill>
                  <a:srgbClr val="37474F"/>
                </a:solidFill>
                <a:latin typeface="Roboto Mono"/>
                <a:ea typeface="Roboto Mono"/>
                <a:cs typeface="Roboto Mono"/>
                <a:sym typeface="Roboto Mono"/>
              </a:rPr>
              <a:t> RawItems;</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99cb9bcabe_0_51"/>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Cleaning Examples</a:t>
            </a:r>
            <a:endParaRPr/>
          </a:p>
        </p:txBody>
      </p:sp>
      <p:sp>
        <p:nvSpPr>
          <p:cNvPr id="199" name="Google Shape;199;g399cb9bcabe_0_51"/>
          <p:cNvSpPr txBox="1"/>
          <p:nvPr>
            <p:ph idx="1" type="body"/>
          </p:nvPr>
        </p:nvSpPr>
        <p:spPr>
          <a:xfrm>
            <a:off x="421975" y="1052375"/>
            <a:ext cx="8773500" cy="3641100"/>
          </a:xfrm>
          <a:prstGeom prst="rect">
            <a:avLst/>
          </a:prstGeom>
          <a:noFill/>
          <a:ln>
            <a:noFill/>
          </a:ln>
        </p:spPr>
        <p:txBody>
          <a:bodyPr anchorCtr="0" anchor="t" bIns="34275" lIns="68575" spcFirstLastPara="1" rIns="68575" wrap="square" tIns="34275">
            <a:noAutofit/>
          </a:bodyPr>
          <a:lstStyle/>
          <a:p>
            <a:pPr indent="-323850" lvl="0" marL="457200" rtl="0" algn="l">
              <a:lnSpc>
                <a:spcPct val="115000"/>
              </a:lnSpc>
              <a:spcBef>
                <a:spcPts val="800"/>
              </a:spcBef>
              <a:spcAft>
                <a:spcPts val="0"/>
              </a:spcAft>
              <a:buSzPts val="1500"/>
              <a:buChar char="●"/>
            </a:pPr>
            <a:r>
              <a:rPr lang="en" sz="1500"/>
              <a:t>Removing trailing white spaces -&gt; “Armin</a:t>
            </a:r>
            <a:r>
              <a:rPr lang="en" sz="1500">
                <a:highlight>
                  <a:srgbClr val="F4CCCC"/>
                </a:highlight>
              </a:rPr>
              <a:t>  </a:t>
            </a:r>
            <a:r>
              <a:rPr lang="en" sz="1500"/>
              <a:t>“ -&gt; Armin</a:t>
            </a:r>
            <a:endParaRPr sz="1500"/>
          </a:p>
          <a:p>
            <a:pPr indent="-317500" lvl="1" marL="914400" rtl="0" algn="l">
              <a:lnSpc>
                <a:spcPct val="115000"/>
              </a:lnSpc>
              <a:spcBef>
                <a:spcPts val="0"/>
              </a:spcBef>
              <a:spcAft>
                <a:spcPts val="0"/>
              </a:spcAft>
              <a:buSzPts val="1400"/>
              <a:buChar char="○"/>
            </a:pPr>
            <a:r>
              <a:rPr lang="en" sz="1400"/>
              <a:t>Usually, improves performance of ML models.</a:t>
            </a:r>
            <a:endParaRPr sz="1400"/>
          </a:p>
          <a:p>
            <a:pPr indent="-317500" lvl="1" marL="914400" rtl="0" algn="l">
              <a:lnSpc>
                <a:spcPct val="115000"/>
              </a:lnSpc>
              <a:spcBef>
                <a:spcPts val="0"/>
              </a:spcBef>
              <a:spcAft>
                <a:spcPts val="0"/>
              </a:spcAft>
              <a:buSzPts val="1400"/>
              <a:buChar char="○"/>
            </a:pPr>
            <a:r>
              <a:rPr lang="en" sz="1400"/>
              <a:t>Improves accuracy of queries. -&gt; </a:t>
            </a:r>
            <a:r>
              <a:rPr lang="en" sz="1400">
                <a:highlight>
                  <a:srgbClr val="D9EAD3"/>
                </a:highlight>
              </a:rPr>
              <a:t>select count(‘*’) from orders where city = ‘Calgary’;</a:t>
            </a:r>
            <a:endParaRPr sz="1400">
              <a:highlight>
                <a:srgbClr val="D9EAD3"/>
              </a:highlight>
            </a:endParaRPr>
          </a:p>
          <a:p>
            <a:pPr indent="-323850" lvl="0" marL="457200" rtl="0" algn="l">
              <a:lnSpc>
                <a:spcPct val="115000"/>
              </a:lnSpc>
              <a:spcBef>
                <a:spcPts val="0"/>
              </a:spcBef>
              <a:spcAft>
                <a:spcPts val="0"/>
              </a:spcAft>
              <a:buSzPts val="1500"/>
              <a:buChar char="●"/>
            </a:pPr>
            <a:r>
              <a:rPr lang="en" sz="1500"/>
              <a:t>Lowercasing</a:t>
            </a:r>
            <a:endParaRPr sz="1500"/>
          </a:p>
          <a:p>
            <a:pPr indent="-317500" lvl="1" marL="914400" rtl="0" algn="l">
              <a:lnSpc>
                <a:spcPct val="115000"/>
              </a:lnSpc>
              <a:spcBef>
                <a:spcPts val="0"/>
              </a:spcBef>
              <a:spcAft>
                <a:spcPts val="0"/>
              </a:spcAft>
              <a:buSzPts val="1400"/>
              <a:buChar char="○"/>
            </a:pPr>
            <a:r>
              <a:rPr lang="en" sz="1400">
                <a:highlight>
                  <a:srgbClr val="D9EAD3"/>
                </a:highlight>
              </a:rPr>
              <a:t>select count(‘ * ’) from emails where email like ‘ % @gmail.com’</a:t>
            </a:r>
            <a:endParaRPr sz="1400">
              <a:highlight>
                <a:srgbClr val="D9EAD3"/>
              </a:highlight>
            </a:endParaRPr>
          </a:p>
          <a:p>
            <a:pPr indent="-323850" lvl="0" marL="457200" rtl="0" algn="l">
              <a:lnSpc>
                <a:spcPct val="115000"/>
              </a:lnSpc>
              <a:spcBef>
                <a:spcPts val="0"/>
              </a:spcBef>
              <a:spcAft>
                <a:spcPts val="0"/>
              </a:spcAft>
              <a:buSzPts val="1500"/>
              <a:buChar char="●"/>
            </a:pPr>
            <a:r>
              <a:rPr lang="en" sz="1500"/>
              <a:t>Replace empty strings with nulls</a:t>
            </a:r>
            <a:endParaRPr sz="1500"/>
          </a:p>
          <a:p>
            <a:pPr indent="-317500" lvl="1" marL="914400" rtl="0" algn="l">
              <a:lnSpc>
                <a:spcPct val="115000"/>
              </a:lnSpc>
              <a:spcBef>
                <a:spcPts val="0"/>
              </a:spcBef>
              <a:spcAft>
                <a:spcPts val="0"/>
              </a:spcAft>
              <a:buSzPts val="1400"/>
              <a:buChar char="○"/>
            </a:pPr>
            <a:r>
              <a:rPr lang="en" sz="1400">
                <a:highlight>
                  <a:srgbClr val="D9EAD3"/>
                </a:highlight>
              </a:rPr>
              <a:t>select count(‘*’) from orders where city is null.</a:t>
            </a:r>
            <a:endParaRPr sz="1400">
              <a:highlight>
                <a:srgbClr val="D9EAD3"/>
              </a:highlight>
            </a:endParaRPr>
          </a:p>
          <a:p>
            <a:pPr indent="-323850" lvl="0" marL="457200" rtl="0" algn="l">
              <a:lnSpc>
                <a:spcPct val="115000"/>
              </a:lnSpc>
              <a:spcBef>
                <a:spcPts val="0"/>
              </a:spcBef>
              <a:spcAft>
                <a:spcPts val="0"/>
              </a:spcAft>
              <a:buSzPts val="1500"/>
              <a:buChar char="●"/>
            </a:pPr>
            <a:r>
              <a:rPr lang="en" sz="1500"/>
              <a:t>Filling in missing values</a:t>
            </a:r>
            <a:endParaRPr sz="1500"/>
          </a:p>
          <a:p>
            <a:pPr indent="-317500" lvl="1" marL="914400" rtl="0" algn="l">
              <a:lnSpc>
                <a:spcPct val="115000"/>
              </a:lnSpc>
              <a:spcBef>
                <a:spcPts val="0"/>
              </a:spcBef>
              <a:spcAft>
                <a:spcPts val="0"/>
              </a:spcAft>
              <a:buSzPts val="1400"/>
              <a:buChar char="○"/>
            </a:pPr>
            <a:r>
              <a:rPr lang="en" sz="1400"/>
              <a:t>E.g. replace null fees with 0’s.</a:t>
            </a:r>
            <a:endParaRPr sz="1400"/>
          </a:p>
          <a:p>
            <a:pPr indent="-323850" lvl="0" marL="457200" rtl="0" algn="l">
              <a:lnSpc>
                <a:spcPct val="115000"/>
              </a:lnSpc>
              <a:spcBef>
                <a:spcPts val="0"/>
              </a:spcBef>
              <a:spcAft>
                <a:spcPts val="0"/>
              </a:spcAft>
              <a:buSzPts val="1500"/>
              <a:buChar char="●"/>
            </a:pPr>
            <a:r>
              <a:rPr lang="en" sz="1500"/>
              <a:t>Fixing Data Types</a:t>
            </a:r>
            <a:endParaRPr sz="1500"/>
          </a:p>
          <a:p>
            <a:pPr indent="-314325" lvl="1" marL="914400" rtl="0" algn="l">
              <a:lnSpc>
                <a:spcPct val="115000"/>
              </a:lnSpc>
              <a:spcBef>
                <a:spcPts val="0"/>
              </a:spcBef>
              <a:spcAft>
                <a:spcPts val="0"/>
              </a:spcAft>
              <a:buSzPts val="1350"/>
              <a:buChar char="○"/>
            </a:pPr>
            <a:r>
              <a:rPr lang="en" sz="1350"/>
              <a:t>“2024-01-03” -&gt; Date(2024, 01, 03) : </a:t>
            </a:r>
            <a:r>
              <a:rPr lang="en" sz="1350">
                <a:highlight>
                  <a:srgbClr val="D9EAD3"/>
                </a:highlight>
              </a:rPr>
              <a:t>select count(‘*’) from orders where month(purchase_date) = 1;</a:t>
            </a:r>
            <a:endParaRPr sz="1350">
              <a:highlight>
                <a:srgbClr val="D9EAD3"/>
              </a:highlight>
            </a:endParaRPr>
          </a:p>
          <a:p>
            <a:pPr indent="-323850" lvl="0" marL="457200" rtl="0" algn="l">
              <a:lnSpc>
                <a:spcPct val="115000"/>
              </a:lnSpc>
              <a:spcBef>
                <a:spcPts val="0"/>
              </a:spcBef>
              <a:spcAft>
                <a:spcPts val="0"/>
              </a:spcAft>
              <a:buSzPts val="1500"/>
              <a:buChar char="●"/>
            </a:pPr>
            <a:r>
              <a:rPr lang="en" sz="1500"/>
              <a:t>Remove duplicates</a:t>
            </a:r>
            <a:endParaRPr sz="1500"/>
          </a:p>
          <a:p>
            <a:pPr indent="-317500" lvl="1" marL="914400" rtl="0" algn="l">
              <a:lnSpc>
                <a:spcPct val="115000"/>
              </a:lnSpc>
              <a:spcBef>
                <a:spcPts val="0"/>
              </a:spcBef>
              <a:spcAft>
                <a:spcPts val="0"/>
              </a:spcAft>
              <a:buSzPts val="1400"/>
              <a:buChar char="○"/>
            </a:pPr>
            <a:r>
              <a:rPr lang="en" sz="1400">
                <a:highlight>
                  <a:srgbClr val="D9EAD3"/>
                </a:highlight>
              </a:rPr>
              <a:t>select sum(payment_amount) from orders;  </a:t>
            </a:r>
            <a:endParaRPr sz="1400">
              <a:highlight>
                <a:schemeClr val="lt1"/>
              </a:highlight>
            </a:endParaRPr>
          </a:p>
        </p:txBody>
      </p:sp>
      <p:sp>
        <p:nvSpPr>
          <p:cNvPr id="200" name="Google Shape;200;g399cb9bcabe_0_51"/>
          <p:cNvSpPr/>
          <p:nvPr/>
        </p:nvSpPr>
        <p:spPr>
          <a:xfrm>
            <a:off x="5826375" y="2775275"/>
            <a:ext cx="3101100" cy="6294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Highlighted queries will have inaccurate results if data in not clean.</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99cb9bcabe_0_5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Cleaning</a:t>
            </a:r>
            <a:endParaRPr/>
          </a:p>
        </p:txBody>
      </p:sp>
      <p:sp>
        <p:nvSpPr>
          <p:cNvPr id="206" name="Google Shape;206;g399cb9bcabe_0_57"/>
          <p:cNvSpPr txBox="1"/>
          <p:nvPr>
            <p:ph idx="1" type="body"/>
          </p:nvPr>
        </p:nvSpPr>
        <p:spPr>
          <a:xfrm>
            <a:off x="421975" y="1052375"/>
            <a:ext cx="84960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If the data is not cleaned upstream, </a:t>
            </a:r>
            <a:endParaRPr sz="1600"/>
          </a:p>
          <a:p>
            <a:pPr indent="-323850" lvl="1" marL="914400" rtl="0" algn="l">
              <a:lnSpc>
                <a:spcPct val="150000"/>
              </a:lnSpc>
              <a:spcBef>
                <a:spcPts val="0"/>
              </a:spcBef>
              <a:spcAft>
                <a:spcPts val="0"/>
              </a:spcAft>
              <a:buSzPts val="1500"/>
              <a:buChar char="○"/>
            </a:pPr>
            <a:r>
              <a:rPr lang="en" sz="1500"/>
              <a:t>downstream users (e.g., data scientists) will need to spend most of their time cleaning it</a:t>
            </a:r>
            <a:endParaRPr sz="1500"/>
          </a:p>
          <a:p>
            <a:pPr indent="-323850" lvl="1" marL="914400" rtl="0" algn="l">
              <a:lnSpc>
                <a:spcPct val="150000"/>
              </a:lnSpc>
              <a:spcBef>
                <a:spcPts val="0"/>
              </a:spcBef>
              <a:spcAft>
                <a:spcPts val="0"/>
              </a:spcAft>
              <a:buSzPts val="1500"/>
              <a:buChar char="○"/>
            </a:pPr>
            <a:r>
              <a:rPr lang="en" sz="1500"/>
              <a:t>they might be unaware and use the low quality data that eventually hurts the business</a:t>
            </a:r>
            <a:endParaRPr sz="1500"/>
          </a:p>
          <a:p>
            <a:pPr indent="-323850" lvl="1" marL="914400" rtl="0" algn="l">
              <a:lnSpc>
                <a:spcPct val="150000"/>
              </a:lnSpc>
              <a:spcBef>
                <a:spcPts val="0"/>
              </a:spcBef>
              <a:spcAft>
                <a:spcPts val="0"/>
              </a:spcAft>
              <a:buSzPts val="1500"/>
              <a:buChar char="○"/>
            </a:pPr>
            <a:r>
              <a:rPr lang="en" sz="1500"/>
              <a:t>impacts could be worse dealing with external users. </a:t>
            </a:r>
            <a:endParaRPr sz="1500"/>
          </a:p>
          <a:p>
            <a:pPr indent="-311150" lvl="2" marL="1371600" rtl="0" algn="l">
              <a:lnSpc>
                <a:spcPct val="115000"/>
              </a:lnSpc>
              <a:spcBef>
                <a:spcPts val="0"/>
              </a:spcBef>
              <a:spcAft>
                <a:spcPts val="0"/>
              </a:spcAft>
              <a:buSzPts val="1300"/>
              <a:buChar char="■"/>
            </a:pPr>
            <a:r>
              <a:rPr lang="en" sz="1300">
                <a:highlight>
                  <a:srgbClr val="F4CCCC"/>
                </a:highlight>
              </a:rPr>
              <a:t>select sum(payment_amount) from orders;</a:t>
            </a:r>
            <a:r>
              <a:rPr lang="en" sz="1300"/>
              <a:t> -&gt; duplicate data can cause us to pay more/less to external users;</a:t>
            </a:r>
            <a:endParaRPr sz="1300"/>
          </a:p>
          <a:p>
            <a:pPr indent="0" lvl="0" marL="1371600" rtl="0" algn="l">
              <a:lnSpc>
                <a:spcPct val="115000"/>
              </a:lnSpc>
              <a:spcBef>
                <a:spcPts val="800"/>
              </a:spcBef>
              <a:spcAft>
                <a:spcPts val="0"/>
              </a:spcAft>
              <a:buSzPts val="2100"/>
              <a:buNone/>
            </a:pPr>
            <a:r>
              <a:t/>
            </a:r>
            <a:endParaRPr sz="1300"/>
          </a:p>
          <a:p>
            <a:pPr indent="-330200" lvl="0" marL="457200" rtl="0" algn="l">
              <a:lnSpc>
                <a:spcPct val="115000"/>
              </a:lnSpc>
              <a:spcBef>
                <a:spcPts val="800"/>
              </a:spcBef>
              <a:spcAft>
                <a:spcPts val="0"/>
              </a:spcAft>
              <a:buSzPts val="1600"/>
              <a:buChar char="●"/>
            </a:pPr>
            <a:r>
              <a:rPr lang="en" sz="1600"/>
              <a:t>It is much more efficient for a data pipeline to clean the data and persists it onto the disk (e.g, save into a table) rather than, downstream users do this cleaning every time they query data.</a:t>
            </a:r>
            <a:endParaRPr sz="1600"/>
          </a:p>
          <a:p>
            <a:pPr indent="-323850" lvl="1" marL="914400" rtl="0" algn="l">
              <a:lnSpc>
                <a:spcPct val="115000"/>
              </a:lnSpc>
              <a:spcBef>
                <a:spcPts val="0"/>
              </a:spcBef>
              <a:spcAft>
                <a:spcPts val="0"/>
              </a:spcAft>
              <a:buSzPts val="1500"/>
              <a:buChar char="○"/>
            </a:pPr>
            <a:r>
              <a:rPr lang="en" sz="1500">
                <a:highlight>
                  <a:srgbClr val="F4CCCC"/>
                </a:highlight>
              </a:rPr>
              <a:t>select trim(name) from customers; </a:t>
            </a:r>
            <a:r>
              <a:rPr lang="en" sz="1500"/>
              <a:t>-&gt; This query trims data every single time it runs.</a:t>
            </a:r>
            <a:endParaRPr sz="1500"/>
          </a:p>
          <a:p>
            <a:pPr indent="0" lvl="0" marL="457200" rtl="0" algn="l">
              <a:lnSpc>
                <a:spcPct val="115000"/>
              </a:lnSpc>
              <a:spcBef>
                <a:spcPts val="800"/>
              </a:spcBef>
              <a:spcAft>
                <a:spcPts val="0"/>
              </a:spcAft>
              <a:buSzPts val="2100"/>
              <a:buNone/>
            </a:pPr>
            <a:r>
              <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99cb9bcabe_0_31"/>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Transformation Components (Enrichment)</a:t>
            </a:r>
            <a:endParaRPr/>
          </a:p>
        </p:txBody>
      </p:sp>
      <p:sp>
        <p:nvSpPr>
          <p:cNvPr id="212" name="Google Shape;212;g399cb9bcabe_0_31"/>
          <p:cNvSpPr txBox="1"/>
          <p:nvPr>
            <p:ph idx="1" type="body"/>
          </p:nvPr>
        </p:nvSpPr>
        <p:spPr>
          <a:xfrm>
            <a:off x="273700" y="1059175"/>
            <a:ext cx="8651100" cy="38805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None/>
            </a:pPr>
            <a:r>
              <a:rPr b="1" lang="en" sz="1600"/>
              <a:t>Data Enrichment</a:t>
            </a:r>
            <a:r>
              <a:rPr b="1" lang="en" sz="1600"/>
              <a:t>:</a:t>
            </a:r>
            <a:r>
              <a:rPr lang="en" sz="1600"/>
              <a:t> Enhancing data by adding new calculated fields or joining external information.</a:t>
            </a:r>
            <a:endParaRPr sz="1600"/>
          </a:p>
          <a:p>
            <a:pPr indent="-323850" lvl="0" marL="457200" rtl="0" algn="l">
              <a:lnSpc>
                <a:spcPct val="150000"/>
              </a:lnSpc>
              <a:spcBef>
                <a:spcPts val="800"/>
              </a:spcBef>
              <a:spcAft>
                <a:spcPts val="0"/>
              </a:spcAft>
              <a:buSzPts val="1500"/>
              <a:buChar char="●"/>
            </a:pPr>
            <a:r>
              <a:rPr lang="en" sz="1500"/>
              <a:t>Example: Creating cost_per_kg = total_cost / total_weight or bringing in attributes from other datasets</a:t>
            </a:r>
            <a:endParaRPr sz="1500"/>
          </a:p>
          <a:p>
            <a:pPr indent="0" lvl="0" marL="0" rtl="0" algn="l">
              <a:lnSpc>
                <a:spcPct val="100000"/>
              </a:lnSpc>
              <a:spcBef>
                <a:spcPts val="800"/>
              </a:spcBef>
              <a:spcAft>
                <a:spcPts val="0"/>
              </a:spcAft>
              <a:buNone/>
            </a:pPr>
            <a:r>
              <a:rPr lang="en" sz="1300">
                <a:solidFill>
                  <a:srgbClr val="C53929"/>
                </a:solidFill>
                <a:latin typeface="Roboto Mono"/>
                <a:ea typeface="Roboto Mono"/>
                <a:cs typeface="Roboto Mono"/>
                <a:sym typeface="Roboto Mono"/>
              </a:rPr>
              <a:t>SELECT</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37474F"/>
                </a:solidFill>
                <a:latin typeface="Roboto Mono"/>
                <a:ea typeface="Roboto Mono"/>
                <a:cs typeface="Roboto Mono"/>
                <a:sym typeface="Roboto Mono"/>
              </a:rPr>
              <a:t>    i.item,</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37474F"/>
                </a:solidFill>
                <a:latin typeface="Roboto Mono"/>
                <a:ea typeface="Roboto Mono"/>
                <a:cs typeface="Roboto Mono"/>
                <a:sym typeface="Roboto Mono"/>
              </a:rPr>
              <a:t>    i.total_cost,</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37474F"/>
                </a:solidFill>
                <a:latin typeface="Roboto Mono"/>
                <a:ea typeface="Roboto Mono"/>
                <a:cs typeface="Roboto Mono"/>
                <a:sym typeface="Roboto Mono"/>
              </a:rPr>
              <a:t>    i.total_weight,</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37474F"/>
                </a:solidFill>
                <a:latin typeface="Roboto Mono"/>
                <a:ea typeface="Roboto Mono"/>
                <a:cs typeface="Roboto Mono"/>
                <a:sym typeface="Roboto Mono"/>
              </a:rPr>
              <a:t>    i.total_cost </a:t>
            </a:r>
            <a:r>
              <a:rPr lang="en" sz="1300">
                <a:solidFill>
                  <a:srgbClr val="3F51B5"/>
                </a:solidFill>
                <a:latin typeface="Roboto Mono"/>
                <a:ea typeface="Roboto Mono"/>
                <a:cs typeface="Roboto Mono"/>
                <a:sym typeface="Roboto Mono"/>
              </a:rPr>
              <a:t>/</a:t>
            </a:r>
            <a:r>
              <a:rPr lang="en" sz="1300">
                <a:solidFill>
                  <a:srgbClr val="37474F"/>
                </a:solidFill>
                <a:latin typeface="Roboto Mono"/>
                <a:ea typeface="Roboto Mono"/>
                <a:cs typeface="Roboto Mono"/>
                <a:sym typeface="Roboto Mono"/>
              </a:rPr>
              <a:t> i.total_weight </a:t>
            </a:r>
            <a:r>
              <a:rPr lang="en" sz="1300">
                <a:solidFill>
                  <a:srgbClr val="C53929"/>
                </a:solidFill>
                <a:latin typeface="Roboto Mono"/>
                <a:ea typeface="Roboto Mono"/>
                <a:cs typeface="Roboto Mono"/>
                <a:sym typeface="Roboto Mono"/>
              </a:rPr>
              <a:t>AS</a:t>
            </a:r>
            <a:r>
              <a:rPr lang="en" sz="1300">
                <a:solidFill>
                  <a:srgbClr val="37474F"/>
                </a:solidFill>
                <a:latin typeface="Roboto Mono"/>
                <a:ea typeface="Roboto Mono"/>
                <a:cs typeface="Roboto Mono"/>
                <a:sym typeface="Roboto Mono"/>
              </a:rPr>
              <a:t> cost_per_kg,   </a:t>
            </a:r>
            <a:r>
              <a:rPr lang="en" sz="1300">
                <a:solidFill>
                  <a:srgbClr val="3F51B5"/>
                </a:solidFill>
                <a:latin typeface="Roboto Mono"/>
                <a:ea typeface="Roboto Mono"/>
                <a:cs typeface="Roboto Mono"/>
                <a:sym typeface="Roboto Mono"/>
              </a:rPr>
              <a:t>--</a:t>
            </a:r>
            <a:r>
              <a:rPr lang="en" sz="1300">
                <a:solidFill>
                  <a:srgbClr val="37474F"/>
                </a:solidFill>
                <a:latin typeface="Roboto Mono"/>
                <a:ea typeface="Roboto Mono"/>
                <a:cs typeface="Roboto Mono"/>
                <a:sym typeface="Roboto Mono"/>
              </a:rPr>
              <a:t> derived field</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37474F"/>
                </a:solidFill>
                <a:latin typeface="Roboto Mono"/>
                <a:ea typeface="Roboto Mono"/>
                <a:cs typeface="Roboto Mono"/>
                <a:sym typeface="Roboto Mono"/>
              </a:rPr>
              <a:t>    p.category,                                      </a:t>
            </a:r>
            <a:r>
              <a:rPr lang="en" sz="1300">
                <a:solidFill>
                  <a:srgbClr val="3F51B5"/>
                </a:solidFill>
                <a:latin typeface="Roboto Mono"/>
                <a:ea typeface="Roboto Mono"/>
                <a:cs typeface="Roboto Mono"/>
                <a:sym typeface="Roboto Mono"/>
              </a:rPr>
              <a:t>--</a:t>
            </a:r>
            <a:r>
              <a:rPr lang="en" sz="1300">
                <a:solidFill>
                  <a:srgbClr val="37474F"/>
                </a:solidFill>
                <a:latin typeface="Roboto Mono"/>
                <a:ea typeface="Roboto Mono"/>
                <a:cs typeface="Roboto Mono"/>
                <a:sym typeface="Roboto Mono"/>
              </a:rPr>
              <a:t> added attribute</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37474F"/>
                </a:solidFill>
                <a:latin typeface="Roboto Mono"/>
                <a:ea typeface="Roboto Mono"/>
                <a:cs typeface="Roboto Mono"/>
                <a:sym typeface="Roboto Mono"/>
              </a:rPr>
              <a:t>    p.brand                                           </a:t>
            </a:r>
            <a:r>
              <a:rPr lang="en" sz="1300">
                <a:solidFill>
                  <a:srgbClr val="3F51B5"/>
                </a:solidFill>
                <a:latin typeface="Roboto Mono"/>
                <a:ea typeface="Roboto Mono"/>
                <a:cs typeface="Roboto Mono"/>
                <a:sym typeface="Roboto Mono"/>
              </a:rPr>
              <a:t>--</a:t>
            </a:r>
            <a:r>
              <a:rPr lang="en" sz="1300">
                <a:solidFill>
                  <a:srgbClr val="37474F"/>
                </a:solidFill>
                <a:latin typeface="Roboto Mono"/>
                <a:ea typeface="Roboto Mono"/>
                <a:cs typeface="Roboto Mono"/>
                <a:sym typeface="Roboto Mono"/>
              </a:rPr>
              <a:t> added attribute</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C53929"/>
                </a:solidFill>
                <a:latin typeface="Roboto Mono"/>
                <a:ea typeface="Roboto Mono"/>
                <a:cs typeface="Roboto Mono"/>
                <a:sym typeface="Roboto Mono"/>
              </a:rPr>
              <a:t>FROM</a:t>
            </a:r>
            <a:r>
              <a:rPr lang="en" sz="1300">
                <a:solidFill>
                  <a:srgbClr val="37474F"/>
                </a:solidFill>
                <a:latin typeface="Roboto Mono"/>
                <a:ea typeface="Roboto Mono"/>
                <a:cs typeface="Roboto Mono"/>
                <a:sym typeface="Roboto Mono"/>
              </a:rPr>
              <a:t> Items i</a:t>
            </a:r>
            <a:endParaRPr sz="1300">
              <a:latin typeface="Roboto Mono"/>
              <a:ea typeface="Roboto Mono"/>
              <a:cs typeface="Roboto Mono"/>
              <a:sym typeface="Roboto Mono"/>
            </a:endParaRPr>
          </a:p>
          <a:p>
            <a:pPr indent="0" lvl="0" marL="0" rtl="0" algn="l">
              <a:lnSpc>
                <a:spcPct val="100000"/>
              </a:lnSpc>
              <a:spcBef>
                <a:spcPts val="800"/>
              </a:spcBef>
              <a:spcAft>
                <a:spcPts val="0"/>
              </a:spcAft>
              <a:buNone/>
            </a:pPr>
            <a:r>
              <a:rPr lang="en" sz="1300">
                <a:solidFill>
                  <a:srgbClr val="C53929"/>
                </a:solidFill>
                <a:latin typeface="Roboto Mono"/>
                <a:ea typeface="Roboto Mono"/>
                <a:cs typeface="Roboto Mono"/>
                <a:sym typeface="Roboto Mono"/>
              </a:rPr>
              <a:t>LEFT JOIN</a:t>
            </a:r>
            <a:r>
              <a:rPr lang="en" sz="1300">
                <a:solidFill>
                  <a:srgbClr val="37474F"/>
                </a:solidFill>
                <a:latin typeface="Roboto Mono"/>
                <a:ea typeface="Roboto Mono"/>
                <a:cs typeface="Roboto Mono"/>
                <a:sym typeface="Roboto Mono"/>
              </a:rPr>
              <a:t> ProductInfo p</a:t>
            </a:r>
            <a:endParaRPr sz="1300">
              <a:latin typeface="Roboto Mono"/>
              <a:ea typeface="Roboto Mono"/>
              <a:cs typeface="Roboto Mono"/>
              <a:sym typeface="Roboto Mono"/>
            </a:endParaRPr>
          </a:p>
          <a:p>
            <a:pPr indent="0" lvl="0" marL="0" rtl="0" algn="l">
              <a:lnSpc>
                <a:spcPct val="100000"/>
              </a:lnSpc>
              <a:spcBef>
                <a:spcPts val="0"/>
              </a:spcBef>
              <a:spcAft>
                <a:spcPts val="0"/>
              </a:spcAft>
              <a:buNone/>
            </a:pPr>
            <a:r>
              <a:rPr lang="en" sz="1300">
                <a:solidFill>
                  <a:srgbClr val="C53929"/>
                </a:solidFill>
                <a:latin typeface="Roboto Mono"/>
                <a:ea typeface="Roboto Mono"/>
                <a:cs typeface="Roboto Mono"/>
                <a:sym typeface="Roboto Mono"/>
              </a:rPr>
              <a:t>    ON</a:t>
            </a:r>
            <a:r>
              <a:rPr lang="en" sz="1300">
                <a:solidFill>
                  <a:srgbClr val="37474F"/>
                </a:solidFill>
                <a:latin typeface="Roboto Mono"/>
                <a:ea typeface="Roboto Mono"/>
                <a:cs typeface="Roboto Mono"/>
                <a:sym typeface="Roboto Mono"/>
              </a:rPr>
              <a:t> i.item </a:t>
            </a:r>
            <a:r>
              <a:rPr lang="en" sz="1300">
                <a:solidFill>
                  <a:srgbClr val="3F51B5"/>
                </a:solidFill>
                <a:latin typeface="Roboto Mono"/>
                <a:ea typeface="Roboto Mono"/>
                <a:cs typeface="Roboto Mono"/>
                <a:sym typeface="Roboto Mono"/>
              </a:rPr>
              <a:t>=</a:t>
            </a:r>
            <a:r>
              <a:rPr lang="en" sz="1300">
                <a:solidFill>
                  <a:srgbClr val="37474F"/>
                </a:solidFill>
                <a:latin typeface="Roboto Mono"/>
                <a:ea typeface="Roboto Mono"/>
                <a:cs typeface="Roboto Mono"/>
                <a:sym typeface="Roboto Mono"/>
              </a:rPr>
              <a:t> p.item_id;</a:t>
            </a:r>
            <a:endParaRPr sz="1300">
              <a:solidFill>
                <a:srgbClr val="37474F"/>
              </a:solidFill>
              <a:latin typeface="Roboto Mono"/>
              <a:ea typeface="Roboto Mono"/>
              <a:cs typeface="Roboto Mono"/>
              <a:sym typeface="Roboto Mono"/>
            </a:endParaRPr>
          </a:p>
          <a:p>
            <a:pPr indent="0" lvl="0" marL="0" rtl="0" algn="l">
              <a:lnSpc>
                <a:spcPct val="115000"/>
              </a:lnSpc>
              <a:spcBef>
                <a:spcPts val="800"/>
              </a:spcBef>
              <a:spcAft>
                <a:spcPts val="0"/>
              </a:spcAft>
              <a:buNone/>
            </a:pPr>
            <a:r>
              <a:t/>
            </a:r>
            <a:endParaRPr sz="1500">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99cb9bcabe_0_36"/>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Autofit/>
          </a:bodyPr>
          <a:lstStyle/>
          <a:p>
            <a:pPr indent="0" lvl="0" marL="0" rtl="0" algn="l">
              <a:lnSpc>
                <a:spcPct val="105555"/>
              </a:lnSpc>
              <a:spcBef>
                <a:spcPts val="0"/>
              </a:spcBef>
              <a:spcAft>
                <a:spcPts val="0"/>
              </a:spcAft>
              <a:buSzPts val="2430"/>
              <a:buNone/>
            </a:pPr>
            <a:r>
              <a:rPr lang="en" sz="2230"/>
              <a:t>Data Transformation Components (Filtering &amp; Aggregation)</a:t>
            </a:r>
            <a:endParaRPr sz="2230"/>
          </a:p>
        </p:txBody>
      </p:sp>
      <p:sp>
        <p:nvSpPr>
          <p:cNvPr id="218" name="Google Shape;218;g399cb9bcabe_0_36"/>
          <p:cNvSpPr txBox="1"/>
          <p:nvPr>
            <p:ph idx="1" type="body"/>
          </p:nvPr>
        </p:nvSpPr>
        <p:spPr>
          <a:xfrm>
            <a:off x="273700" y="1059175"/>
            <a:ext cx="8651100" cy="36411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800"/>
              </a:spcBef>
              <a:spcAft>
                <a:spcPts val="0"/>
              </a:spcAft>
              <a:buNone/>
            </a:pPr>
            <a:r>
              <a:rPr b="1" lang="en" sz="1600"/>
              <a:t>Filtering &amp; Aggregation</a:t>
            </a:r>
            <a:r>
              <a:rPr b="1" lang="en" sz="1600"/>
              <a:t>:</a:t>
            </a:r>
            <a:r>
              <a:rPr lang="en" sz="1600"/>
              <a:t> </a:t>
            </a:r>
            <a:r>
              <a:rPr lang="en" sz="1600"/>
              <a:t>Selecting relevant data and summarizing it for analysis.</a:t>
            </a:r>
            <a:endParaRPr sz="1600"/>
          </a:p>
          <a:p>
            <a:pPr indent="-330200" lvl="1" marL="914400" rtl="0" algn="l">
              <a:lnSpc>
                <a:spcPct val="150000"/>
              </a:lnSpc>
              <a:spcBef>
                <a:spcPts val="400"/>
              </a:spcBef>
              <a:spcAft>
                <a:spcPts val="0"/>
              </a:spcAft>
              <a:buSzPts val="1600"/>
              <a:buChar char="○"/>
            </a:pPr>
            <a:r>
              <a:rPr lang="en" sz="1600"/>
              <a:t>Example: </a:t>
            </a:r>
            <a:r>
              <a:rPr lang="en" sz="1600"/>
              <a:t>Filtering out cancelled orders and aggregating total sales per day.</a:t>
            </a:r>
            <a:endParaRPr sz="15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F51B5"/>
                </a:solidFill>
                <a:latin typeface="Roboto Mono"/>
                <a:ea typeface="Roboto Mono"/>
                <a:cs typeface="Roboto Mono"/>
                <a:sym typeface="Roboto Mono"/>
              </a:rPr>
              <a:t>WITH</a:t>
            </a:r>
            <a:r>
              <a:rPr lang="en" sz="1300">
                <a:solidFill>
                  <a:srgbClr val="37474F"/>
                </a:solidFill>
                <a:latin typeface="Roboto Mono"/>
                <a:ea typeface="Roboto Mono"/>
                <a:cs typeface="Roboto Mono"/>
                <a:sym typeface="Roboto Mono"/>
              </a:rPr>
              <a:t> filtered </a:t>
            </a:r>
            <a:r>
              <a:rPr lang="en" sz="1300">
                <a:solidFill>
                  <a:srgbClr val="3F51B5"/>
                </a:solidFill>
                <a:latin typeface="Roboto Mono"/>
                <a:ea typeface="Roboto Mono"/>
                <a:cs typeface="Roboto Mono"/>
                <a:sym typeface="Roboto Mono"/>
              </a:rPr>
              <a:t>AS</a:t>
            </a:r>
            <a:r>
              <a:rPr lang="en" sz="1300">
                <a:solidFill>
                  <a:srgbClr val="37474F"/>
                </a:solidFill>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F51B5"/>
                </a:solidFill>
                <a:latin typeface="Roboto Mono"/>
                <a:ea typeface="Roboto Mono"/>
                <a:cs typeface="Roboto Mono"/>
                <a:sym typeface="Roboto Mono"/>
              </a:rPr>
              <a:t>    SELECT *</a:t>
            </a:r>
            <a:r>
              <a:rPr lang="en" sz="1300">
                <a:latin typeface="Roboto Mono"/>
                <a:ea typeface="Roboto Mono"/>
                <a:cs typeface="Roboto Mono"/>
                <a:sym typeface="Roboto Mono"/>
              </a:rPr>
              <a:t> </a:t>
            </a:r>
            <a:r>
              <a:rPr lang="en" sz="1300">
                <a:solidFill>
                  <a:srgbClr val="3F51B5"/>
                </a:solidFill>
                <a:latin typeface="Roboto Mono"/>
                <a:ea typeface="Roboto Mono"/>
                <a:cs typeface="Roboto Mono"/>
                <a:sym typeface="Roboto Mono"/>
              </a:rPr>
              <a:t>FROM</a:t>
            </a:r>
            <a:r>
              <a:rPr lang="en" sz="1300">
                <a:solidFill>
                  <a:srgbClr val="37474F"/>
                </a:solidFill>
                <a:latin typeface="Roboto Mono"/>
                <a:ea typeface="Roboto Mono"/>
                <a:cs typeface="Roboto Mono"/>
                <a:sym typeface="Roboto Mono"/>
              </a:rPr>
              <a:t> Orders</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F51B5"/>
                </a:solidFill>
                <a:latin typeface="Roboto Mono"/>
                <a:ea typeface="Roboto Mono"/>
                <a:cs typeface="Roboto Mono"/>
                <a:sym typeface="Roboto Mono"/>
              </a:rPr>
              <a:t>    WHERE status &lt;&gt;</a:t>
            </a:r>
            <a:r>
              <a:rPr lang="en" sz="1300">
                <a:solidFill>
                  <a:srgbClr val="388E3C"/>
                </a:solidFill>
                <a:latin typeface="Roboto Mono"/>
                <a:ea typeface="Roboto Mono"/>
                <a:cs typeface="Roboto Mono"/>
                <a:sym typeface="Roboto Mono"/>
              </a:rPr>
              <a:t> 'cancelled' </a:t>
            </a:r>
            <a:r>
              <a:rPr lang="en" sz="1300">
                <a:solidFill>
                  <a:srgbClr val="D81B60"/>
                </a:solidFill>
                <a:latin typeface="Roboto Mono"/>
                <a:ea typeface="Roboto Mono"/>
                <a:cs typeface="Roboto Mono"/>
                <a:sym typeface="Roboto Mono"/>
              </a:rPr>
              <a:t>-- Remove cancelled orders</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7474F"/>
                </a:solidFill>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F51B5"/>
                </a:solidFill>
                <a:latin typeface="Roboto Mono"/>
                <a:ea typeface="Roboto Mono"/>
                <a:cs typeface="Roboto Mono"/>
                <a:sym typeface="Roboto Mono"/>
              </a:rPr>
              <a:t>SELECT</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F51B5"/>
                </a:solidFill>
                <a:latin typeface="Roboto Mono"/>
                <a:ea typeface="Roboto Mono"/>
                <a:cs typeface="Roboto Mono"/>
                <a:sym typeface="Roboto Mono"/>
              </a:rPr>
              <a:t>    status</a:t>
            </a:r>
            <a:r>
              <a:rPr lang="en" sz="1300">
                <a:solidFill>
                  <a:srgbClr val="37474F"/>
                </a:solidFill>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7474F"/>
                </a:solidFill>
                <a:latin typeface="Roboto Mono"/>
                <a:ea typeface="Roboto Mono"/>
                <a:cs typeface="Roboto Mono"/>
                <a:sym typeface="Roboto Mono"/>
              </a:rPr>
              <a:t>    SUM(amount) </a:t>
            </a:r>
            <a:r>
              <a:rPr lang="en" sz="1300">
                <a:solidFill>
                  <a:srgbClr val="3F51B5"/>
                </a:solidFill>
                <a:latin typeface="Roboto Mono"/>
                <a:ea typeface="Roboto Mono"/>
                <a:cs typeface="Roboto Mono"/>
                <a:sym typeface="Roboto Mono"/>
              </a:rPr>
              <a:t>AS</a:t>
            </a:r>
            <a:r>
              <a:rPr lang="en" sz="1300">
                <a:solidFill>
                  <a:srgbClr val="37474F"/>
                </a:solidFill>
                <a:latin typeface="Roboto Mono"/>
                <a:ea typeface="Roboto Mono"/>
                <a:cs typeface="Roboto Mono"/>
                <a:sym typeface="Roboto Mono"/>
              </a:rPr>
              <a:t> total_amount </a:t>
            </a:r>
            <a:r>
              <a:rPr lang="en" sz="1300">
                <a:solidFill>
                  <a:srgbClr val="D81B60"/>
                </a:solidFill>
                <a:latin typeface="Roboto Mono"/>
                <a:ea typeface="Roboto Mono"/>
                <a:cs typeface="Roboto Mono"/>
                <a:sym typeface="Roboto Mono"/>
              </a:rPr>
              <a:t>-- Summarize total sales</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F51B5"/>
                </a:solidFill>
                <a:latin typeface="Roboto Mono"/>
                <a:ea typeface="Roboto Mono"/>
                <a:cs typeface="Roboto Mono"/>
                <a:sym typeface="Roboto Mono"/>
              </a:rPr>
              <a:t>FROM</a:t>
            </a:r>
            <a:r>
              <a:rPr lang="en" sz="1300">
                <a:solidFill>
                  <a:srgbClr val="37474F"/>
                </a:solidFill>
                <a:latin typeface="Roboto Mono"/>
                <a:ea typeface="Roboto Mono"/>
                <a:cs typeface="Roboto Mono"/>
                <a:sym typeface="Roboto Mono"/>
              </a:rPr>
              <a:t> filtered</a:t>
            </a:r>
            <a:endParaRPr sz="1300">
              <a:latin typeface="Roboto Mono"/>
              <a:ea typeface="Roboto Mono"/>
              <a:cs typeface="Roboto Mono"/>
              <a:sym typeface="Roboto Mono"/>
            </a:endParaRPr>
          </a:p>
          <a:p>
            <a:pPr indent="0" lvl="0" marL="0" rtl="0" algn="l">
              <a:lnSpc>
                <a:spcPct val="150000"/>
              </a:lnSpc>
              <a:spcBef>
                <a:spcPts val="0"/>
              </a:spcBef>
              <a:spcAft>
                <a:spcPts val="0"/>
              </a:spcAft>
              <a:buNone/>
            </a:pPr>
            <a:r>
              <a:rPr lang="en" sz="1300">
                <a:solidFill>
                  <a:srgbClr val="3F51B5"/>
                </a:solidFill>
                <a:latin typeface="Roboto Mono"/>
                <a:ea typeface="Roboto Mono"/>
                <a:cs typeface="Roboto Mono"/>
                <a:sym typeface="Roboto Mono"/>
              </a:rPr>
              <a:t>GROUP BY status</a:t>
            </a:r>
            <a:r>
              <a:rPr lang="en" sz="1300">
                <a:solidFill>
                  <a:srgbClr val="37474F"/>
                </a:solidFill>
                <a:latin typeface="Roboto Mono"/>
                <a:ea typeface="Roboto Mono"/>
                <a:cs typeface="Roboto Mono"/>
                <a:sym typeface="Roboto Mono"/>
              </a:rPr>
              <a:t>;</a:t>
            </a:r>
            <a:endParaRPr sz="1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99cb9bcabe_0_6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Aggregation Example</a:t>
            </a:r>
            <a:endParaRPr/>
          </a:p>
        </p:txBody>
      </p:sp>
      <p:sp>
        <p:nvSpPr>
          <p:cNvPr id="224" name="Google Shape;224;g399cb9bcabe_0_69"/>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t/>
            </a:r>
            <a:endParaRPr sz="1400">
              <a:latin typeface="Arial"/>
              <a:ea typeface="Arial"/>
              <a:cs typeface="Arial"/>
              <a:sym typeface="Arial"/>
            </a:endParaRPr>
          </a:p>
          <a:p>
            <a:pPr indent="0" lvl="0" marL="0" rtl="0" algn="l">
              <a:lnSpc>
                <a:spcPct val="90000"/>
              </a:lnSpc>
              <a:spcBef>
                <a:spcPts val="800"/>
              </a:spcBef>
              <a:spcAft>
                <a:spcPts val="0"/>
              </a:spcAft>
              <a:buSzPts val="2100"/>
              <a:buNone/>
            </a:pPr>
            <a:r>
              <a:t/>
            </a:r>
            <a:endParaRPr/>
          </a:p>
        </p:txBody>
      </p:sp>
      <p:graphicFrame>
        <p:nvGraphicFramePr>
          <p:cNvPr id="225" name="Google Shape;225;g399cb9bcabe_0_69"/>
          <p:cNvGraphicFramePr/>
          <p:nvPr/>
        </p:nvGraphicFramePr>
        <p:xfrm>
          <a:off x="3289250" y="3611925"/>
          <a:ext cx="3000000" cy="3000000"/>
        </p:xfrm>
        <a:graphic>
          <a:graphicData uri="http://schemas.openxmlformats.org/drawingml/2006/table">
            <a:tbl>
              <a:tblPr>
                <a:noFill/>
                <a:tableStyleId>{FD1FB491-FCF1-4931-9B01-D58F9D746A22}</a:tableStyleId>
              </a:tblPr>
              <a:tblGrid>
                <a:gridCol w="1809750"/>
                <a:gridCol w="1809750"/>
                <a:gridCol w="18097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city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amount_sum</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Calgary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600</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Toronto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300</a:t>
                      </a:r>
                      <a:endParaRPr sz="1400" u="none" cap="none" strike="noStrike"/>
                    </a:p>
                  </a:txBody>
                  <a:tcPr marT="91425" marB="91425" marR="91425" marL="91425"/>
                </a:tc>
              </a:tr>
            </a:tbl>
          </a:graphicData>
        </a:graphic>
      </p:graphicFrame>
      <p:graphicFrame>
        <p:nvGraphicFramePr>
          <p:cNvPr id="226" name="Google Shape;226;g399cb9bcabe_0_69"/>
          <p:cNvGraphicFramePr/>
          <p:nvPr/>
        </p:nvGraphicFramePr>
        <p:xfrm>
          <a:off x="77750" y="1031375"/>
          <a:ext cx="3000000" cy="3000000"/>
        </p:xfrm>
        <a:graphic>
          <a:graphicData uri="http://schemas.openxmlformats.org/drawingml/2006/table">
            <a:tbl>
              <a:tblPr>
                <a:noFill/>
                <a:tableStyleId>{FD1FB491-FCF1-4931-9B01-D58F9D746A22}</a:tableStyleId>
              </a:tblPr>
              <a:tblGrid>
                <a:gridCol w="836650"/>
                <a:gridCol w="1856075"/>
                <a:gridCol w="966425"/>
                <a:gridCol w="35798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order_id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customer_id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city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amount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Calgary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150</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Toronto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300</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1"/>
                          </a:solidFill>
                        </a:rPr>
                        <a:t>Calgary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450</a:t>
                      </a:r>
                      <a:endParaRPr sz="1400" u="none" cap="none" strike="noStrike"/>
                    </a:p>
                  </a:txBody>
                  <a:tcPr marT="91425" marB="91425" marR="91425" marL="91425"/>
                </a:tc>
              </a:tr>
            </a:tbl>
          </a:graphicData>
        </a:graphic>
      </p:graphicFrame>
      <p:cxnSp>
        <p:nvCxnSpPr>
          <p:cNvPr id="227" name="Google Shape;227;g399cb9bcabe_0_69"/>
          <p:cNvCxnSpPr/>
          <p:nvPr/>
        </p:nvCxnSpPr>
        <p:spPr>
          <a:xfrm>
            <a:off x="4087000" y="2854400"/>
            <a:ext cx="1816500" cy="519300"/>
          </a:xfrm>
          <a:prstGeom prst="straightConnector1">
            <a:avLst/>
          </a:prstGeom>
          <a:noFill/>
          <a:ln cap="flat" cmpd="sng" w="152400">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99cb9bcabe_0_7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Autofit/>
          </a:bodyPr>
          <a:lstStyle/>
          <a:p>
            <a:pPr indent="0" lvl="0" marL="0" rtl="0" algn="l">
              <a:lnSpc>
                <a:spcPct val="105555"/>
              </a:lnSpc>
              <a:spcBef>
                <a:spcPts val="0"/>
              </a:spcBef>
              <a:spcAft>
                <a:spcPts val="0"/>
              </a:spcAft>
              <a:buSzPts val="2700"/>
              <a:buNone/>
            </a:pPr>
            <a:r>
              <a:rPr lang="en" sz="2200"/>
              <a:t>Data Transformation Components (</a:t>
            </a:r>
            <a:r>
              <a:rPr lang="en" sz="2200"/>
              <a:t>Pivoting and Unpivoting)</a:t>
            </a:r>
            <a:endParaRPr sz="2200"/>
          </a:p>
        </p:txBody>
      </p:sp>
      <p:graphicFrame>
        <p:nvGraphicFramePr>
          <p:cNvPr id="233" name="Google Shape;233;g399cb9bcabe_0_77"/>
          <p:cNvGraphicFramePr/>
          <p:nvPr/>
        </p:nvGraphicFramePr>
        <p:xfrm>
          <a:off x="1038925" y="1122875"/>
          <a:ext cx="3000000" cy="3000000"/>
        </p:xfrm>
        <a:graphic>
          <a:graphicData uri="http://schemas.openxmlformats.org/drawingml/2006/table">
            <a:tbl>
              <a:tblPr>
                <a:noFill/>
                <a:tableStyleId>{FD1FB491-FCF1-4931-9B01-D58F9D746A22}</a:tableStyleId>
              </a:tblPr>
              <a:tblGrid>
                <a:gridCol w="1809750"/>
                <a:gridCol w="1809750"/>
                <a:gridCol w="18097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Product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Month</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Sales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Laptop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October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10</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Laptop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1"/>
                          </a:solidFill>
                        </a:rPr>
                        <a:t>November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15</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Cell Phone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1"/>
                          </a:solidFill>
                        </a:rPr>
                        <a:t>October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20</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1"/>
                          </a:solidFill>
                        </a:rPr>
                        <a:t>Cell Phone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1"/>
                          </a:solidFill>
                        </a:rPr>
                        <a:t>November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5</a:t>
                      </a:r>
                      <a:endParaRPr sz="1400" u="none" cap="none" strike="noStrike"/>
                    </a:p>
                  </a:txBody>
                  <a:tcPr marT="91425" marB="91425" marR="91425" marL="91425"/>
                </a:tc>
              </a:tr>
            </a:tbl>
          </a:graphicData>
        </a:graphic>
      </p:graphicFrame>
      <p:graphicFrame>
        <p:nvGraphicFramePr>
          <p:cNvPr id="234" name="Google Shape;234;g399cb9bcabe_0_77"/>
          <p:cNvGraphicFramePr/>
          <p:nvPr/>
        </p:nvGraphicFramePr>
        <p:xfrm>
          <a:off x="728650" y="3183450"/>
          <a:ext cx="3000000" cy="3000000"/>
        </p:xfrm>
        <a:graphic>
          <a:graphicData uri="http://schemas.openxmlformats.org/drawingml/2006/table">
            <a:tbl>
              <a:tblPr>
                <a:noFill/>
                <a:tableStyleId>{FD1FB491-FCF1-4931-9B01-D58F9D746A22}</a:tableStyleId>
              </a:tblPr>
              <a:tblGrid>
                <a:gridCol w="2413000"/>
                <a:gridCol w="2413000"/>
                <a:gridCol w="24130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Product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Sales </a:t>
                      </a:r>
                      <a:r>
                        <a:rPr lang="en" sz="1400" u="none" cap="none" strike="noStrike">
                          <a:solidFill>
                            <a:schemeClr val="dk1"/>
                          </a:solidFill>
                        </a:rPr>
                        <a:t>October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Sales November</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Laptop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15</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Cell Phone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5</a:t>
                      </a:r>
                      <a:endParaRPr sz="1400" u="none" cap="none" strike="noStrike"/>
                    </a:p>
                  </a:txBody>
                  <a:tcPr marT="91425" marB="91425" marR="91425" marL="91425"/>
                </a:tc>
              </a:tr>
            </a:tbl>
          </a:graphicData>
        </a:graphic>
      </p:graphicFrame>
      <p:cxnSp>
        <p:nvCxnSpPr>
          <p:cNvPr id="235" name="Google Shape;235;g399cb9bcabe_0_77"/>
          <p:cNvCxnSpPr/>
          <p:nvPr/>
        </p:nvCxnSpPr>
        <p:spPr>
          <a:xfrm flipH="1" rot="-5400000">
            <a:off x="6108625" y="1939950"/>
            <a:ext cx="1430700" cy="876000"/>
          </a:xfrm>
          <a:prstGeom prst="curvedConnector3">
            <a:avLst>
              <a:gd fmla="val -3741" name="adj1"/>
            </a:avLst>
          </a:prstGeom>
          <a:noFill/>
          <a:ln cap="flat" cmpd="sng" w="9525">
            <a:solidFill>
              <a:schemeClr val="dk2"/>
            </a:solidFill>
            <a:prstDash val="solid"/>
            <a:round/>
            <a:headEnd len="sm" w="sm" type="none"/>
            <a:tailEnd len="med" w="med" type="triangle"/>
          </a:ln>
        </p:spPr>
      </p:cxnSp>
      <p:sp>
        <p:nvSpPr>
          <p:cNvPr id="236" name="Google Shape;236;g399cb9bcabe_0_77"/>
          <p:cNvSpPr txBox="1"/>
          <p:nvPr/>
        </p:nvSpPr>
        <p:spPr>
          <a:xfrm>
            <a:off x="1398200" y="4451625"/>
            <a:ext cx="5785800" cy="355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Each row represents one item, with other values distributed into columns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99cb9bcabe_0_8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Transformation &lt;-&gt; Data Ingestion</a:t>
            </a:r>
            <a:endParaRPr/>
          </a:p>
        </p:txBody>
      </p:sp>
      <p:sp>
        <p:nvSpPr>
          <p:cNvPr id="242" name="Google Shape;242;g399cb9bcabe_0_85"/>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p>
            <a:pPr indent="-304800" lvl="0" marL="457200" rtl="0" algn="l">
              <a:lnSpc>
                <a:spcPct val="150000"/>
              </a:lnSpc>
              <a:spcBef>
                <a:spcPts val="800"/>
              </a:spcBef>
              <a:spcAft>
                <a:spcPts val="0"/>
              </a:spcAft>
              <a:buSzPts val="1200"/>
              <a:buChar char="●"/>
            </a:pPr>
            <a:r>
              <a:rPr lang="en" sz="1200"/>
              <a:t>The choice of data transformation and ingestion often depends on one another.</a:t>
            </a:r>
            <a:endParaRPr sz="1200"/>
          </a:p>
          <a:p>
            <a:pPr indent="-304800" lvl="0" marL="457200" rtl="0" algn="l">
              <a:lnSpc>
                <a:spcPct val="150000"/>
              </a:lnSpc>
              <a:spcBef>
                <a:spcPts val="0"/>
              </a:spcBef>
              <a:spcAft>
                <a:spcPts val="0"/>
              </a:spcAft>
              <a:buSzPts val="1200"/>
              <a:buChar char="●"/>
            </a:pPr>
            <a:r>
              <a:rPr lang="en" sz="1200"/>
              <a:t>For streaming data ingestion, real-time transformations are used to process data on the fly.</a:t>
            </a:r>
            <a:endParaRPr sz="1200"/>
          </a:p>
          <a:p>
            <a:pPr indent="-304800" lvl="1" marL="914400" rtl="0" algn="l">
              <a:lnSpc>
                <a:spcPct val="150000"/>
              </a:lnSpc>
              <a:spcBef>
                <a:spcPts val="0"/>
              </a:spcBef>
              <a:spcAft>
                <a:spcPts val="0"/>
              </a:spcAft>
              <a:buSzPts val="1200"/>
              <a:buChar char="○"/>
            </a:pPr>
            <a:r>
              <a:rPr lang="en" sz="1200"/>
              <a:t>A function takes data as input and transform and ingest it into target.</a:t>
            </a:r>
            <a:endParaRPr sz="1200"/>
          </a:p>
          <a:p>
            <a:pPr indent="-304800" lvl="1" marL="914400" rtl="0" algn="l">
              <a:lnSpc>
                <a:spcPct val="150000"/>
              </a:lnSpc>
              <a:spcBef>
                <a:spcPts val="0"/>
              </a:spcBef>
              <a:spcAft>
                <a:spcPts val="0"/>
              </a:spcAft>
              <a:buSzPts val="1200"/>
              <a:buChar char="○"/>
            </a:pPr>
            <a:r>
              <a:rPr lang="en" sz="1200"/>
              <a:t>Aggregation</a:t>
            </a:r>
            <a:r>
              <a:rPr lang="en" sz="1200"/>
              <a:t> is more complex with streaming data.</a:t>
            </a:r>
            <a:endParaRPr sz="1200"/>
          </a:p>
          <a:p>
            <a:pPr indent="-304800" lvl="0" marL="457200" rtl="0" algn="l">
              <a:lnSpc>
                <a:spcPct val="150000"/>
              </a:lnSpc>
              <a:spcBef>
                <a:spcPts val="0"/>
              </a:spcBef>
              <a:spcAft>
                <a:spcPts val="0"/>
              </a:spcAft>
              <a:buSzPts val="1200"/>
              <a:buChar char="●"/>
            </a:pPr>
            <a:r>
              <a:rPr lang="en" sz="1200"/>
              <a:t>For batch data, SQL code or batch processing tools like Spark are more suitable for aggregation.</a:t>
            </a:r>
            <a:endParaRPr sz="1200"/>
          </a:p>
          <a:p>
            <a:pPr indent="-304800" lvl="1" marL="914400" rtl="0" algn="l">
              <a:lnSpc>
                <a:spcPct val="150000"/>
              </a:lnSpc>
              <a:spcBef>
                <a:spcPts val="0"/>
              </a:spcBef>
              <a:spcAft>
                <a:spcPts val="0"/>
              </a:spcAft>
              <a:buSzPts val="1200"/>
              <a:buChar char="○"/>
            </a:pPr>
            <a:r>
              <a:rPr b="1" lang="en" sz="1200"/>
              <a:t>DBT</a:t>
            </a:r>
            <a:r>
              <a:rPr b="1" lang="en" sz="1200"/>
              <a:t> (Data Build Tool)</a:t>
            </a:r>
            <a:r>
              <a:rPr lang="en" sz="1200"/>
              <a:t> has become increasingly popular because it allows for easier implementation of batch transformations within databases or data warehouses.</a:t>
            </a:r>
            <a:endParaRPr sz="1200"/>
          </a:p>
          <a:p>
            <a:pPr indent="0" lvl="0" marL="0" rtl="0" algn="l">
              <a:lnSpc>
                <a:spcPct val="150000"/>
              </a:lnSpc>
              <a:spcBef>
                <a:spcPts val="800"/>
              </a:spcBef>
              <a:spcAft>
                <a:spcPts val="0"/>
              </a:spcAft>
              <a:buSzPts val="2100"/>
              <a:buNone/>
            </a:pPr>
            <a:r>
              <a:t/>
            </a:r>
            <a:endParaRPr sz="1200"/>
          </a:p>
        </p:txBody>
      </p:sp>
      <p:pic>
        <p:nvPicPr>
          <p:cNvPr id="243" name="Google Shape;243;g399cb9bcabe_0_85"/>
          <p:cNvPicPr preferRelativeResize="0"/>
          <p:nvPr/>
        </p:nvPicPr>
        <p:blipFill>
          <a:blip r:embed="rId3">
            <a:alphaModFix/>
          </a:blip>
          <a:stretch>
            <a:fillRect/>
          </a:stretch>
        </p:blipFill>
        <p:spPr>
          <a:xfrm>
            <a:off x="5023025" y="2761725"/>
            <a:ext cx="3969624" cy="1984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99cb9bcabe_0_92"/>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Serving</a:t>
            </a:r>
            <a:endParaRPr/>
          </a:p>
        </p:txBody>
      </p:sp>
      <p:sp>
        <p:nvSpPr>
          <p:cNvPr id="249" name="Google Shape;249;g399cb9bcabe_0_92"/>
          <p:cNvSpPr txBox="1"/>
          <p:nvPr>
            <p:ph idx="1" type="body"/>
          </p:nvPr>
        </p:nvSpPr>
        <p:spPr>
          <a:xfrm>
            <a:off x="273700" y="1059175"/>
            <a:ext cx="88179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en" sz="1600"/>
              <a:t>Data serving is the stage in a data pipeline where transformed data is made available for consumption by end-users, applications, or downstream analytics systems.</a:t>
            </a:r>
            <a:endParaRPr sz="1600"/>
          </a:p>
          <a:p>
            <a:pPr indent="-323850" lvl="0" marL="457200" rtl="0" algn="l">
              <a:lnSpc>
                <a:spcPct val="115000"/>
              </a:lnSpc>
              <a:spcBef>
                <a:spcPts val="800"/>
              </a:spcBef>
              <a:spcAft>
                <a:spcPts val="0"/>
              </a:spcAft>
              <a:buSzPts val="1500"/>
              <a:buAutoNum type="arabicPeriod"/>
            </a:pPr>
            <a:r>
              <a:rPr lang="en" sz="1500"/>
              <a:t>Data Warehouses: Store data in Snowflake so analysts can use it.</a:t>
            </a:r>
            <a:endParaRPr sz="1500"/>
          </a:p>
          <a:p>
            <a:pPr indent="-323850" lvl="0" marL="457200" rtl="0" algn="l">
              <a:lnSpc>
                <a:spcPct val="115000"/>
              </a:lnSpc>
              <a:spcBef>
                <a:spcPts val="0"/>
              </a:spcBef>
              <a:spcAft>
                <a:spcPts val="0"/>
              </a:spcAft>
              <a:buSzPts val="1500"/>
              <a:buAutoNum type="arabicPeriod"/>
            </a:pPr>
            <a:r>
              <a:rPr lang="en" sz="1500"/>
              <a:t>Data Lakes: Store data in csv in Amazon S3 so ML developers can load it.</a:t>
            </a:r>
            <a:endParaRPr sz="1500"/>
          </a:p>
          <a:p>
            <a:pPr indent="-323850" lvl="0" marL="457200" rtl="0" algn="l">
              <a:lnSpc>
                <a:spcPct val="115000"/>
              </a:lnSpc>
              <a:spcBef>
                <a:spcPts val="0"/>
              </a:spcBef>
              <a:spcAft>
                <a:spcPts val="0"/>
              </a:spcAft>
              <a:buSzPts val="1500"/>
              <a:buAutoNum type="arabicPeriod"/>
            </a:pPr>
            <a:r>
              <a:rPr lang="en" sz="1500"/>
              <a:t>Databases</a:t>
            </a:r>
            <a:endParaRPr sz="1500"/>
          </a:p>
          <a:p>
            <a:pPr indent="-323850" lvl="0" marL="457200" rtl="0" algn="l">
              <a:lnSpc>
                <a:spcPct val="115000"/>
              </a:lnSpc>
              <a:spcBef>
                <a:spcPts val="0"/>
              </a:spcBef>
              <a:spcAft>
                <a:spcPts val="0"/>
              </a:spcAft>
              <a:buSzPts val="1500"/>
              <a:buAutoNum type="arabicPeriod"/>
            </a:pPr>
            <a:r>
              <a:rPr lang="en" sz="1500"/>
              <a:t>APIs: Give API to other companies who want your data.</a:t>
            </a:r>
            <a:endParaRPr sz="1500"/>
          </a:p>
          <a:p>
            <a:pPr indent="-323850" lvl="0" marL="457200" rtl="0" algn="l">
              <a:lnSpc>
                <a:spcPct val="115000"/>
              </a:lnSpc>
              <a:spcBef>
                <a:spcPts val="0"/>
              </a:spcBef>
              <a:spcAft>
                <a:spcPts val="0"/>
              </a:spcAft>
              <a:buSzPts val="1500"/>
              <a:buAutoNum type="arabicPeriod"/>
            </a:pPr>
            <a:r>
              <a:rPr lang="en" sz="1500"/>
              <a:t>SFTP / File Share: Deliver processed data in files (CSV, Parquet, JSON, etc.) to internal or external systems.</a:t>
            </a:r>
            <a:endParaRPr sz="1500"/>
          </a:p>
          <a:p>
            <a:pPr indent="-323850" lvl="0" marL="457200" rtl="0" algn="l">
              <a:lnSpc>
                <a:spcPct val="115000"/>
              </a:lnSpc>
              <a:spcBef>
                <a:spcPts val="0"/>
              </a:spcBef>
              <a:spcAft>
                <a:spcPts val="0"/>
              </a:spcAft>
              <a:buSzPts val="1500"/>
              <a:buChar char="●"/>
            </a:pPr>
            <a:r>
              <a:rPr lang="en" sz="1500"/>
              <a:t>Serving can be internal or external</a:t>
            </a:r>
            <a:endParaRPr sz="1500"/>
          </a:p>
          <a:p>
            <a:pPr indent="-323850" lvl="1" marL="914400" rtl="0" algn="l">
              <a:lnSpc>
                <a:spcPct val="115000"/>
              </a:lnSpc>
              <a:spcBef>
                <a:spcPts val="0"/>
              </a:spcBef>
              <a:spcAft>
                <a:spcPts val="0"/>
              </a:spcAft>
              <a:buSzPts val="1500"/>
              <a:buChar char="○"/>
            </a:pPr>
            <a:r>
              <a:rPr lang="en" sz="1500"/>
              <a:t>Internal: ML developers, Data Analysts</a:t>
            </a:r>
            <a:endParaRPr sz="1500"/>
          </a:p>
          <a:p>
            <a:pPr indent="-323850" lvl="1" marL="914400" rtl="0" algn="l">
              <a:lnSpc>
                <a:spcPct val="115000"/>
              </a:lnSpc>
              <a:spcBef>
                <a:spcPts val="0"/>
              </a:spcBef>
              <a:spcAft>
                <a:spcPts val="0"/>
              </a:spcAft>
              <a:buSzPts val="1500"/>
              <a:buChar char="○"/>
            </a:pPr>
            <a:r>
              <a:rPr lang="en" sz="1500"/>
              <a:t>External: Third Party Clients, Legal Entities</a:t>
            </a:r>
            <a:endParaRPr sz="1500"/>
          </a:p>
          <a:p>
            <a:pPr indent="-330200" lvl="0" marL="457200" rtl="0" algn="l">
              <a:lnSpc>
                <a:spcPct val="115000"/>
              </a:lnSpc>
              <a:spcBef>
                <a:spcPts val="0"/>
              </a:spcBef>
              <a:spcAft>
                <a:spcPts val="0"/>
              </a:spcAft>
              <a:buSzPts val="1600"/>
              <a:buChar char="●"/>
            </a:pPr>
            <a:r>
              <a:rPr lang="en" sz="1600"/>
              <a:t>Sometimes data serving on your end, is the data ingestion on the users ends.</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99cb9bcabe_0_112"/>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Pipeline Characteristics</a:t>
            </a:r>
            <a:endParaRPr/>
          </a:p>
        </p:txBody>
      </p:sp>
      <p:sp>
        <p:nvSpPr>
          <p:cNvPr id="255" name="Google Shape;255;g399cb9bcabe_0_112"/>
          <p:cNvSpPr txBox="1"/>
          <p:nvPr>
            <p:ph idx="1" type="body"/>
          </p:nvPr>
        </p:nvSpPr>
        <p:spPr>
          <a:xfrm>
            <a:off x="273700" y="1059175"/>
            <a:ext cx="8817900" cy="40008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en" sz="1600"/>
              <a:t>Each pipeline has a few characteristics…</a:t>
            </a:r>
            <a:endParaRPr sz="1600"/>
          </a:p>
          <a:p>
            <a:pPr indent="-330200" lvl="0" marL="457200" rtl="0" algn="l">
              <a:lnSpc>
                <a:spcPct val="115000"/>
              </a:lnSpc>
              <a:spcBef>
                <a:spcPts val="800"/>
              </a:spcBef>
              <a:spcAft>
                <a:spcPts val="0"/>
              </a:spcAft>
              <a:buSzPts val="1600"/>
              <a:buChar char="●"/>
            </a:pPr>
            <a:r>
              <a:rPr lang="en" sz="1600"/>
              <a:t>Bounded vs Unbounded</a:t>
            </a:r>
            <a:endParaRPr sz="1600"/>
          </a:p>
          <a:p>
            <a:pPr indent="-330200" lvl="1" marL="914400" rtl="0" algn="l">
              <a:lnSpc>
                <a:spcPct val="115000"/>
              </a:lnSpc>
              <a:spcBef>
                <a:spcPts val="0"/>
              </a:spcBef>
              <a:spcAft>
                <a:spcPts val="0"/>
              </a:spcAft>
              <a:buSzPts val="1600"/>
              <a:buChar char="○"/>
            </a:pPr>
            <a:r>
              <a:rPr lang="en" sz="1600"/>
              <a:t>Batch pipelines are bounded.</a:t>
            </a:r>
            <a:endParaRPr sz="1600"/>
          </a:p>
          <a:p>
            <a:pPr indent="0" lvl="0" marL="457200" rtl="0" algn="l">
              <a:lnSpc>
                <a:spcPct val="115000"/>
              </a:lnSpc>
              <a:spcBef>
                <a:spcPts val="800"/>
              </a:spcBef>
              <a:spcAft>
                <a:spcPts val="0"/>
              </a:spcAft>
              <a:buNone/>
            </a:pPr>
            <a:r>
              <a:t/>
            </a:r>
            <a:endParaRPr sz="1600"/>
          </a:p>
          <a:p>
            <a:pPr indent="-330200" lvl="0" marL="457200" rtl="0" algn="l">
              <a:lnSpc>
                <a:spcPct val="115000"/>
              </a:lnSpc>
              <a:spcBef>
                <a:spcPts val="800"/>
              </a:spcBef>
              <a:spcAft>
                <a:spcPts val="0"/>
              </a:spcAft>
              <a:buSzPts val="1600"/>
              <a:buChar char="●"/>
            </a:pPr>
            <a:r>
              <a:rPr lang="en" sz="1600"/>
              <a:t>Delivery Time</a:t>
            </a:r>
            <a:endParaRPr sz="1600"/>
          </a:p>
          <a:p>
            <a:pPr indent="-330200" lvl="1" marL="914400" rtl="0" algn="l">
              <a:lnSpc>
                <a:spcPct val="115000"/>
              </a:lnSpc>
              <a:spcBef>
                <a:spcPts val="0"/>
              </a:spcBef>
              <a:spcAft>
                <a:spcPts val="0"/>
              </a:spcAft>
              <a:buSzPts val="1600"/>
              <a:buChar char="○"/>
            </a:pPr>
            <a:r>
              <a:rPr lang="en" sz="1600"/>
              <a:t>Fast</a:t>
            </a:r>
            <a:endParaRPr sz="1600"/>
          </a:p>
          <a:p>
            <a:pPr indent="-330200" lvl="1" marL="914400" rtl="0" algn="l">
              <a:lnSpc>
                <a:spcPct val="115000"/>
              </a:lnSpc>
              <a:spcBef>
                <a:spcPts val="0"/>
              </a:spcBef>
              <a:spcAft>
                <a:spcPts val="0"/>
              </a:spcAft>
              <a:buSzPts val="1600"/>
              <a:buChar char="○"/>
            </a:pPr>
            <a:r>
              <a:rPr lang="en" sz="1600"/>
              <a:t>Slow</a:t>
            </a:r>
            <a:endParaRPr sz="1600"/>
          </a:p>
          <a:p>
            <a:pPr indent="-330200" lvl="1" marL="914400" rtl="0" algn="l">
              <a:lnSpc>
                <a:spcPct val="115000"/>
              </a:lnSpc>
              <a:spcBef>
                <a:spcPts val="0"/>
              </a:spcBef>
              <a:spcAft>
                <a:spcPts val="0"/>
              </a:spcAft>
              <a:buSzPts val="1600"/>
              <a:buChar char="○"/>
            </a:pPr>
            <a:r>
              <a:rPr lang="en" sz="1600"/>
              <a:t>E.g., once a day or once a month</a:t>
            </a:r>
            <a:endParaRPr sz="1600"/>
          </a:p>
          <a:p>
            <a:pPr indent="0" lvl="0" marL="0" rtl="0" algn="l">
              <a:lnSpc>
                <a:spcPct val="115000"/>
              </a:lnSpc>
              <a:spcBef>
                <a:spcPts val="800"/>
              </a:spcBef>
              <a:spcAft>
                <a:spcPts val="0"/>
              </a:spcAft>
              <a:buNone/>
            </a:pPr>
            <a:r>
              <a:t/>
            </a:r>
            <a:endParaRPr sz="1600"/>
          </a:p>
          <a:p>
            <a:pPr indent="-330200" lvl="0" marL="457200" rtl="0" algn="l">
              <a:lnSpc>
                <a:spcPct val="115000"/>
              </a:lnSpc>
              <a:spcBef>
                <a:spcPts val="800"/>
              </a:spcBef>
              <a:spcAft>
                <a:spcPts val="0"/>
              </a:spcAft>
              <a:buSzPts val="1600"/>
              <a:buChar char="●"/>
            </a:pPr>
            <a:r>
              <a:rPr lang="en" sz="1600"/>
              <a:t>Synchronous</a:t>
            </a:r>
            <a:r>
              <a:rPr lang="en" sz="1600"/>
              <a:t> vs </a:t>
            </a:r>
            <a:r>
              <a:rPr lang="en" sz="1600"/>
              <a:t>Asynchronous: </a:t>
            </a:r>
            <a:endParaRPr sz="1600"/>
          </a:p>
          <a:p>
            <a:pPr indent="-330200" lvl="1" marL="914400" rtl="0" algn="l">
              <a:lnSpc>
                <a:spcPct val="115000"/>
              </a:lnSpc>
              <a:spcBef>
                <a:spcPts val="0"/>
              </a:spcBef>
              <a:spcAft>
                <a:spcPts val="0"/>
              </a:spcAft>
              <a:buSzPts val="1600"/>
              <a:buChar char="○"/>
            </a:pPr>
            <a:r>
              <a:rPr lang="en" sz="1600"/>
              <a:t>Synchronous: Data is ingested in order it is received</a:t>
            </a:r>
            <a:endParaRPr sz="1600"/>
          </a:p>
          <a:p>
            <a:pPr indent="-330200" lvl="1" marL="914400" rtl="0" algn="l">
              <a:lnSpc>
                <a:spcPct val="115000"/>
              </a:lnSpc>
              <a:spcBef>
                <a:spcPts val="0"/>
              </a:spcBef>
              <a:spcAft>
                <a:spcPts val="0"/>
              </a:spcAft>
              <a:buSzPts val="1600"/>
              <a:buChar char="○"/>
            </a:pPr>
            <a:r>
              <a:rPr lang="en" sz="1600"/>
              <a:t>Asynchronous: Data may be ingested in a different order than it was produced.</a:t>
            </a:r>
            <a:endParaRPr sz="1600"/>
          </a:p>
          <a:p>
            <a:pPr indent="0" lvl="0" marL="457200" rtl="0" algn="l">
              <a:lnSpc>
                <a:spcPct val="115000"/>
              </a:lnSpc>
              <a:spcBef>
                <a:spcPts val="800"/>
              </a:spcBef>
              <a:spcAft>
                <a:spcPts val="0"/>
              </a:spcAft>
              <a:buNone/>
            </a:pPr>
            <a:r>
              <a:t/>
            </a:r>
            <a:endParaRPr sz="1600"/>
          </a:p>
        </p:txBody>
      </p:sp>
      <p:pic>
        <p:nvPicPr>
          <p:cNvPr id="256" name="Google Shape;256;g399cb9bcabe_0_112"/>
          <p:cNvPicPr preferRelativeResize="0"/>
          <p:nvPr/>
        </p:nvPicPr>
        <p:blipFill rotWithShape="1">
          <a:blip r:embed="rId3">
            <a:alphaModFix/>
          </a:blip>
          <a:srcRect b="0" l="0" r="0" t="0"/>
          <a:stretch/>
        </p:blipFill>
        <p:spPr>
          <a:xfrm>
            <a:off x="5069350" y="1059175"/>
            <a:ext cx="3751825" cy="2623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99cb9bcabe_0_118"/>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Pipeline Characteristics</a:t>
            </a:r>
            <a:endParaRPr/>
          </a:p>
        </p:txBody>
      </p:sp>
      <p:sp>
        <p:nvSpPr>
          <p:cNvPr id="262" name="Google Shape;262;g399cb9bcabe_0_118"/>
          <p:cNvSpPr txBox="1"/>
          <p:nvPr>
            <p:ph idx="1" type="body"/>
          </p:nvPr>
        </p:nvSpPr>
        <p:spPr>
          <a:xfrm>
            <a:off x="273700" y="1059175"/>
            <a:ext cx="8817900" cy="40008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Throughput</a:t>
            </a:r>
            <a:r>
              <a:rPr lang="en" sz="1600"/>
              <a:t> and </a:t>
            </a:r>
            <a:r>
              <a:rPr lang="en" sz="1600"/>
              <a:t>Scalability: </a:t>
            </a:r>
            <a:r>
              <a:rPr lang="en" sz="1600"/>
              <a:t>How easily does the pipeline scale up?</a:t>
            </a:r>
            <a:endParaRPr sz="1600"/>
          </a:p>
          <a:p>
            <a:pPr indent="-330200" lvl="1" marL="914400" rtl="0" algn="l">
              <a:lnSpc>
                <a:spcPct val="150000"/>
              </a:lnSpc>
              <a:spcBef>
                <a:spcPts val="0"/>
              </a:spcBef>
              <a:spcAft>
                <a:spcPts val="0"/>
              </a:spcAft>
              <a:buSzPts val="1600"/>
              <a:buChar char="○"/>
            </a:pPr>
            <a:r>
              <a:rPr lang="en" sz="1600"/>
              <a:t>Huge data might arrive out of a sudden</a:t>
            </a:r>
            <a:endParaRPr sz="1600"/>
          </a:p>
          <a:p>
            <a:pPr indent="-330200" lvl="2" marL="1371600" rtl="0" algn="l">
              <a:lnSpc>
                <a:spcPct val="150000"/>
              </a:lnSpc>
              <a:spcBef>
                <a:spcPts val="0"/>
              </a:spcBef>
              <a:spcAft>
                <a:spcPts val="0"/>
              </a:spcAft>
              <a:buSzPts val="1600"/>
              <a:buChar char="■"/>
            </a:pPr>
            <a:r>
              <a:rPr lang="en" sz="1600"/>
              <a:t>A new data source is connected</a:t>
            </a:r>
            <a:endParaRPr sz="1600"/>
          </a:p>
          <a:p>
            <a:pPr indent="-330200" lvl="2" marL="1371600" rtl="0" algn="l">
              <a:lnSpc>
                <a:spcPct val="150000"/>
              </a:lnSpc>
              <a:spcBef>
                <a:spcPts val="0"/>
              </a:spcBef>
              <a:spcAft>
                <a:spcPts val="0"/>
              </a:spcAft>
              <a:buSzPts val="1600"/>
              <a:buChar char="■"/>
            </a:pPr>
            <a:r>
              <a:rPr lang="en" sz="1600"/>
              <a:t>A source that was previously offline (such as API) has come back online again</a:t>
            </a:r>
            <a:endParaRPr sz="1600"/>
          </a:p>
          <a:p>
            <a:pPr indent="-330200" lvl="1" marL="914400" rtl="0" algn="l">
              <a:lnSpc>
                <a:spcPct val="150000"/>
              </a:lnSpc>
              <a:spcBef>
                <a:spcPts val="0"/>
              </a:spcBef>
              <a:spcAft>
                <a:spcPts val="0"/>
              </a:spcAft>
              <a:buSzPts val="1600"/>
              <a:buChar char="○"/>
            </a:pPr>
            <a:r>
              <a:rPr lang="en" sz="1600"/>
              <a:t>A huge bonus is for a system that automatically scales up and down</a:t>
            </a:r>
            <a:endParaRPr sz="1600"/>
          </a:p>
          <a:p>
            <a:pPr indent="-330200" lvl="1" marL="914400" rtl="0" algn="l">
              <a:lnSpc>
                <a:spcPct val="150000"/>
              </a:lnSpc>
              <a:spcBef>
                <a:spcPts val="0"/>
              </a:spcBef>
              <a:spcAft>
                <a:spcPts val="0"/>
              </a:spcAft>
              <a:buSzPts val="1600"/>
              <a:buChar char="○"/>
            </a:pPr>
            <a:r>
              <a:rPr lang="en" sz="1600"/>
              <a:t>Vertical Scaling vs Horizontal Scaling vs Elastic Cloud Scaling</a:t>
            </a:r>
            <a:endParaRPr sz="1600"/>
          </a:p>
          <a:p>
            <a:pPr indent="-330200" lvl="0" marL="457200" rtl="0" algn="l">
              <a:lnSpc>
                <a:spcPct val="150000"/>
              </a:lnSpc>
              <a:spcBef>
                <a:spcPts val="0"/>
              </a:spcBef>
              <a:spcAft>
                <a:spcPts val="0"/>
              </a:spcAft>
              <a:buSzPts val="1600"/>
              <a:buChar char="●"/>
            </a:pPr>
            <a:r>
              <a:rPr lang="en" sz="1600"/>
              <a:t>Reliability</a:t>
            </a:r>
            <a:endParaRPr sz="1600"/>
          </a:p>
          <a:p>
            <a:pPr indent="-330200" lvl="1" marL="914400" rtl="0" algn="l">
              <a:lnSpc>
                <a:spcPct val="150000"/>
              </a:lnSpc>
              <a:spcBef>
                <a:spcPts val="0"/>
              </a:spcBef>
              <a:spcAft>
                <a:spcPts val="0"/>
              </a:spcAft>
              <a:buSzPts val="1600"/>
              <a:buChar char="○"/>
            </a:pPr>
            <a:r>
              <a:rPr lang="en" sz="1600"/>
              <a:t>Uptime: The percentage of time the pipeline is ingesting data.</a:t>
            </a:r>
            <a:endParaRPr sz="1600"/>
          </a:p>
          <a:p>
            <a:pPr indent="-330200" lvl="1" marL="914400" rtl="0" algn="l">
              <a:lnSpc>
                <a:spcPct val="150000"/>
              </a:lnSpc>
              <a:spcBef>
                <a:spcPts val="0"/>
              </a:spcBef>
              <a:spcAft>
                <a:spcPts val="0"/>
              </a:spcAft>
              <a:buSzPts val="1600"/>
              <a:buChar char="○"/>
            </a:pPr>
            <a:r>
              <a:rPr lang="en" sz="1600"/>
              <a:t>Data: What percentage of data could be lost or corrupted?</a:t>
            </a:r>
            <a:endParaRPr sz="1600"/>
          </a:p>
          <a:p>
            <a:pPr indent="-330200" lvl="2" marL="1371600" rtl="0" algn="l">
              <a:lnSpc>
                <a:spcPct val="150000"/>
              </a:lnSpc>
              <a:spcBef>
                <a:spcPts val="0"/>
              </a:spcBef>
              <a:spcAft>
                <a:spcPts val="0"/>
              </a:spcAft>
              <a:buSzPts val="1600"/>
              <a:buChar char="■"/>
            </a:pPr>
            <a:r>
              <a:rPr lang="en" sz="1600"/>
              <a:t>Streaming pipelines start to discard data if their capacity is full.</a:t>
            </a:r>
            <a:endParaRPr sz="1600"/>
          </a:p>
          <a:p>
            <a:pPr indent="0" lvl="0" marL="1371600" rtl="0" algn="l">
              <a:lnSpc>
                <a:spcPct val="150000"/>
              </a:lnSpc>
              <a:spcBef>
                <a:spcPts val="0"/>
              </a:spcBef>
              <a:spcAft>
                <a:spcPts val="0"/>
              </a:spcAft>
              <a:buNone/>
            </a:pPr>
            <a:r>
              <a:t/>
            </a:r>
            <a:endParaRPr sz="1600"/>
          </a:p>
          <a:p>
            <a:pPr indent="0" lvl="0" marL="457200" rtl="0" algn="l">
              <a:lnSpc>
                <a:spcPct val="115000"/>
              </a:lnSpc>
              <a:spcBef>
                <a:spcPts val="800"/>
              </a:spcBef>
              <a:spcAft>
                <a:spcPts val="0"/>
              </a:spcAft>
              <a:buNone/>
            </a:pPr>
            <a:r>
              <a:t/>
            </a:r>
            <a:endParaRPr sz="1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99cb9bcabe_0_12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Pipeline Characteristics</a:t>
            </a:r>
            <a:endParaRPr/>
          </a:p>
        </p:txBody>
      </p:sp>
      <p:sp>
        <p:nvSpPr>
          <p:cNvPr id="268" name="Google Shape;268;g399cb9bcabe_0_124"/>
          <p:cNvSpPr txBox="1"/>
          <p:nvPr>
            <p:ph idx="1" type="body"/>
          </p:nvPr>
        </p:nvSpPr>
        <p:spPr>
          <a:xfrm>
            <a:off x="273700" y="1059175"/>
            <a:ext cx="8817900" cy="40008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Serialization: Is the data </a:t>
            </a:r>
            <a:r>
              <a:rPr lang="en" sz="1600"/>
              <a:t>serialized</a:t>
            </a:r>
            <a:r>
              <a:rPr lang="en" sz="1600"/>
              <a:t> during ingestion?</a:t>
            </a:r>
            <a:endParaRPr sz="1600"/>
          </a:p>
          <a:p>
            <a:pPr indent="-330200" lvl="1" marL="914400" rtl="0" algn="l">
              <a:lnSpc>
                <a:spcPct val="115000"/>
              </a:lnSpc>
              <a:spcBef>
                <a:spcPts val="0"/>
              </a:spcBef>
              <a:spcAft>
                <a:spcPts val="0"/>
              </a:spcAft>
              <a:buSzPts val="1600"/>
              <a:buChar char="○"/>
            </a:pPr>
            <a:r>
              <a:rPr lang="en" sz="1600"/>
              <a:t>Serialization decreases the size. Reduces network bandwidth requirements. But, increases complexities and hurts the performance</a:t>
            </a:r>
            <a:endParaRPr sz="1600"/>
          </a:p>
          <a:p>
            <a:pPr indent="-330200" lvl="1" marL="914400" rtl="0" algn="l">
              <a:lnSpc>
                <a:spcPct val="115000"/>
              </a:lnSpc>
              <a:spcBef>
                <a:spcPts val="0"/>
              </a:spcBef>
              <a:spcAft>
                <a:spcPts val="0"/>
              </a:spcAft>
              <a:buSzPts val="1600"/>
              <a:buChar char="○"/>
            </a:pPr>
            <a:r>
              <a:rPr lang="en" sz="1600"/>
              <a:t>Encryption: Payment Methods.</a:t>
            </a:r>
            <a:endParaRPr sz="1600"/>
          </a:p>
          <a:p>
            <a:pPr indent="0" lvl="0" marL="914400" rtl="0" algn="l">
              <a:lnSpc>
                <a:spcPct val="115000"/>
              </a:lnSpc>
              <a:spcBef>
                <a:spcPts val="800"/>
              </a:spcBef>
              <a:spcAft>
                <a:spcPts val="0"/>
              </a:spcAft>
              <a:buNone/>
            </a:pPr>
            <a:r>
              <a:t/>
            </a:r>
            <a:endParaRPr sz="1600"/>
          </a:p>
          <a:p>
            <a:pPr indent="-330200" lvl="0" marL="457200" rtl="0" algn="l">
              <a:lnSpc>
                <a:spcPct val="150000"/>
              </a:lnSpc>
              <a:spcBef>
                <a:spcPts val="0"/>
              </a:spcBef>
              <a:spcAft>
                <a:spcPts val="0"/>
              </a:spcAft>
              <a:buSzPts val="1600"/>
              <a:buChar char="●"/>
            </a:pPr>
            <a:r>
              <a:rPr lang="en" sz="1600"/>
              <a:t>Adaptability to Source Changes: What if the source, adds or removes a column or a table.</a:t>
            </a:r>
            <a:endParaRPr sz="1600"/>
          </a:p>
          <a:p>
            <a:pPr indent="-330200" lvl="1" marL="914400" rtl="0" algn="l">
              <a:lnSpc>
                <a:spcPct val="150000"/>
              </a:lnSpc>
              <a:spcBef>
                <a:spcPts val="0"/>
              </a:spcBef>
              <a:spcAft>
                <a:spcPts val="0"/>
              </a:spcAft>
              <a:buSzPts val="1600"/>
              <a:buChar char="○"/>
            </a:pPr>
            <a:r>
              <a:rPr lang="en" sz="1600"/>
              <a:t>s</a:t>
            </a:r>
            <a:r>
              <a:rPr lang="en" sz="1600"/>
              <a:t>elect a,b,c from source; [source drops column a].</a:t>
            </a:r>
            <a:endParaRPr sz="1600"/>
          </a:p>
          <a:p>
            <a:pPr indent="0" lvl="0" marL="1371600" rtl="0" algn="l">
              <a:lnSpc>
                <a:spcPct val="150000"/>
              </a:lnSpc>
              <a:spcBef>
                <a:spcPts val="0"/>
              </a:spcBef>
              <a:spcAft>
                <a:spcPts val="0"/>
              </a:spcAft>
              <a:buNone/>
            </a:pPr>
            <a:r>
              <a:t/>
            </a:r>
            <a:endParaRPr sz="1600"/>
          </a:p>
          <a:p>
            <a:pPr indent="0" lvl="0" marL="457200" rtl="0" algn="l">
              <a:lnSpc>
                <a:spcPct val="115000"/>
              </a:lnSpc>
              <a:spcBef>
                <a:spcPts val="800"/>
              </a:spcBef>
              <a:spcAft>
                <a:spcPts val="0"/>
              </a:spcAft>
              <a:buNone/>
            </a:pPr>
            <a:r>
              <a:t/>
            </a:r>
            <a:endParaRPr sz="16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ETL </a:t>
            </a:r>
            <a:r>
              <a:rPr lang="en"/>
              <a:t>(Extract, Transform, Load)</a:t>
            </a:r>
            <a:endParaRPr/>
          </a:p>
        </p:txBody>
      </p:sp>
      <p:sp>
        <p:nvSpPr>
          <p:cNvPr id="274" name="Google Shape;274;p3"/>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ETL is a specific type of data pipeline that stands for Extract, Transform, Load.</a:t>
            </a:r>
            <a:endParaRPr sz="1600"/>
          </a:p>
          <a:p>
            <a:pPr indent="-330200" lvl="1" marL="914400" rtl="0" algn="l">
              <a:lnSpc>
                <a:spcPct val="115000"/>
              </a:lnSpc>
              <a:spcBef>
                <a:spcPts val="400"/>
              </a:spcBef>
              <a:spcAft>
                <a:spcPts val="0"/>
              </a:spcAft>
              <a:buClr>
                <a:srgbClr val="FBB031"/>
              </a:buClr>
              <a:buSzPts val="1600"/>
              <a:buChar char="○"/>
            </a:pPr>
            <a:r>
              <a:rPr lang="en" sz="1600"/>
              <a:t>Extracted from a source system (e.g., database or file)</a:t>
            </a:r>
            <a:endParaRPr sz="1600"/>
          </a:p>
          <a:p>
            <a:pPr indent="-330200" lvl="1" marL="914400" rtl="0" algn="l">
              <a:lnSpc>
                <a:spcPct val="115000"/>
              </a:lnSpc>
              <a:spcBef>
                <a:spcPts val="400"/>
              </a:spcBef>
              <a:spcAft>
                <a:spcPts val="0"/>
              </a:spcAft>
              <a:buClr>
                <a:srgbClr val="FBB031"/>
              </a:buClr>
              <a:buSzPts val="1600"/>
              <a:buChar char="○"/>
            </a:pPr>
            <a:r>
              <a:rPr lang="en" sz="1600"/>
              <a:t>Transformed into a usable structure</a:t>
            </a:r>
            <a:endParaRPr sz="1600"/>
          </a:p>
          <a:p>
            <a:pPr indent="-330200" lvl="1" marL="914400" rtl="0" algn="l">
              <a:lnSpc>
                <a:spcPct val="115000"/>
              </a:lnSpc>
              <a:spcBef>
                <a:spcPts val="400"/>
              </a:spcBef>
              <a:spcAft>
                <a:spcPts val="0"/>
              </a:spcAft>
              <a:buClr>
                <a:srgbClr val="FBB031"/>
              </a:buClr>
              <a:buSzPts val="1600"/>
              <a:buChar char="○"/>
            </a:pPr>
            <a:r>
              <a:rPr lang="en" sz="1600"/>
              <a:t>Loaded into a target system (e.g., warehouse)</a:t>
            </a:r>
            <a:endParaRPr sz="1600"/>
          </a:p>
          <a:p>
            <a:pPr indent="-330200" lvl="0" marL="457200" rtl="0" algn="l">
              <a:lnSpc>
                <a:spcPct val="115000"/>
              </a:lnSpc>
              <a:spcBef>
                <a:spcPts val="800"/>
              </a:spcBef>
              <a:spcAft>
                <a:spcPts val="0"/>
              </a:spcAft>
              <a:buSzPts val="1600"/>
              <a:buChar char="●"/>
            </a:pPr>
            <a:r>
              <a:rPr lang="en" sz="1600"/>
              <a:t>It’s a frequently used term in industry and </a:t>
            </a:r>
            <a:r>
              <a:rPr lang="en" sz="1600"/>
              <a:t>typically</a:t>
            </a:r>
            <a:r>
              <a:rPr lang="en" sz="1600"/>
              <a:t> refers to one step of the whole data pipeline.</a:t>
            </a:r>
            <a:endParaRPr sz="1600"/>
          </a:p>
          <a:p>
            <a:pPr indent="0" lvl="0" marL="457200" rtl="0" algn="l">
              <a:lnSpc>
                <a:spcPct val="115000"/>
              </a:lnSpc>
              <a:spcBef>
                <a:spcPts val="800"/>
              </a:spcBef>
              <a:spcAft>
                <a:spcPts val="0"/>
              </a:spcAft>
              <a:buNone/>
            </a:pPr>
            <a:r>
              <a:t/>
            </a:r>
            <a:endParaRPr sz="1600"/>
          </a:p>
        </p:txBody>
      </p:sp>
      <p:pic>
        <p:nvPicPr>
          <p:cNvPr id="275" name="Google Shape;275;p3"/>
          <p:cNvPicPr preferRelativeResize="0"/>
          <p:nvPr/>
        </p:nvPicPr>
        <p:blipFill>
          <a:blip r:embed="rId3">
            <a:alphaModFix/>
          </a:blip>
          <a:stretch>
            <a:fillRect/>
          </a:stretch>
        </p:blipFill>
        <p:spPr>
          <a:xfrm>
            <a:off x="1657943" y="2776850"/>
            <a:ext cx="4821371" cy="20834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a4726a4ff4_0_1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ETL (Extract, Transform, Load)</a:t>
            </a:r>
            <a:endParaRPr/>
          </a:p>
        </p:txBody>
      </p:sp>
      <p:sp>
        <p:nvSpPr>
          <p:cNvPr id="281" name="Google Shape;281;g3a4726a4ff4_0_17"/>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ETL is a specific implementation of the broader ingest-transform-serve pattern, usually batch-oriented.</a:t>
            </a:r>
            <a:endParaRPr sz="1600"/>
          </a:p>
          <a:p>
            <a:pPr indent="-330200" lvl="0" marL="457200" rtl="0" algn="l">
              <a:lnSpc>
                <a:spcPct val="115000"/>
              </a:lnSpc>
              <a:spcBef>
                <a:spcPts val="800"/>
              </a:spcBef>
              <a:spcAft>
                <a:spcPts val="0"/>
              </a:spcAft>
              <a:buSzPts val="1600"/>
              <a:buChar char="●"/>
            </a:pPr>
            <a:r>
              <a:rPr lang="en" sz="1600"/>
              <a:t>ETL is typically used when the source and target systems use different technologies and when data must be transformed (e.g., cleaned, reshaped, or enriched) before loading.</a:t>
            </a:r>
            <a:endParaRPr sz="1600"/>
          </a:p>
          <a:p>
            <a:pPr indent="-330200" lvl="0" marL="457200" rtl="0" algn="l">
              <a:lnSpc>
                <a:spcPct val="115000"/>
              </a:lnSpc>
              <a:spcBef>
                <a:spcPts val="800"/>
              </a:spcBef>
              <a:spcAft>
                <a:spcPts val="0"/>
              </a:spcAft>
              <a:buSzPts val="1600"/>
              <a:buChar char="●"/>
            </a:pPr>
            <a:r>
              <a:rPr lang="en" sz="1600"/>
              <a:t>In practice, the term ETL is not used consistently across the industry. Many people use it to describe any process that moves and prepares data, even when it doesn’t follow the exact Extract → Transform → Load pattern.</a:t>
            </a:r>
            <a:endParaRPr sz="1600"/>
          </a:p>
          <a:p>
            <a:pPr indent="0" lvl="0" marL="0" rtl="0" algn="l">
              <a:lnSpc>
                <a:spcPct val="115000"/>
              </a:lnSpc>
              <a:spcBef>
                <a:spcPts val="800"/>
              </a:spcBef>
              <a:spcAft>
                <a:spcPts val="0"/>
              </a:spcAft>
              <a:buNone/>
            </a:pPr>
            <a:r>
              <a:t/>
            </a:r>
            <a:endParaRPr sz="1600"/>
          </a:p>
          <a:p>
            <a:pPr indent="0" lvl="0" marL="457200" rtl="0" algn="l">
              <a:lnSpc>
                <a:spcPct val="115000"/>
              </a:lnSpc>
              <a:spcBef>
                <a:spcPts val="800"/>
              </a:spcBef>
              <a:spcAft>
                <a:spcPts val="0"/>
              </a:spcAft>
              <a:buNone/>
            </a:pPr>
            <a:r>
              <a:t/>
            </a:r>
            <a:endParaRPr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a4726a4ff4_0_3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Spark as ETL</a:t>
            </a:r>
            <a:endParaRPr/>
          </a:p>
        </p:txBody>
      </p:sp>
      <p:sp>
        <p:nvSpPr>
          <p:cNvPr id="287" name="Google Shape;287;g3a4726a4ff4_0_30"/>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Spark is a typical ETL tool.</a:t>
            </a:r>
            <a:endParaRPr sz="1600"/>
          </a:p>
          <a:p>
            <a:pPr indent="0" lvl="0" marL="457200" rtl="0" algn="l">
              <a:lnSpc>
                <a:spcPct val="115000"/>
              </a:lnSpc>
              <a:spcBef>
                <a:spcPts val="800"/>
              </a:spcBef>
              <a:spcAft>
                <a:spcPts val="0"/>
              </a:spcAft>
              <a:buNone/>
            </a:pPr>
            <a:r>
              <a:t/>
            </a:r>
            <a:endParaRPr sz="1600"/>
          </a:p>
        </p:txBody>
      </p:sp>
      <p:pic>
        <p:nvPicPr>
          <p:cNvPr id="288" name="Google Shape;288;g3a4726a4ff4_0_30"/>
          <p:cNvPicPr preferRelativeResize="0"/>
          <p:nvPr/>
        </p:nvPicPr>
        <p:blipFill>
          <a:blip r:embed="rId3">
            <a:alphaModFix/>
          </a:blip>
          <a:stretch>
            <a:fillRect/>
          </a:stretch>
        </p:blipFill>
        <p:spPr>
          <a:xfrm>
            <a:off x="3425275" y="933450"/>
            <a:ext cx="5175024" cy="1439575"/>
          </a:xfrm>
          <a:prstGeom prst="rect">
            <a:avLst/>
          </a:prstGeom>
          <a:noFill/>
          <a:ln>
            <a:noFill/>
          </a:ln>
        </p:spPr>
      </p:pic>
      <p:pic>
        <p:nvPicPr>
          <p:cNvPr id="289" name="Google Shape;289;g3a4726a4ff4_0_30"/>
          <p:cNvPicPr preferRelativeResize="0"/>
          <p:nvPr/>
        </p:nvPicPr>
        <p:blipFill>
          <a:blip r:embed="rId4">
            <a:alphaModFix/>
          </a:blip>
          <a:stretch>
            <a:fillRect/>
          </a:stretch>
        </p:blipFill>
        <p:spPr>
          <a:xfrm>
            <a:off x="346875" y="2224225"/>
            <a:ext cx="4988700" cy="2374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99cb9bcabe_0_129"/>
          <p:cNvSpPr txBox="1"/>
          <p:nvPr>
            <p:ph type="title"/>
          </p:nvPr>
        </p:nvSpPr>
        <p:spPr>
          <a:xfrm>
            <a:off x="421971" y="347976"/>
            <a:ext cx="7293300" cy="774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ETL Limitations</a:t>
            </a:r>
            <a:endParaRPr/>
          </a:p>
        </p:txBody>
      </p:sp>
      <p:sp>
        <p:nvSpPr>
          <p:cNvPr id="295" name="Google Shape;295;g399cb9bcabe_0_129"/>
          <p:cNvSpPr txBox="1"/>
          <p:nvPr>
            <p:ph idx="1" type="body"/>
          </p:nvPr>
        </p:nvSpPr>
        <p:spPr>
          <a:xfrm>
            <a:off x="421975" y="1052375"/>
            <a:ext cx="8611200" cy="36411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en" sz="1300"/>
              <a:t>ETL has a few limitations…</a:t>
            </a:r>
            <a:endParaRPr sz="1300"/>
          </a:p>
          <a:p>
            <a:pPr indent="-304800" lvl="0" marL="457200" rtl="0" algn="l">
              <a:lnSpc>
                <a:spcPct val="115000"/>
              </a:lnSpc>
              <a:spcBef>
                <a:spcPts val="800"/>
              </a:spcBef>
              <a:spcAft>
                <a:spcPts val="0"/>
              </a:spcAft>
              <a:buSzPts val="1200"/>
              <a:buChar char="●"/>
            </a:pPr>
            <a:r>
              <a:rPr lang="en" sz="1200">
                <a:latin typeface="Arial"/>
                <a:ea typeface="Arial"/>
                <a:cs typeface="Arial"/>
                <a:sym typeface="Arial"/>
              </a:rPr>
              <a:t>Transformations are performed before data is loaded into the data warehouse. Therefore, if the transformation logic changes, the data must be historically transformed and loaded again.</a:t>
            </a:r>
            <a:endParaRPr sz="1200">
              <a:latin typeface="Arial"/>
              <a:ea typeface="Arial"/>
              <a:cs typeface="Arial"/>
              <a:sym typeface="Arial"/>
            </a:endParaRPr>
          </a:p>
          <a:p>
            <a:pPr indent="-304800" lvl="1" marL="914400" rtl="0" algn="l">
              <a:lnSpc>
                <a:spcPct val="115000"/>
              </a:lnSpc>
              <a:spcBef>
                <a:spcPts val="0"/>
              </a:spcBef>
              <a:spcAft>
                <a:spcPts val="0"/>
              </a:spcAft>
              <a:buSzPts val="1200"/>
              <a:buChar char="○"/>
            </a:pPr>
            <a:r>
              <a:rPr lang="en" sz="1200">
                <a:latin typeface="Arial"/>
                <a:ea typeface="Arial"/>
                <a:cs typeface="Arial"/>
                <a:sym typeface="Arial"/>
              </a:rPr>
              <a:t>Imagine a Spark ETL pipeline that runs every day, transforming and ingesting the orders from the previous day. What if it turns out that a data cleaning step, which removes certain orders, is inaccurate?</a:t>
            </a:r>
            <a:endParaRPr sz="1200">
              <a:latin typeface="Arial"/>
              <a:ea typeface="Arial"/>
              <a:cs typeface="Arial"/>
              <a:sym typeface="Arial"/>
            </a:endParaRPr>
          </a:p>
          <a:p>
            <a:pPr indent="-304800" lvl="1" marL="914400" rtl="0" algn="l">
              <a:lnSpc>
                <a:spcPct val="115000"/>
              </a:lnSpc>
              <a:spcBef>
                <a:spcPts val="0"/>
              </a:spcBef>
              <a:spcAft>
                <a:spcPts val="0"/>
              </a:spcAft>
              <a:buSzPts val="1200"/>
              <a:buChar char="○"/>
            </a:pPr>
            <a:r>
              <a:rPr lang="en" sz="1200">
                <a:latin typeface="Arial"/>
                <a:ea typeface="Arial"/>
                <a:cs typeface="Arial"/>
                <a:sym typeface="Arial"/>
              </a:rPr>
              <a:t>Backfilling with the new logic can be time-consuming, expensive, and sometimes impossible if the source data has been removed.</a:t>
            </a:r>
            <a:endParaRPr sz="1200">
              <a:latin typeface="Arial"/>
              <a:ea typeface="Arial"/>
              <a:cs typeface="Arial"/>
              <a:sym typeface="Arial"/>
            </a:endParaRPr>
          </a:p>
          <a:p>
            <a:pPr indent="-304800" lvl="2" marL="1371600" rtl="0" algn="l">
              <a:lnSpc>
                <a:spcPct val="115000"/>
              </a:lnSpc>
              <a:spcBef>
                <a:spcPts val="0"/>
              </a:spcBef>
              <a:spcAft>
                <a:spcPts val="0"/>
              </a:spcAft>
              <a:buSzPts val="1200"/>
              <a:buChar char="■"/>
            </a:pPr>
            <a:r>
              <a:rPr b="1" lang="en" sz="1200">
                <a:latin typeface="Arial"/>
                <a:ea typeface="Arial"/>
                <a:cs typeface="Arial"/>
                <a:sym typeface="Arial"/>
              </a:rPr>
              <a:t>Backfilling</a:t>
            </a:r>
            <a:r>
              <a:rPr lang="en" sz="1200">
                <a:latin typeface="Arial"/>
                <a:ea typeface="Arial"/>
                <a:cs typeface="Arial"/>
                <a:sym typeface="Arial"/>
              </a:rPr>
              <a:t>: The process of reloading historical data when the transformation logic has changed.</a:t>
            </a:r>
            <a:endParaRPr sz="1200">
              <a:latin typeface="Arial"/>
              <a:ea typeface="Arial"/>
              <a:cs typeface="Arial"/>
              <a:sym typeface="Arial"/>
            </a:endParaRPr>
          </a:p>
          <a:p>
            <a:pPr indent="-304800" lvl="0" marL="457200" rtl="0" algn="l">
              <a:lnSpc>
                <a:spcPct val="115000"/>
              </a:lnSpc>
              <a:spcBef>
                <a:spcPts val="1000"/>
              </a:spcBef>
              <a:spcAft>
                <a:spcPts val="0"/>
              </a:spcAft>
              <a:buSzPts val="1200"/>
              <a:buChar char="●"/>
            </a:pPr>
            <a:r>
              <a:rPr lang="en" sz="1200">
                <a:latin typeface="Arial"/>
                <a:ea typeface="Arial"/>
                <a:cs typeface="Arial"/>
                <a:sym typeface="Arial"/>
              </a:rPr>
              <a:t>Developers often feel uncomfortable modifying the transformation code. They need to ensure the logic is correct and pay extra attention to all the details and thoroughly test them before running the pipeline.</a:t>
            </a:r>
            <a:endParaRPr sz="1200">
              <a:latin typeface="Arial"/>
              <a:ea typeface="Arial"/>
              <a:cs typeface="Arial"/>
              <a:sym typeface="Arial"/>
            </a:endParaRPr>
          </a:p>
          <a:p>
            <a:pPr indent="-304800" lvl="0" marL="457200" rtl="0" algn="l">
              <a:lnSpc>
                <a:spcPct val="115000"/>
              </a:lnSpc>
              <a:spcBef>
                <a:spcPts val="1000"/>
              </a:spcBef>
              <a:spcAft>
                <a:spcPts val="0"/>
              </a:spcAft>
              <a:buSzPts val="1200"/>
              <a:buFont typeface="Arial"/>
              <a:buChar char="●"/>
            </a:pPr>
            <a:r>
              <a:rPr lang="en" sz="1200">
                <a:latin typeface="Arial"/>
                <a:ea typeface="Arial"/>
                <a:cs typeface="Arial"/>
                <a:sym typeface="Arial"/>
              </a:rPr>
              <a:t>ETL tools such as Spark have performance limitations.</a:t>
            </a:r>
            <a:endParaRPr sz="1200">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sz="1200">
                <a:latin typeface="Arial"/>
                <a:ea typeface="Arial"/>
                <a:cs typeface="Arial"/>
                <a:sym typeface="Arial"/>
              </a:rPr>
              <a:t>Although Spark was a significant improvement over older MapReduce technologies, dataset sizes in the big data world have continued to grow to a point where Spark can become quite expensive to manage.</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Result: </a:t>
            </a:r>
            <a:r>
              <a:rPr b="1" lang="en" sz="1200">
                <a:latin typeface="Arial"/>
                <a:ea typeface="Arial"/>
                <a:cs typeface="Arial"/>
                <a:sym typeface="Arial"/>
              </a:rPr>
              <a:t>ELT !</a:t>
            </a:r>
            <a:endParaRPr b="1" sz="1200">
              <a:latin typeface="Arial"/>
              <a:ea typeface="Arial"/>
              <a:cs typeface="Arial"/>
              <a:sym typeface="Arial"/>
            </a:endParaRPr>
          </a:p>
          <a:p>
            <a:pPr indent="0" lvl="0" marL="0" rtl="0" algn="l">
              <a:lnSpc>
                <a:spcPct val="115000"/>
              </a:lnSpc>
              <a:spcBef>
                <a:spcPts val="800"/>
              </a:spcBef>
              <a:spcAft>
                <a:spcPts val="0"/>
              </a:spcAft>
              <a:buNone/>
            </a:pPr>
            <a:r>
              <a:t/>
            </a:r>
            <a:endParaRPr sz="13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99cb9bcabe_0_180"/>
          <p:cNvSpPr txBox="1"/>
          <p:nvPr>
            <p:ph type="title"/>
          </p:nvPr>
        </p:nvSpPr>
        <p:spPr>
          <a:xfrm>
            <a:off x="421971" y="347976"/>
            <a:ext cx="7293300" cy="774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ELT</a:t>
            </a:r>
            <a:endParaRPr/>
          </a:p>
        </p:txBody>
      </p:sp>
      <p:sp>
        <p:nvSpPr>
          <p:cNvPr id="301" name="Google Shape;301;g399cb9bcabe_0_180"/>
          <p:cNvSpPr txBox="1"/>
          <p:nvPr>
            <p:ph idx="1" type="body"/>
          </p:nvPr>
        </p:nvSpPr>
        <p:spPr>
          <a:xfrm>
            <a:off x="421975" y="1052375"/>
            <a:ext cx="8611200" cy="3641100"/>
          </a:xfrm>
          <a:prstGeom prst="rect">
            <a:avLst/>
          </a:prstGeom>
        </p:spPr>
        <p:txBody>
          <a:bodyPr anchorCtr="0" anchor="t" bIns="34275" lIns="68575" spcFirstLastPara="1" rIns="68575" wrap="square" tIns="34275">
            <a:noAutofit/>
          </a:bodyPr>
          <a:lstStyle/>
          <a:p>
            <a:pPr indent="-304800" lvl="0" marL="457200" rtl="0" algn="l">
              <a:lnSpc>
                <a:spcPct val="115000"/>
              </a:lnSpc>
              <a:spcBef>
                <a:spcPts val="800"/>
              </a:spcBef>
              <a:spcAft>
                <a:spcPts val="0"/>
              </a:spcAft>
              <a:buSzPts val="1200"/>
              <a:buChar char="●"/>
            </a:pPr>
            <a:r>
              <a:rPr lang="en" sz="1300"/>
              <a:t>ELT stands for Extract, Load, Transform.</a:t>
            </a:r>
            <a:endParaRPr sz="1300"/>
          </a:p>
          <a:p>
            <a:pPr indent="-304800" lvl="1" marL="914400" rtl="0" algn="l">
              <a:lnSpc>
                <a:spcPct val="115000"/>
              </a:lnSpc>
              <a:spcBef>
                <a:spcPts val="0"/>
              </a:spcBef>
              <a:spcAft>
                <a:spcPts val="0"/>
              </a:spcAft>
              <a:buSzPts val="1200"/>
              <a:buChar char="○"/>
            </a:pPr>
            <a:r>
              <a:rPr lang="en" sz="1300"/>
              <a:t>The ELT pipeline pushes data into the data warehouse in its raw format without applying any transformations.</a:t>
            </a:r>
            <a:endParaRPr sz="1300"/>
          </a:p>
          <a:p>
            <a:pPr indent="-304800" lvl="0" marL="457200" rtl="0" algn="l">
              <a:lnSpc>
                <a:spcPct val="115000"/>
              </a:lnSpc>
              <a:spcBef>
                <a:spcPts val="0"/>
              </a:spcBef>
              <a:spcAft>
                <a:spcPts val="0"/>
              </a:spcAft>
              <a:buSzPts val="1200"/>
              <a:buChar char="●"/>
            </a:pPr>
            <a:r>
              <a:rPr lang="en" sz="1300"/>
              <a:t>Transformations can be done inside the data warehouse after the data is loaded.</a:t>
            </a:r>
            <a:endParaRPr sz="1300"/>
          </a:p>
          <a:p>
            <a:pPr indent="-304800" lvl="1" marL="914400" rtl="0" algn="l">
              <a:lnSpc>
                <a:spcPct val="115000"/>
              </a:lnSpc>
              <a:spcBef>
                <a:spcPts val="0"/>
              </a:spcBef>
              <a:spcAft>
                <a:spcPts val="0"/>
              </a:spcAft>
              <a:buSzPts val="1200"/>
              <a:buChar char="○"/>
            </a:pPr>
            <a:r>
              <a:rPr lang="en" sz="1300"/>
              <a:t>Transformation can be as simple as running a SQL query within the warehouse.</a:t>
            </a:r>
            <a:endParaRPr sz="1300"/>
          </a:p>
          <a:p>
            <a:pPr indent="0" lvl="0" marL="0" rtl="0" algn="l">
              <a:lnSpc>
                <a:spcPct val="115000"/>
              </a:lnSpc>
              <a:spcBef>
                <a:spcPts val="800"/>
              </a:spcBef>
              <a:spcAft>
                <a:spcPts val="0"/>
              </a:spcAft>
              <a:buNone/>
            </a:pPr>
            <a:r>
              <a:t/>
            </a:r>
            <a:endParaRPr sz="1300"/>
          </a:p>
          <a:p>
            <a:pPr indent="0" lvl="0" marL="0" rtl="0" algn="l">
              <a:lnSpc>
                <a:spcPct val="115000"/>
              </a:lnSpc>
              <a:spcBef>
                <a:spcPts val="800"/>
              </a:spcBef>
              <a:spcAft>
                <a:spcPts val="0"/>
              </a:spcAft>
              <a:buNone/>
            </a:pPr>
            <a:r>
              <a:t/>
            </a:r>
            <a:endParaRPr sz="1300"/>
          </a:p>
        </p:txBody>
      </p:sp>
      <p:pic>
        <p:nvPicPr>
          <p:cNvPr id="302" name="Google Shape;302;g399cb9bcabe_0_180"/>
          <p:cNvPicPr preferRelativeResize="0"/>
          <p:nvPr/>
        </p:nvPicPr>
        <p:blipFill>
          <a:blip r:embed="rId3">
            <a:alphaModFix/>
          </a:blip>
          <a:stretch>
            <a:fillRect/>
          </a:stretch>
        </p:blipFill>
        <p:spPr>
          <a:xfrm>
            <a:off x="292838" y="2176897"/>
            <a:ext cx="6154174" cy="2467926"/>
          </a:xfrm>
          <a:prstGeom prst="rect">
            <a:avLst/>
          </a:prstGeom>
          <a:noFill/>
          <a:ln>
            <a:noFill/>
          </a:ln>
        </p:spPr>
      </p:pic>
      <p:sp>
        <p:nvSpPr>
          <p:cNvPr id="303" name="Google Shape;303;g399cb9bcabe_0_180"/>
          <p:cNvSpPr/>
          <p:nvPr/>
        </p:nvSpPr>
        <p:spPr>
          <a:xfrm>
            <a:off x="6388625" y="2772375"/>
            <a:ext cx="2698200" cy="1678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t>-- sample inside data warehouse transformation</a:t>
            </a:r>
            <a:endParaRPr sz="900"/>
          </a:p>
          <a:p>
            <a:pPr indent="0" lvl="0" marL="0" rtl="0" algn="l">
              <a:spcBef>
                <a:spcPts val="0"/>
              </a:spcBef>
              <a:spcAft>
                <a:spcPts val="0"/>
              </a:spcAft>
              <a:buNone/>
            </a:pPr>
            <a:r>
              <a:rPr lang="en" sz="900"/>
              <a:t>INSERT INTO orders_summary </a:t>
            </a:r>
            <a:endParaRPr sz="900"/>
          </a:p>
          <a:p>
            <a:pPr indent="0" lvl="0" marL="0" rtl="0" algn="l">
              <a:spcBef>
                <a:spcPts val="0"/>
              </a:spcBef>
              <a:spcAft>
                <a:spcPts val="0"/>
              </a:spcAft>
              <a:buNone/>
            </a:pPr>
            <a:r>
              <a:rPr lang="en" sz="900"/>
              <a:t>          (customer_id, total_amount, total_orders) </a:t>
            </a:r>
            <a:endParaRPr sz="900"/>
          </a:p>
          <a:p>
            <a:pPr indent="0" lvl="0" marL="0" rtl="0" algn="l">
              <a:spcBef>
                <a:spcPts val="0"/>
              </a:spcBef>
              <a:spcAft>
                <a:spcPts val="0"/>
              </a:spcAft>
              <a:buNone/>
            </a:pPr>
            <a:r>
              <a:rPr lang="en" sz="900"/>
              <a:t>SELECT </a:t>
            </a:r>
            <a:endParaRPr sz="900"/>
          </a:p>
          <a:p>
            <a:pPr indent="457200" lvl="0" marL="0" rtl="0" algn="l">
              <a:spcBef>
                <a:spcPts val="0"/>
              </a:spcBef>
              <a:spcAft>
                <a:spcPts val="0"/>
              </a:spcAft>
              <a:buNone/>
            </a:pPr>
            <a:r>
              <a:rPr lang="en" sz="900"/>
              <a:t>customer_id, </a:t>
            </a:r>
            <a:endParaRPr sz="900"/>
          </a:p>
          <a:p>
            <a:pPr indent="0" lvl="0" marL="457200" rtl="0" algn="l">
              <a:spcBef>
                <a:spcPts val="0"/>
              </a:spcBef>
              <a:spcAft>
                <a:spcPts val="0"/>
              </a:spcAft>
              <a:buNone/>
            </a:pPr>
            <a:r>
              <a:rPr lang="en" sz="900"/>
              <a:t>SUM(amount) AS total_amount,</a:t>
            </a:r>
            <a:endParaRPr sz="900"/>
          </a:p>
          <a:p>
            <a:pPr indent="457200" lvl="0" marL="0" rtl="0" algn="l">
              <a:spcBef>
                <a:spcPts val="0"/>
              </a:spcBef>
              <a:spcAft>
                <a:spcPts val="0"/>
              </a:spcAft>
              <a:buNone/>
            </a:pPr>
            <a:r>
              <a:rPr lang="en" sz="900"/>
              <a:t>COUNT(order_id) AS total_orders </a:t>
            </a:r>
            <a:br>
              <a:rPr lang="en" sz="900"/>
            </a:br>
            <a:r>
              <a:rPr lang="en" sz="900"/>
              <a:t>FROM staging_orders </a:t>
            </a:r>
            <a:endParaRPr sz="900"/>
          </a:p>
          <a:p>
            <a:pPr indent="457200" lvl="0" marL="0" rtl="0" algn="l">
              <a:spcBef>
                <a:spcPts val="0"/>
              </a:spcBef>
              <a:spcAft>
                <a:spcPts val="0"/>
              </a:spcAft>
              <a:buNone/>
            </a:pPr>
            <a:r>
              <a:rPr lang="en" sz="900"/>
              <a:t>WHERE status = 'Completed' </a:t>
            </a:r>
            <a:endParaRPr sz="900"/>
          </a:p>
          <a:p>
            <a:pPr indent="457200" lvl="0" marL="0" rtl="0" algn="l">
              <a:spcBef>
                <a:spcPts val="0"/>
              </a:spcBef>
              <a:spcAft>
                <a:spcPts val="0"/>
              </a:spcAft>
              <a:buNone/>
            </a:pPr>
            <a:r>
              <a:rPr lang="en" sz="900"/>
              <a:t>GROUP BY customer_id;</a:t>
            </a:r>
            <a:endParaRPr sz="900"/>
          </a:p>
        </p:txBody>
      </p:sp>
      <p:sp>
        <p:nvSpPr>
          <p:cNvPr id="304" name="Google Shape;304;g399cb9bcabe_0_180"/>
          <p:cNvSpPr/>
          <p:nvPr/>
        </p:nvSpPr>
        <p:spPr>
          <a:xfrm>
            <a:off x="3349525" y="3463075"/>
            <a:ext cx="1727400" cy="1026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5" name="Google Shape;305;g399cb9bcabe_0_180"/>
          <p:cNvCxnSpPr>
            <a:stCxn id="303" idx="1"/>
            <a:endCxn id="304" idx="7"/>
          </p:cNvCxnSpPr>
          <p:nvPr/>
        </p:nvCxnSpPr>
        <p:spPr>
          <a:xfrm flipH="1">
            <a:off x="4823825" y="3611775"/>
            <a:ext cx="1564800" cy="1800"/>
          </a:xfrm>
          <a:prstGeom prst="straightConnector1">
            <a:avLst/>
          </a:prstGeom>
          <a:noFill/>
          <a:ln cap="flat" cmpd="sng" w="9525">
            <a:solidFill>
              <a:srgbClr val="E32726"/>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99cb9bcabe_0_235"/>
          <p:cNvSpPr txBox="1"/>
          <p:nvPr>
            <p:ph type="title"/>
          </p:nvPr>
        </p:nvSpPr>
        <p:spPr>
          <a:xfrm>
            <a:off x="421971" y="347976"/>
            <a:ext cx="7293300" cy="774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ELT: In-warehouse Transformation</a:t>
            </a:r>
            <a:endParaRPr/>
          </a:p>
        </p:txBody>
      </p:sp>
      <p:sp>
        <p:nvSpPr>
          <p:cNvPr id="311" name="Google Shape;311;g399cb9bcabe_0_235"/>
          <p:cNvSpPr txBox="1"/>
          <p:nvPr>
            <p:ph idx="1" type="body"/>
          </p:nvPr>
        </p:nvSpPr>
        <p:spPr>
          <a:xfrm>
            <a:off x="421975" y="1052375"/>
            <a:ext cx="8611200" cy="1388700"/>
          </a:xfrm>
          <a:prstGeom prst="rect">
            <a:avLst/>
          </a:prstGeom>
        </p:spPr>
        <p:txBody>
          <a:bodyPr anchorCtr="0" anchor="t" bIns="34275" lIns="68575" spcFirstLastPara="1" rIns="68575" wrap="square" tIns="34275">
            <a:noAutofit/>
          </a:bodyPr>
          <a:lstStyle/>
          <a:p>
            <a:pPr indent="-311150" lvl="0" marL="457200" rtl="0" algn="l">
              <a:lnSpc>
                <a:spcPct val="115000"/>
              </a:lnSpc>
              <a:spcBef>
                <a:spcPts val="800"/>
              </a:spcBef>
              <a:spcAft>
                <a:spcPts val="0"/>
              </a:spcAft>
              <a:buSzPts val="1300"/>
              <a:buChar char="●"/>
            </a:pPr>
            <a:r>
              <a:rPr lang="en" sz="1300"/>
              <a:t>If the transformation logic is faulty or needs to change, it can be easily modified and rerun within the data warehouse without need for backfilling.</a:t>
            </a:r>
            <a:endParaRPr sz="1300"/>
          </a:p>
          <a:p>
            <a:pPr indent="-311150" lvl="0" marL="457200" rtl="0" algn="l">
              <a:lnSpc>
                <a:spcPct val="115000"/>
              </a:lnSpc>
              <a:spcBef>
                <a:spcPts val="0"/>
              </a:spcBef>
              <a:spcAft>
                <a:spcPts val="0"/>
              </a:spcAft>
              <a:buSzPts val="1300"/>
              <a:buChar char="●"/>
            </a:pPr>
            <a:r>
              <a:rPr lang="en" sz="1300"/>
              <a:t>Since the transformation can be just a simple pure SQL query, the data warehouse engine (like Snowflake) can handle processing efficiently.</a:t>
            </a:r>
            <a:endParaRPr sz="1300"/>
          </a:p>
          <a:p>
            <a:pPr indent="0" lvl="0" marL="0" rtl="0" algn="l">
              <a:lnSpc>
                <a:spcPct val="115000"/>
              </a:lnSpc>
              <a:spcBef>
                <a:spcPts val="800"/>
              </a:spcBef>
              <a:spcAft>
                <a:spcPts val="0"/>
              </a:spcAft>
              <a:buNone/>
            </a:pPr>
            <a:r>
              <a:t/>
            </a:r>
            <a:endParaRPr sz="1300"/>
          </a:p>
        </p:txBody>
      </p:sp>
      <p:pic>
        <p:nvPicPr>
          <p:cNvPr id="312" name="Google Shape;312;g399cb9bcabe_0_235"/>
          <p:cNvPicPr preferRelativeResize="0"/>
          <p:nvPr/>
        </p:nvPicPr>
        <p:blipFill>
          <a:blip r:embed="rId3">
            <a:alphaModFix/>
          </a:blip>
          <a:stretch>
            <a:fillRect/>
          </a:stretch>
        </p:blipFill>
        <p:spPr>
          <a:xfrm>
            <a:off x="204175" y="2483447"/>
            <a:ext cx="6154174" cy="2467926"/>
          </a:xfrm>
          <a:prstGeom prst="rect">
            <a:avLst/>
          </a:prstGeom>
          <a:noFill/>
          <a:ln>
            <a:noFill/>
          </a:ln>
        </p:spPr>
      </p:pic>
      <p:sp>
        <p:nvSpPr>
          <p:cNvPr id="313" name="Google Shape;313;g399cb9bcabe_0_235"/>
          <p:cNvSpPr/>
          <p:nvPr/>
        </p:nvSpPr>
        <p:spPr>
          <a:xfrm>
            <a:off x="6299963" y="3078925"/>
            <a:ext cx="2698200" cy="1678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t>-- sample inside data warehouse transformation</a:t>
            </a:r>
            <a:endParaRPr sz="900"/>
          </a:p>
          <a:p>
            <a:pPr indent="0" lvl="0" marL="0" rtl="0" algn="l">
              <a:spcBef>
                <a:spcPts val="0"/>
              </a:spcBef>
              <a:spcAft>
                <a:spcPts val="0"/>
              </a:spcAft>
              <a:buNone/>
            </a:pPr>
            <a:r>
              <a:rPr lang="en" sz="900"/>
              <a:t>INSERT INTO orders_summary </a:t>
            </a:r>
            <a:endParaRPr sz="900"/>
          </a:p>
          <a:p>
            <a:pPr indent="0" lvl="0" marL="0" rtl="0" algn="l">
              <a:spcBef>
                <a:spcPts val="0"/>
              </a:spcBef>
              <a:spcAft>
                <a:spcPts val="0"/>
              </a:spcAft>
              <a:buNone/>
            </a:pPr>
            <a:r>
              <a:rPr lang="en" sz="900"/>
              <a:t>          (customer_id, total_amount, total_orders) </a:t>
            </a:r>
            <a:endParaRPr sz="900"/>
          </a:p>
          <a:p>
            <a:pPr indent="0" lvl="0" marL="0" rtl="0" algn="l">
              <a:spcBef>
                <a:spcPts val="0"/>
              </a:spcBef>
              <a:spcAft>
                <a:spcPts val="0"/>
              </a:spcAft>
              <a:buNone/>
            </a:pPr>
            <a:r>
              <a:rPr lang="en" sz="900"/>
              <a:t>SELECT </a:t>
            </a:r>
            <a:endParaRPr sz="900"/>
          </a:p>
          <a:p>
            <a:pPr indent="457200" lvl="0" marL="0" rtl="0" algn="l">
              <a:spcBef>
                <a:spcPts val="0"/>
              </a:spcBef>
              <a:spcAft>
                <a:spcPts val="0"/>
              </a:spcAft>
              <a:buNone/>
            </a:pPr>
            <a:r>
              <a:rPr lang="en" sz="900"/>
              <a:t>customer_id, </a:t>
            </a:r>
            <a:endParaRPr sz="900"/>
          </a:p>
          <a:p>
            <a:pPr indent="0" lvl="0" marL="457200" rtl="0" algn="l">
              <a:spcBef>
                <a:spcPts val="0"/>
              </a:spcBef>
              <a:spcAft>
                <a:spcPts val="0"/>
              </a:spcAft>
              <a:buNone/>
            </a:pPr>
            <a:r>
              <a:rPr lang="en" sz="900"/>
              <a:t>SUM(amount) AS total_amount,</a:t>
            </a:r>
            <a:endParaRPr sz="900"/>
          </a:p>
          <a:p>
            <a:pPr indent="457200" lvl="0" marL="0" rtl="0" algn="l">
              <a:spcBef>
                <a:spcPts val="0"/>
              </a:spcBef>
              <a:spcAft>
                <a:spcPts val="0"/>
              </a:spcAft>
              <a:buNone/>
            </a:pPr>
            <a:r>
              <a:rPr lang="en" sz="900"/>
              <a:t>COUNT(order_id) AS total_orders </a:t>
            </a:r>
            <a:br>
              <a:rPr lang="en" sz="900"/>
            </a:br>
            <a:r>
              <a:rPr lang="en" sz="900"/>
              <a:t>FROM staging_orders </a:t>
            </a:r>
            <a:endParaRPr sz="900"/>
          </a:p>
          <a:p>
            <a:pPr indent="457200" lvl="0" marL="0" rtl="0" algn="l">
              <a:spcBef>
                <a:spcPts val="0"/>
              </a:spcBef>
              <a:spcAft>
                <a:spcPts val="0"/>
              </a:spcAft>
              <a:buNone/>
            </a:pPr>
            <a:r>
              <a:rPr lang="en" sz="900"/>
              <a:t>WHERE status = 'Completed' </a:t>
            </a:r>
            <a:endParaRPr sz="900"/>
          </a:p>
          <a:p>
            <a:pPr indent="457200" lvl="0" marL="0" rtl="0" algn="l">
              <a:spcBef>
                <a:spcPts val="0"/>
              </a:spcBef>
              <a:spcAft>
                <a:spcPts val="0"/>
              </a:spcAft>
              <a:buNone/>
            </a:pPr>
            <a:r>
              <a:rPr lang="en" sz="900"/>
              <a:t>GROUP BY customer_id;</a:t>
            </a:r>
            <a:endParaRPr sz="900"/>
          </a:p>
        </p:txBody>
      </p:sp>
      <p:sp>
        <p:nvSpPr>
          <p:cNvPr id="314" name="Google Shape;314;g399cb9bcabe_0_235"/>
          <p:cNvSpPr/>
          <p:nvPr/>
        </p:nvSpPr>
        <p:spPr>
          <a:xfrm>
            <a:off x="3260863" y="3769625"/>
            <a:ext cx="1727400" cy="1026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15" name="Google Shape;315;g399cb9bcabe_0_235"/>
          <p:cNvCxnSpPr>
            <a:stCxn id="313" idx="1"/>
            <a:endCxn id="314" idx="7"/>
          </p:cNvCxnSpPr>
          <p:nvPr/>
        </p:nvCxnSpPr>
        <p:spPr>
          <a:xfrm flipH="1">
            <a:off x="4735163" y="3918325"/>
            <a:ext cx="1564800" cy="1800"/>
          </a:xfrm>
          <a:prstGeom prst="straightConnector1">
            <a:avLst/>
          </a:prstGeom>
          <a:noFill/>
          <a:ln cap="flat" cmpd="sng" w="9525">
            <a:solidFill>
              <a:srgbClr val="E32726"/>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a6a60523d1_1_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ELT</a:t>
            </a:r>
            <a:endParaRPr/>
          </a:p>
        </p:txBody>
      </p:sp>
      <p:sp>
        <p:nvSpPr>
          <p:cNvPr id="321" name="Google Shape;321;g3a6a60523d1_1_0"/>
          <p:cNvSpPr txBox="1"/>
          <p:nvPr>
            <p:ph idx="1" type="body"/>
          </p:nvPr>
        </p:nvSpPr>
        <p:spPr>
          <a:xfrm>
            <a:off x="421975" y="1052375"/>
            <a:ext cx="8484600" cy="34053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Another way is to store data in a data lake (or cloud storage) first, then transform it for a warehouse. </a:t>
            </a:r>
            <a:endParaRPr sz="1600"/>
          </a:p>
        </p:txBody>
      </p:sp>
      <p:sp>
        <p:nvSpPr>
          <p:cNvPr id="322" name="Google Shape;322;g3a6a60523d1_1_0"/>
          <p:cNvSpPr/>
          <p:nvPr/>
        </p:nvSpPr>
        <p:spPr>
          <a:xfrm>
            <a:off x="639450" y="2339550"/>
            <a:ext cx="1547700" cy="12882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Database (PostgreSQL)</a:t>
            </a:r>
            <a:endParaRPr b="0" i="0" sz="1400" u="none" cap="none" strike="noStrike">
              <a:solidFill>
                <a:srgbClr val="000000"/>
              </a:solidFill>
              <a:latin typeface="Arial"/>
              <a:ea typeface="Arial"/>
              <a:cs typeface="Arial"/>
              <a:sym typeface="Arial"/>
            </a:endParaRPr>
          </a:p>
        </p:txBody>
      </p:sp>
      <p:sp>
        <p:nvSpPr>
          <p:cNvPr id="323" name="Google Shape;323;g3a6a60523d1_1_0"/>
          <p:cNvSpPr/>
          <p:nvPr/>
        </p:nvSpPr>
        <p:spPr>
          <a:xfrm>
            <a:off x="3322575" y="2339550"/>
            <a:ext cx="1547700" cy="12882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Cloud Storage (Amazon S3)</a:t>
            </a:r>
            <a:endParaRPr b="0" i="0" sz="1400" u="none" cap="none" strike="noStrike">
              <a:solidFill>
                <a:srgbClr val="000000"/>
              </a:solidFill>
              <a:latin typeface="Arial"/>
              <a:ea typeface="Arial"/>
              <a:cs typeface="Arial"/>
              <a:sym typeface="Arial"/>
            </a:endParaRPr>
          </a:p>
        </p:txBody>
      </p:sp>
      <p:cxnSp>
        <p:nvCxnSpPr>
          <p:cNvPr id="324" name="Google Shape;324;g3a6a60523d1_1_0"/>
          <p:cNvCxnSpPr>
            <a:stCxn id="322" idx="3"/>
            <a:endCxn id="323" idx="1"/>
          </p:cNvCxnSpPr>
          <p:nvPr/>
        </p:nvCxnSpPr>
        <p:spPr>
          <a:xfrm>
            <a:off x="2187150" y="2983650"/>
            <a:ext cx="1135500" cy="0"/>
          </a:xfrm>
          <a:prstGeom prst="straightConnector1">
            <a:avLst/>
          </a:prstGeom>
          <a:noFill/>
          <a:ln cap="flat" cmpd="sng" w="9525">
            <a:solidFill>
              <a:schemeClr val="dk2"/>
            </a:solidFill>
            <a:prstDash val="solid"/>
            <a:round/>
            <a:headEnd len="sm" w="sm" type="none"/>
            <a:tailEnd len="med" w="med" type="triangle"/>
          </a:ln>
        </p:spPr>
      </p:cxnSp>
      <p:cxnSp>
        <p:nvCxnSpPr>
          <p:cNvPr id="325" name="Google Shape;325;g3a6a60523d1_1_0"/>
          <p:cNvCxnSpPr>
            <a:stCxn id="323" idx="3"/>
          </p:cNvCxnSpPr>
          <p:nvPr/>
        </p:nvCxnSpPr>
        <p:spPr>
          <a:xfrm flipH="1" rot="10800000">
            <a:off x="4870275" y="2974950"/>
            <a:ext cx="1830300" cy="8700"/>
          </a:xfrm>
          <a:prstGeom prst="straightConnector1">
            <a:avLst/>
          </a:prstGeom>
          <a:noFill/>
          <a:ln cap="flat" cmpd="sng" w="9525">
            <a:solidFill>
              <a:schemeClr val="dk2"/>
            </a:solidFill>
            <a:prstDash val="solid"/>
            <a:round/>
            <a:headEnd len="sm" w="sm" type="none"/>
            <a:tailEnd len="med" w="med" type="triangle"/>
          </a:ln>
        </p:spPr>
      </p:cxnSp>
      <p:sp>
        <p:nvSpPr>
          <p:cNvPr id="326" name="Google Shape;326;g3a6a60523d1_1_0"/>
          <p:cNvSpPr/>
          <p:nvPr/>
        </p:nvSpPr>
        <p:spPr>
          <a:xfrm>
            <a:off x="6635575" y="2363225"/>
            <a:ext cx="2150100" cy="11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Warehouse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(Amazon Redshift)</a:t>
            </a:r>
            <a:endParaRPr b="0" i="0" sz="1400" u="none" cap="none" strike="noStrike">
              <a:solidFill>
                <a:srgbClr val="000000"/>
              </a:solidFill>
              <a:latin typeface="Arial"/>
              <a:ea typeface="Arial"/>
              <a:cs typeface="Arial"/>
              <a:sym typeface="Arial"/>
            </a:endParaRPr>
          </a:p>
        </p:txBody>
      </p:sp>
      <p:sp>
        <p:nvSpPr>
          <p:cNvPr id="327" name="Google Shape;327;g3a6a60523d1_1_0"/>
          <p:cNvSpPr txBox="1"/>
          <p:nvPr/>
        </p:nvSpPr>
        <p:spPr>
          <a:xfrm>
            <a:off x="2187150" y="2668650"/>
            <a:ext cx="1297500" cy="31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Extract - Load</a:t>
            </a:r>
            <a:endParaRPr b="1" i="0" sz="1100" u="none" cap="none" strike="noStrike">
              <a:solidFill>
                <a:srgbClr val="000000"/>
              </a:solidFill>
              <a:latin typeface="Arial"/>
              <a:ea typeface="Arial"/>
              <a:cs typeface="Arial"/>
              <a:sym typeface="Arial"/>
            </a:endParaRPr>
          </a:p>
        </p:txBody>
      </p:sp>
      <p:sp>
        <p:nvSpPr>
          <p:cNvPr id="328" name="Google Shape;328;g3a6a60523d1_1_0"/>
          <p:cNvSpPr txBox="1"/>
          <p:nvPr/>
        </p:nvSpPr>
        <p:spPr>
          <a:xfrm>
            <a:off x="5104175" y="2668650"/>
            <a:ext cx="1297500" cy="31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Transformation</a:t>
            </a:r>
            <a:endParaRPr b="1" i="0" sz="11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99cb9bcabe_0_290"/>
          <p:cNvSpPr txBox="1"/>
          <p:nvPr>
            <p:ph type="title"/>
          </p:nvPr>
        </p:nvSpPr>
        <p:spPr>
          <a:xfrm>
            <a:off x="421971" y="347976"/>
            <a:ext cx="7293300" cy="774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ELT: EL Part (Extract - Load)</a:t>
            </a:r>
            <a:endParaRPr/>
          </a:p>
        </p:txBody>
      </p:sp>
      <p:sp>
        <p:nvSpPr>
          <p:cNvPr id="334" name="Google Shape;334;g399cb9bcabe_0_290"/>
          <p:cNvSpPr txBox="1"/>
          <p:nvPr>
            <p:ph idx="1" type="body"/>
          </p:nvPr>
        </p:nvSpPr>
        <p:spPr>
          <a:xfrm>
            <a:off x="421975" y="1061643"/>
            <a:ext cx="8611200" cy="2371800"/>
          </a:xfrm>
          <a:prstGeom prst="rect">
            <a:avLst/>
          </a:prstGeom>
        </p:spPr>
        <p:txBody>
          <a:bodyPr anchorCtr="0" anchor="t" bIns="34275" lIns="68575" spcFirstLastPara="1" rIns="68575" wrap="square" tIns="34275">
            <a:noAutofit/>
          </a:bodyPr>
          <a:lstStyle/>
          <a:p>
            <a:pPr indent="-304800" lvl="0" marL="457200" rtl="0" algn="l">
              <a:lnSpc>
                <a:spcPct val="115000"/>
              </a:lnSpc>
              <a:spcBef>
                <a:spcPts val="800"/>
              </a:spcBef>
              <a:spcAft>
                <a:spcPts val="0"/>
              </a:spcAft>
              <a:buSzPts val="1200"/>
              <a:buChar char="●"/>
            </a:pPr>
            <a:r>
              <a:rPr lang="en" sz="1200"/>
              <a:t>The EL (Extract, Load) part is quite simple. Data exists in a source, like PostgreSQL, and needs to move to another location, such as Snowflake. No transformation or special logic is required.</a:t>
            </a:r>
            <a:endParaRPr sz="1200"/>
          </a:p>
          <a:p>
            <a:pPr indent="-304800" lvl="0" marL="457200" rtl="0" algn="l">
              <a:lnSpc>
                <a:spcPct val="115000"/>
              </a:lnSpc>
              <a:spcBef>
                <a:spcPts val="0"/>
              </a:spcBef>
              <a:spcAft>
                <a:spcPts val="0"/>
              </a:spcAft>
              <a:buSzPts val="1200"/>
              <a:buChar char="●"/>
            </a:pPr>
            <a:r>
              <a:rPr lang="en" sz="1200"/>
              <a:t>Many tools can handle this data ingestion without needing much development effort. For example, if your source has 200 tables, you don’t need to write a pipeline for each one. There are EL tools that just need to be set up to connect to both the source and target, and they can replicate all the data automatically.</a:t>
            </a:r>
            <a:endParaRPr sz="1200"/>
          </a:p>
          <a:p>
            <a:pPr indent="-304800" lvl="1" marL="914400" rtl="0" algn="l">
              <a:lnSpc>
                <a:spcPct val="115000"/>
              </a:lnSpc>
              <a:spcBef>
                <a:spcPts val="0"/>
              </a:spcBef>
              <a:spcAft>
                <a:spcPts val="0"/>
              </a:spcAft>
              <a:buSzPts val="1200"/>
              <a:buChar char="○"/>
            </a:pPr>
            <a:r>
              <a:rPr lang="en" sz="1200"/>
              <a:t>For instance, tools like Fivetran or Stitch can connect to a PostgreSQL database and load the data directly into Snowflake without manual intervention.</a:t>
            </a:r>
            <a:endParaRPr sz="1200"/>
          </a:p>
          <a:p>
            <a:pPr indent="-304800" lvl="0" marL="457200" rtl="0" algn="l">
              <a:lnSpc>
                <a:spcPct val="115000"/>
              </a:lnSpc>
              <a:spcBef>
                <a:spcPts val="0"/>
              </a:spcBef>
              <a:spcAft>
                <a:spcPts val="0"/>
              </a:spcAft>
              <a:buSzPts val="1200"/>
              <a:buChar char="●"/>
            </a:pPr>
            <a:r>
              <a:rPr lang="en" sz="1200"/>
              <a:t>As a result, the job of an ELT developer can now focus mainly on developing transformations within the data warehouse. This makes the process simpler and allows developers to focus on higher-level concepts, such as optimal data modeling.</a:t>
            </a:r>
            <a:endParaRPr sz="1200"/>
          </a:p>
          <a:p>
            <a:pPr indent="-304800" lvl="1" marL="914400" rtl="0" algn="l">
              <a:lnSpc>
                <a:spcPct val="115000"/>
              </a:lnSpc>
              <a:spcBef>
                <a:spcPts val="0"/>
              </a:spcBef>
              <a:spcAft>
                <a:spcPts val="0"/>
              </a:spcAft>
              <a:buSzPts val="1200"/>
              <a:buChar char="○"/>
            </a:pPr>
            <a:r>
              <a:rPr lang="en" sz="1200"/>
              <a:t>In this setting, data engineers only need to know SQL similar to 30 years ago.</a:t>
            </a:r>
            <a:endParaRPr sz="1200"/>
          </a:p>
          <a:p>
            <a:pPr indent="-304800" lvl="1" marL="914400" rtl="0" algn="l">
              <a:lnSpc>
                <a:spcPct val="115000"/>
              </a:lnSpc>
              <a:spcBef>
                <a:spcPts val="0"/>
              </a:spcBef>
              <a:spcAft>
                <a:spcPts val="0"/>
              </a:spcAft>
              <a:buSzPts val="1200"/>
              <a:buChar char="○"/>
            </a:pPr>
            <a:r>
              <a:rPr lang="en" sz="1200"/>
              <a:t>Knowing how things work behind the scene and higher level data concepts such as data modeling is still a huge skillset.</a:t>
            </a:r>
            <a:endParaRPr sz="1200"/>
          </a:p>
        </p:txBody>
      </p:sp>
      <p:pic>
        <p:nvPicPr>
          <p:cNvPr id="335" name="Google Shape;335;g399cb9bcabe_0_290"/>
          <p:cNvPicPr preferRelativeResize="0"/>
          <p:nvPr/>
        </p:nvPicPr>
        <p:blipFill rotWithShape="1">
          <a:blip r:embed="rId3">
            <a:alphaModFix/>
          </a:blip>
          <a:srcRect b="0" l="0" r="0" t="48762"/>
          <a:stretch/>
        </p:blipFill>
        <p:spPr>
          <a:xfrm>
            <a:off x="1683475" y="3487374"/>
            <a:ext cx="6154174" cy="1264475"/>
          </a:xfrm>
          <a:prstGeom prst="rect">
            <a:avLst/>
          </a:prstGeom>
          <a:noFill/>
          <a:ln>
            <a:noFill/>
          </a:ln>
        </p:spPr>
      </p:pic>
      <p:sp>
        <p:nvSpPr>
          <p:cNvPr id="336" name="Google Shape;336;g399cb9bcabe_0_290"/>
          <p:cNvSpPr/>
          <p:nvPr/>
        </p:nvSpPr>
        <p:spPr>
          <a:xfrm>
            <a:off x="3178138" y="3540900"/>
            <a:ext cx="1727400" cy="1026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Calgary 2">
      <a:dk1>
        <a:srgbClr val="000000"/>
      </a:dk1>
      <a:lt1>
        <a:srgbClr val="FFFFFF"/>
      </a:lt1>
      <a:dk2>
        <a:srgbClr val="8C857B"/>
      </a:dk2>
      <a:lt2>
        <a:srgbClr val="C3BFB6"/>
      </a:lt2>
      <a:accent1>
        <a:srgbClr val="EE2C2A"/>
      </a:accent1>
      <a:accent2>
        <a:srgbClr val="FFA300"/>
      </a:accent2>
      <a:accent3>
        <a:srgbClr val="FF671F"/>
      </a:accent3>
      <a:accent4>
        <a:srgbClr val="46A67B"/>
      </a:accent4>
      <a:accent5>
        <a:srgbClr val="EC0971"/>
      </a:accent5>
      <a:accent6>
        <a:srgbClr val="9C0533"/>
      </a:accent6>
      <a:hlink>
        <a:srgbClr val="D6001C"/>
      </a:hlink>
      <a:folHlink>
        <a:srgbClr val="8C85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