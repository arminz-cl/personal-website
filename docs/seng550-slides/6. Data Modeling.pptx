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embeddedFontLst>
    <p:embeddedFont>
      <p:font typeface="Roboto Mon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7" roundtripDataSignature="AMtx7mgO42ruMwzoUmn4aiTqqXQBo0hC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0DB0A4-C462-403A-804B-7822BC211DE3}">
  <a:tblStyle styleId="{520DB0A4-C462-403A-804B-7822BC211DE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B1C7E658-7391-443F-A6A4-BCCA1F975AD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RobotoMono-bold.fntdata"/><Relationship Id="rId21" Type="http://schemas.openxmlformats.org/officeDocument/2006/relationships/slide" Target="slides/slide15.xml"/><Relationship Id="rId43" Type="http://schemas.openxmlformats.org/officeDocument/2006/relationships/font" Target="fonts/RobotoMono-regular.fntdata"/><Relationship Id="rId24" Type="http://schemas.openxmlformats.org/officeDocument/2006/relationships/slide" Target="slides/slide18.xml"/><Relationship Id="rId46" Type="http://schemas.openxmlformats.org/officeDocument/2006/relationships/font" Target="fonts/RobotoMono-boldItalic.fntdata"/><Relationship Id="rId23" Type="http://schemas.openxmlformats.org/officeDocument/2006/relationships/slide" Target="slides/slide17.xml"/><Relationship Id="rId45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20230363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820230363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2023036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82023036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20230363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820230363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20230363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820230363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20230363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820230363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2023036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82023036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20230363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820230363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20230363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820230363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2023036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82023036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20230363c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820230363c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20230363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820230363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20230363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820230363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2023036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82023036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20230363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820230363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20230363c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820230363c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20230363c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820230363c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3"/>
          <p:cNvSpPr txBox="1"/>
          <p:nvPr>
            <p:ph type="ctrTitle"/>
          </p:nvPr>
        </p:nvSpPr>
        <p:spPr>
          <a:xfrm>
            <a:off x="1183709" y="1339007"/>
            <a:ext cx="58809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Calibri"/>
              <a:buNone/>
              <a:defRPr b="1" i="0" sz="41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" type="subTitle"/>
          </p:nvPr>
        </p:nvSpPr>
        <p:spPr>
          <a:xfrm>
            <a:off x="1183709" y="3096024"/>
            <a:ext cx="5880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2" type="body"/>
          </p:nvPr>
        </p:nvSpPr>
        <p:spPr>
          <a:xfrm>
            <a:off x="1183709" y="3636920"/>
            <a:ext cx="58809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3" type="body"/>
          </p:nvPr>
        </p:nvSpPr>
        <p:spPr>
          <a:xfrm>
            <a:off x="1183709" y="4485884"/>
            <a:ext cx="4939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24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4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" name="Google Shape;14;p24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5" name="Google Shape;15;p24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" name="Google Shape;16;p24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" name="Google Shape;17;p24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8" name="Google Shape;18;p24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" name="Google Shape;19;p24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" name="Google Shape;20;p24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4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421971" y="1329896"/>
            <a:ext cx="72933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32726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to with text">
  <p:cSld name="Single photo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/>
          <p:nvPr>
            <p:ph idx="2" type="pic"/>
          </p:nvPr>
        </p:nvSpPr>
        <p:spPr>
          <a:xfrm>
            <a:off x="700398" y="1329766"/>
            <a:ext cx="2953800" cy="2953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4010677" y="1329766"/>
            <a:ext cx="4510200" cy="29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2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ble photo with text">
  <p:cSld name="Double photo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/>
          <p:nvPr>
            <p:ph idx="2" type="pic"/>
          </p:nvPr>
        </p:nvSpPr>
        <p:spPr>
          <a:xfrm>
            <a:off x="700398" y="1241431"/>
            <a:ext cx="2987100" cy="16671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27"/>
          <p:cNvSpPr txBox="1"/>
          <p:nvPr>
            <p:ph idx="1" type="body"/>
          </p:nvPr>
        </p:nvSpPr>
        <p:spPr>
          <a:xfrm>
            <a:off x="700398" y="3151862"/>
            <a:ext cx="29970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27"/>
          <p:cNvSpPr/>
          <p:nvPr>
            <p:ph idx="3" type="pic"/>
          </p:nvPr>
        </p:nvSpPr>
        <p:spPr>
          <a:xfrm>
            <a:off x="5430539" y="1241431"/>
            <a:ext cx="2987100" cy="1667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6" name="Google Shape;36;p27"/>
          <p:cNvCxnSpPr/>
          <p:nvPr/>
        </p:nvCxnSpPr>
        <p:spPr>
          <a:xfrm>
            <a:off x="4572000" y="1163485"/>
            <a:ext cx="0" cy="349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" name="Google Shape;37;p27"/>
          <p:cNvSpPr txBox="1"/>
          <p:nvPr>
            <p:ph idx="4" type="body"/>
          </p:nvPr>
        </p:nvSpPr>
        <p:spPr>
          <a:xfrm>
            <a:off x="5430539" y="3151862"/>
            <a:ext cx="29970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27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2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slide">
  <p:cSld name="Statement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idx="1" type="body"/>
          </p:nvPr>
        </p:nvSpPr>
        <p:spPr>
          <a:xfrm>
            <a:off x="1183710" y="1227953"/>
            <a:ext cx="65622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Arial"/>
              <a:buNone/>
              <a:defRPr b="1" i="0" sz="45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ding slide">
  <p:cSld name="Concluding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9"/>
          <p:cNvSpPr txBox="1"/>
          <p:nvPr>
            <p:ph type="ctrTitle"/>
          </p:nvPr>
        </p:nvSpPr>
        <p:spPr>
          <a:xfrm>
            <a:off x="1183709" y="1260389"/>
            <a:ext cx="6313800" cy="14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29"/>
          <p:cNvSpPr txBox="1"/>
          <p:nvPr>
            <p:ph idx="1" type="subTitle"/>
          </p:nvPr>
        </p:nvSpPr>
        <p:spPr>
          <a:xfrm>
            <a:off x="1183709" y="2718141"/>
            <a:ext cx="63138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29"/>
          <p:cNvSpPr txBox="1"/>
          <p:nvPr>
            <p:ph idx="2" type="body"/>
          </p:nvPr>
        </p:nvSpPr>
        <p:spPr>
          <a:xfrm>
            <a:off x="1183709" y="3315289"/>
            <a:ext cx="6313800" cy="11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30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30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cities.id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1183709" y="1339007"/>
            <a:ext cx="58809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en"/>
              <a:t>Scalable Data Analytics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1183709" y="3096024"/>
            <a:ext cx="5880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SENG 550</a:t>
            </a:r>
            <a:endParaRPr/>
          </a:p>
        </p:txBody>
      </p:sp>
      <p:sp>
        <p:nvSpPr>
          <p:cNvPr id="57" name="Google Shape;57;p1"/>
          <p:cNvSpPr txBox="1"/>
          <p:nvPr>
            <p:ph idx="2" type="body"/>
          </p:nvPr>
        </p:nvSpPr>
        <p:spPr>
          <a:xfrm>
            <a:off x="1183709" y="3636920"/>
            <a:ext cx="58809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AKA. Big Data - Data Engineering</a:t>
            </a:r>
            <a:endParaRPr/>
          </a:p>
        </p:txBody>
      </p:sp>
      <p:sp>
        <p:nvSpPr>
          <p:cNvPr id="58" name="Google Shape;58;p1"/>
          <p:cNvSpPr txBox="1"/>
          <p:nvPr>
            <p:ph idx="3" type="body"/>
          </p:nvPr>
        </p:nvSpPr>
        <p:spPr>
          <a:xfrm>
            <a:off x="1183709" y="4485884"/>
            <a:ext cx="4939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Armin Zirak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 sz="3000"/>
              <a:t>Kimball Data Modeling</a:t>
            </a:r>
            <a:endParaRPr sz="3000"/>
          </a:p>
        </p:txBody>
      </p:sp>
      <p:sp>
        <p:nvSpPr>
          <p:cNvPr id="64" name="Google Shape;64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20230363c_0_12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 Modeling</a:t>
            </a:r>
            <a:endParaRPr/>
          </a:p>
        </p:txBody>
      </p:sp>
      <p:sp>
        <p:nvSpPr>
          <p:cNvPr id="70" name="Google Shape;70;g3820230363c_0_123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Data modeling in relational databases is the process of organizing data elements and their relationships into structured tables to reduce redundancy, ensure data integrity, and support efficient querying.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pic>
        <p:nvPicPr>
          <p:cNvPr id="71" name="Google Shape;71;g3820230363c_0_123"/>
          <p:cNvPicPr preferRelativeResize="0"/>
          <p:nvPr/>
        </p:nvPicPr>
        <p:blipFill rotWithShape="1">
          <a:blip r:embed="rId3">
            <a:alphaModFix/>
          </a:blip>
          <a:srcRect b="18394" l="8486" r="4208" t="16331"/>
          <a:stretch/>
        </p:blipFill>
        <p:spPr>
          <a:xfrm>
            <a:off x="1969813" y="2063350"/>
            <a:ext cx="5025025" cy="293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20230363c_0_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77" name="Google Shape;77;g3820230363c_0_0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Imagine you have the below customers with their associated addresses.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graphicFrame>
        <p:nvGraphicFramePr>
          <p:cNvPr id="78" name="Google Shape;78;g3820230363c_0_0"/>
          <p:cNvGraphicFramePr/>
          <p:nvPr/>
        </p:nvGraphicFramePr>
        <p:xfrm>
          <a:off x="484651" y="219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908050"/>
                <a:gridCol w="1453825"/>
                <a:gridCol w="58128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name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address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1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Armin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1 - 123, 4th street, SW, Calgary, AB, Canada, T3V 4X1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2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/>
                        <a:t>Rafiee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2 - 456, 7th street, SW, Calgary, AB, Canada, T4V 4X2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…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20230363c_0_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/>
              <a:t>Example (Continued)</a:t>
            </a:r>
            <a:endParaRPr/>
          </a:p>
        </p:txBody>
      </p:sp>
      <p:sp>
        <p:nvSpPr>
          <p:cNvPr id="84" name="Google Shape;84;g3820230363c_0_6"/>
          <p:cNvSpPr txBox="1"/>
          <p:nvPr>
            <p:ph idx="1" type="body"/>
          </p:nvPr>
        </p:nvSpPr>
        <p:spPr>
          <a:xfrm>
            <a:off x="421975" y="1052375"/>
            <a:ext cx="86532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What if you store them in this format?</a:t>
            </a:r>
            <a:endParaRPr sz="16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Address field that could be a plain text or a json object is now separated into a list of columns.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graphicFrame>
        <p:nvGraphicFramePr>
          <p:cNvPr id="85" name="Google Shape;85;g3820230363c_0_6"/>
          <p:cNvGraphicFramePr/>
          <p:nvPr/>
        </p:nvGraphicFramePr>
        <p:xfrm>
          <a:off x="421975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641125"/>
                <a:gridCol w="763925"/>
                <a:gridCol w="817950"/>
                <a:gridCol w="1053775"/>
                <a:gridCol w="722800"/>
                <a:gridCol w="838425"/>
                <a:gridCol w="551475"/>
                <a:gridCol w="909100"/>
                <a:gridCol w="890625"/>
                <a:gridCol w="12348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name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street number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unit number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street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city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area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province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country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postal code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Armin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4th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Calgary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SW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AB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Canada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T3V 4X1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/>
                        <a:t>Rafiee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456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7th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Calgary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SW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AB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Canada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T4V 4X2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20230363c_0_12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Example (Continued)</a:t>
            </a:r>
            <a:endParaRPr/>
          </a:p>
        </p:txBody>
      </p:sp>
      <p:sp>
        <p:nvSpPr>
          <p:cNvPr id="91" name="Google Shape;91;g3820230363c_0_12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What if you store them in this format?</a:t>
            </a:r>
            <a:endParaRPr sz="16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We can query specific fields -&gt; </a:t>
            </a:r>
            <a:r>
              <a:rPr lang="en" sz="1500">
                <a:highlight>
                  <a:srgbClr val="D9EAD3"/>
                </a:highlight>
              </a:rPr>
              <a:t>select count(‘*’) from customers where city = ‘Calgary’</a:t>
            </a:r>
            <a:endParaRPr sz="1500">
              <a:highlight>
                <a:srgbClr val="D9EAD3"/>
              </a:highlight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We can leverage database indexes to make queries more efficient.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Data looks more structured now.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But, there could be less flexibility now…</a:t>
            </a:r>
            <a:endParaRPr sz="1600"/>
          </a:p>
        </p:txBody>
      </p:sp>
      <p:graphicFrame>
        <p:nvGraphicFramePr>
          <p:cNvPr id="92" name="Google Shape;92;g3820230363c_0_12"/>
          <p:cNvGraphicFramePr/>
          <p:nvPr/>
        </p:nvGraphicFramePr>
        <p:xfrm>
          <a:off x="421975" y="241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641125"/>
                <a:gridCol w="695800"/>
                <a:gridCol w="886075"/>
                <a:gridCol w="1053775"/>
                <a:gridCol w="722800"/>
                <a:gridCol w="838425"/>
                <a:gridCol w="551475"/>
                <a:gridCol w="909100"/>
                <a:gridCol w="890625"/>
                <a:gridCol w="12348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name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street number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unit number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street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city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area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province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country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postal code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Armin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123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4th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Calgary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SW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AB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Canada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T3V 4X1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Sarah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456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7th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Calgary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SW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AB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Canada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T4V 4X2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20230363c_0_18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Example (Continued)</a:t>
            </a:r>
            <a:endParaRPr/>
          </a:p>
        </p:txBody>
      </p:sp>
      <p:sp>
        <p:nvSpPr>
          <p:cNvPr id="98" name="Google Shape;98;g3820230363c_0_18"/>
          <p:cNvSpPr txBox="1"/>
          <p:nvPr>
            <p:ph idx="1" type="body"/>
          </p:nvPr>
        </p:nvSpPr>
        <p:spPr>
          <a:xfrm>
            <a:off x="334375" y="100372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What if we use a separate table for cities?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city_id references the corresponding city.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graphicFrame>
        <p:nvGraphicFramePr>
          <p:cNvPr id="99" name="Google Shape;99;g3820230363c_0_18"/>
          <p:cNvGraphicFramePr/>
          <p:nvPr/>
        </p:nvGraphicFramePr>
        <p:xfrm>
          <a:off x="2015675" y="202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874725"/>
                <a:gridCol w="874725"/>
                <a:gridCol w="952900"/>
                <a:gridCol w="832650"/>
              </a:tblGrid>
              <a:tr h="50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city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province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Country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50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Calgary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AB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Canada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0" name="Google Shape;100;g3820230363c_0_18"/>
          <p:cNvGraphicFramePr/>
          <p:nvPr/>
        </p:nvGraphicFramePr>
        <p:xfrm>
          <a:off x="531500" y="317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693625"/>
                <a:gridCol w="774250"/>
                <a:gridCol w="1125550"/>
                <a:gridCol w="1021925"/>
                <a:gridCol w="688175"/>
                <a:gridCol w="715650"/>
                <a:gridCol w="603350"/>
                <a:gridCol w="1506950"/>
                <a:gridCol w="9515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name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street number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unit number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street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highlight>
                            <a:srgbClr val="D9EAD3"/>
                          </a:highlight>
                        </a:rPr>
                        <a:t>city_id</a:t>
                      </a:r>
                      <a:endParaRPr sz="1400" u="none" cap="none" strike="noStrike">
                        <a:highlight>
                          <a:srgbClr val="D9EAD3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Area</a:t>
                      </a:r>
                      <a:endParaRPr sz="1400" u="none" cap="none" strike="noStrike">
                        <a:highlight>
                          <a:srgbClr val="D9EAD3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Full Address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Postal Code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Armin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123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4th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SW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1 - 123, 4th street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T4V 4X2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Sarah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456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7th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SW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2 - 456, 7th street,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T4V 4X2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01" name="Google Shape;101;g3820230363c_0_18"/>
          <p:cNvCxnSpPr/>
          <p:nvPr/>
        </p:nvCxnSpPr>
        <p:spPr>
          <a:xfrm>
            <a:off x="2707200" y="2918050"/>
            <a:ext cx="2647200" cy="311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20230363c_0_2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/>
              <a:t>Example (Continued)</a:t>
            </a:r>
            <a:endParaRPr/>
          </a:p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7" name="Google Shape;107;g3820230363c_0_26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Storage will be used more efficiently. </a:t>
            </a:r>
            <a:endParaRPr sz="16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Calgary, AB and Canada don’t have to be repeated for every single customer. Only one reference to cities table is enough.</a:t>
            </a:r>
            <a:endParaRPr sz="15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500"/>
              <a:t>But storage is not a huge deal these days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Updates will become faster.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If a city moves from a province to another one, only one row needs change.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graphicFrame>
        <p:nvGraphicFramePr>
          <p:cNvPr id="108" name="Google Shape;108;g3820230363c_0_26"/>
          <p:cNvGraphicFramePr/>
          <p:nvPr/>
        </p:nvGraphicFramePr>
        <p:xfrm>
          <a:off x="1690875" y="279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957500"/>
                <a:gridCol w="957500"/>
                <a:gridCol w="911450"/>
                <a:gridCol w="911450"/>
              </a:tblGrid>
              <a:tr h="437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city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province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Country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37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Calgary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AB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Canada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9" name="Google Shape;109;g3820230363c_0_26"/>
          <p:cNvGraphicFramePr/>
          <p:nvPr/>
        </p:nvGraphicFramePr>
        <p:xfrm>
          <a:off x="531500" y="374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755275"/>
                <a:gridCol w="843050"/>
                <a:gridCol w="1225575"/>
                <a:gridCol w="1112725"/>
                <a:gridCol w="749325"/>
                <a:gridCol w="718100"/>
                <a:gridCol w="1640850"/>
                <a:gridCol w="1036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name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street number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unit number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street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highlight>
                            <a:srgbClr val="D9EAD3"/>
                          </a:highlight>
                        </a:rPr>
                        <a:t>city_id</a:t>
                      </a:r>
                      <a:endParaRPr sz="1400" u="none" cap="none" strike="noStrike">
                        <a:highlight>
                          <a:srgbClr val="D9EAD3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Full Address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Postal Code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Armin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123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4th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1 - 123, 4th street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T4V 4X2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Sarah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456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7th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2 - 456, 7th street,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T4V 4X2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20230363c_0_3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Example (Continued)</a:t>
            </a:r>
            <a:endParaRPr/>
          </a:p>
        </p:txBody>
      </p:sp>
      <p:sp>
        <p:nvSpPr>
          <p:cNvPr id="115" name="Google Shape;115;g3820230363c_0_33"/>
          <p:cNvSpPr txBox="1"/>
          <p:nvPr>
            <p:ph idx="1" type="body"/>
          </p:nvPr>
        </p:nvSpPr>
        <p:spPr>
          <a:xfrm>
            <a:off x="421975" y="1052375"/>
            <a:ext cx="84408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Removing redundancies increases consistency.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500"/>
              <a:t>Y</a:t>
            </a:r>
            <a:r>
              <a:rPr lang="en" sz="1300"/>
              <a:t>ou wouldn’t see some rows reference to Calgary in AB while others reference to Calgary in a new province.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400"/>
          </a:p>
          <a:p>
            <a:pPr indent="-3111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lang="en" sz="1400"/>
              <a:t>Adding a new row to customers could be faster because you wouldn’t need to insert the full information</a:t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graphicFrame>
        <p:nvGraphicFramePr>
          <p:cNvPr id="116" name="Google Shape;116;g3820230363c_0_33"/>
          <p:cNvGraphicFramePr/>
          <p:nvPr/>
        </p:nvGraphicFramePr>
        <p:xfrm>
          <a:off x="1690875" y="254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957500"/>
                <a:gridCol w="957500"/>
                <a:gridCol w="756550"/>
                <a:gridCol w="911450"/>
                <a:gridCol w="911450"/>
              </a:tblGrid>
              <a:tr h="437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city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area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province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Country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37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Calgary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SW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AB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Canada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7" name="Google Shape;117;g3820230363c_0_33"/>
          <p:cNvGraphicFramePr/>
          <p:nvPr/>
        </p:nvGraphicFramePr>
        <p:xfrm>
          <a:off x="531500" y="374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755275"/>
                <a:gridCol w="843050"/>
                <a:gridCol w="1225575"/>
                <a:gridCol w="1112725"/>
                <a:gridCol w="749325"/>
                <a:gridCol w="718100"/>
                <a:gridCol w="1640850"/>
                <a:gridCol w="1036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name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street number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unit number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street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highlight>
                            <a:srgbClr val="D9EAD3"/>
                          </a:highlight>
                        </a:rPr>
                        <a:t>city_id</a:t>
                      </a:r>
                      <a:endParaRPr sz="1400" u="none" cap="none" strike="noStrike">
                        <a:highlight>
                          <a:srgbClr val="D9EAD3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Full Address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Postal Code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Armin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123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4th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1 - 123, 4th street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T4V 4X2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Sarah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456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7th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2 - 456, 7th street,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T4V 4X2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20230363c_0_4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Example (Continued)</a:t>
            </a:r>
            <a:endParaRPr/>
          </a:p>
        </p:txBody>
      </p:sp>
      <p:sp>
        <p:nvSpPr>
          <p:cNvPr id="123" name="Google Shape;123;g3820230363c_0_40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Efficiency of read queries that need information from both tables would be less.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 query that retrieves full user information 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>
                <a:highlight>
                  <a:srgbClr val="F4CCCC"/>
                </a:highlight>
              </a:rPr>
              <a:t>select * from customers left join cities where customer.city_id = </a:t>
            </a:r>
            <a:r>
              <a:rPr lang="en" sz="1600" u="sng">
                <a:solidFill>
                  <a:schemeClr val="hlink"/>
                </a:solidFill>
                <a:highlight>
                  <a:srgbClr val="F4CCCC"/>
                </a:highlight>
                <a:hlinkClick r:id="rId3"/>
              </a:rPr>
              <a:t>cities.id</a:t>
            </a:r>
            <a:r>
              <a:rPr lang="en" sz="1600">
                <a:highlight>
                  <a:srgbClr val="F4CCCC"/>
                </a:highlight>
              </a:rPr>
              <a:t>;</a:t>
            </a:r>
            <a:endParaRPr sz="1600">
              <a:highlight>
                <a:srgbClr val="F4CCCC"/>
              </a:highlight>
            </a:endParaRPr>
          </a:p>
        </p:txBody>
      </p:sp>
      <p:graphicFrame>
        <p:nvGraphicFramePr>
          <p:cNvPr id="124" name="Google Shape;124;g3820230363c_0_40"/>
          <p:cNvGraphicFramePr/>
          <p:nvPr/>
        </p:nvGraphicFramePr>
        <p:xfrm>
          <a:off x="1729800" y="249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957500"/>
                <a:gridCol w="957500"/>
                <a:gridCol w="756550"/>
                <a:gridCol w="911450"/>
                <a:gridCol w="911450"/>
              </a:tblGrid>
              <a:tr h="437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city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area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province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Country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37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Calgary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SW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AB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Canada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5" name="Google Shape;125;g3820230363c_0_40"/>
          <p:cNvGraphicFramePr/>
          <p:nvPr/>
        </p:nvGraphicFramePr>
        <p:xfrm>
          <a:off x="531500" y="348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755275"/>
                <a:gridCol w="843050"/>
                <a:gridCol w="1225575"/>
                <a:gridCol w="1112725"/>
                <a:gridCol w="749325"/>
                <a:gridCol w="718100"/>
                <a:gridCol w="1640850"/>
                <a:gridCol w="10361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name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street number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unit number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street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highlight>
                            <a:srgbClr val="D9EAD3"/>
                          </a:highlight>
                        </a:rPr>
                        <a:t>city_id</a:t>
                      </a:r>
                      <a:endParaRPr sz="1400" u="none" cap="none" strike="noStrike">
                        <a:highlight>
                          <a:srgbClr val="D9EAD3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Full Address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Postal Code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Armin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123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4th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1 - 123, 4th street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T4V 4X2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Sarah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456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7th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2 - 456, 7th street,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T4V 4X2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20230363c_0_13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Normalization</a:t>
            </a:r>
            <a:endParaRPr/>
          </a:p>
        </p:txBody>
      </p:sp>
      <p:sp>
        <p:nvSpPr>
          <p:cNvPr id="131" name="Google Shape;131;g3820230363c_0_134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Normalization is the process of organizing data in a relational database to minimize redundancy and ensure data integrity by dividing large tables into smaller, related tables and defining relationships between them.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Normalization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Eliminates duplicate data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Reduces data anomalies (insertion, update, deletion)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Ensures logical data structure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Improves data consistency and maintainability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20230363c_0_141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Normalization - Forms</a:t>
            </a:r>
            <a:endParaRPr/>
          </a:p>
        </p:txBody>
      </p:sp>
      <p:sp>
        <p:nvSpPr>
          <p:cNvPr id="137" name="Google Shape;137;g3820230363c_0_141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Normalization is done in stages called </a:t>
            </a:r>
            <a:r>
              <a:rPr b="1" lang="en" sz="1600"/>
              <a:t>normal forms</a:t>
            </a:r>
            <a:r>
              <a:rPr lang="en" sz="1600"/>
              <a:t>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1NF – No repeating groups; all values are atomic.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2NF – No partial dependencies; every non-key depends on the whole primary key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3NF – No transitive dependencies; non-key attributes depend only on the primary key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4NF, BCNF, …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This slide won’t be questioned in the exam.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20230363c_0_4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Highly Normalized Table Example</a:t>
            </a:r>
            <a:endParaRPr/>
          </a:p>
        </p:txBody>
      </p:sp>
      <p:sp>
        <p:nvSpPr>
          <p:cNvPr id="143" name="Google Shape;143;g3820230363c_0_47"/>
          <p:cNvSpPr txBox="1"/>
          <p:nvPr>
            <p:ph idx="1" type="body"/>
          </p:nvPr>
        </p:nvSpPr>
        <p:spPr>
          <a:xfrm>
            <a:off x="421975" y="1052375"/>
            <a:ext cx="53916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 table of orders, each order is associated to a customer, product, payment method, delivery, discount, etc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 lot of joins…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300"/>
          </a:p>
        </p:txBody>
      </p:sp>
      <p:graphicFrame>
        <p:nvGraphicFramePr>
          <p:cNvPr id="144" name="Google Shape;144;g3820230363c_0_47"/>
          <p:cNvGraphicFramePr/>
          <p:nvPr/>
        </p:nvGraphicFramePr>
        <p:xfrm>
          <a:off x="203638" y="2981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429725"/>
                <a:gridCol w="618375"/>
                <a:gridCol w="586275"/>
                <a:gridCol w="1137975"/>
                <a:gridCol w="483700"/>
              </a:tblGrid>
              <a:tr h="26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id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name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phone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address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…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</a:tr>
              <a:tr h="248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Armin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123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123, 4th street … 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</a:tr>
              <a:tr h="26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2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Sarah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</a:rPr>
                        <a:t>456</a:t>
                      </a:r>
                      <a:endParaRPr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</a:rPr>
                        <a:t>123, 5th street …</a:t>
                      </a:r>
                      <a:endParaRPr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5" name="Google Shape;145;g3820230363c_0_47"/>
          <p:cNvGraphicFramePr/>
          <p:nvPr/>
        </p:nvGraphicFramePr>
        <p:xfrm>
          <a:off x="3621650" y="297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390225"/>
                <a:gridCol w="435575"/>
                <a:gridCol w="983350"/>
                <a:gridCol w="382850"/>
              </a:tblGrid>
              <a:tr h="31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id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price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Category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…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</a:tr>
              <a:tr h="28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450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Laptop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</a:tr>
              <a:tr h="28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2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700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</a:rPr>
                        <a:t>Cell Phone</a:t>
                      </a:r>
                      <a:endParaRPr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6" name="Google Shape;146;g3820230363c_0_47"/>
          <p:cNvGraphicFramePr/>
          <p:nvPr/>
        </p:nvGraphicFramePr>
        <p:xfrm>
          <a:off x="3030538" y="398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385900"/>
                <a:gridCol w="770350"/>
                <a:gridCol w="692450"/>
                <a:gridCol w="744200"/>
                <a:gridCol w="382850"/>
              </a:tblGrid>
              <a:tr h="26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id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customer_id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product_id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payment_id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…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</a:tr>
              <a:tr h="248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</a:tr>
              <a:tr h="26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2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2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2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2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47" name="Google Shape;147;g3820230363c_0_47"/>
          <p:cNvPicPr preferRelativeResize="0"/>
          <p:nvPr/>
        </p:nvPicPr>
        <p:blipFill rotWithShape="1">
          <a:blip r:embed="rId3">
            <a:alphaModFix/>
          </a:blip>
          <a:srcRect b="5861" l="0" r="0" t="8316"/>
          <a:stretch/>
        </p:blipFill>
        <p:spPr>
          <a:xfrm>
            <a:off x="5893050" y="1151625"/>
            <a:ext cx="2920325" cy="1673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g3820230363c_0_47"/>
          <p:cNvCxnSpPr/>
          <p:nvPr/>
        </p:nvCxnSpPr>
        <p:spPr>
          <a:xfrm rot="10800000">
            <a:off x="558050" y="3832925"/>
            <a:ext cx="3146700" cy="26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" name="Google Shape;149;g3820230363c_0_47"/>
          <p:cNvCxnSpPr/>
          <p:nvPr/>
        </p:nvCxnSpPr>
        <p:spPr>
          <a:xfrm rot="10800000">
            <a:off x="3938325" y="3808500"/>
            <a:ext cx="618000" cy="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50" name="Google Shape;150;g3820230363c_0_47"/>
          <p:cNvGraphicFramePr/>
          <p:nvPr/>
        </p:nvGraphicFramePr>
        <p:xfrm>
          <a:off x="6362825" y="292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390225"/>
                <a:gridCol w="712950"/>
                <a:gridCol w="705975"/>
                <a:gridCol w="382850"/>
              </a:tblGrid>
              <a:tr h="41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id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amount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Processor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…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</a:tr>
              <a:tr h="29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450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Mastercard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</a:tr>
              <a:tr h="29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2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700</a:t>
                      </a:r>
                      <a:endParaRPr sz="8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</a:rPr>
                        <a:t>Visa</a:t>
                      </a:r>
                      <a:endParaRPr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51" name="Google Shape;151;g3820230363c_0_47"/>
          <p:cNvCxnSpPr/>
          <p:nvPr/>
        </p:nvCxnSpPr>
        <p:spPr>
          <a:xfrm flipH="1" rot="10800000">
            <a:off x="5437100" y="3876575"/>
            <a:ext cx="1036500" cy="18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g3820230363c_0_47"/>
          <p:cNvSpPr txBox="1"/>
          <p:nvPr/>
        </p:nvSpPr>
        <p:spPr>
          <a:xfrm>
            <a:off x="2162700" y="4312100"/>
            <a:ext cx="8133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Orders</a:t>
            </a:r>
            <a:endParaRPr/>
          </a:p>
        </p:txBody>
      </p:sp>
      <p:sp>
        <p:nvSpPr>
          <p:cNvPr id="153" name="Google Shape;153;g3820230363c_0_47"/>
          <p:cNvSpPr txBox="1"/>
          <p:nvPr/>
        </p:nvSpPr>
        <p:spPr>
          <a:xfrm>
            <a:off x="633375" y="2600850"/>
            <a:ext cx="1163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Customers</a:t>
            </a:r>
            <a:endParaRPr/>
          </a:p>
        </p:txBody>
      </p:sp>
      <p:sp>
        <p:nvSpPr>
          <p:cNvPr id="154" name="Google Shape;154;g3820230363c_0_47"/>
          <p:cNvSpPr txBox="1"/>
          <p:nvPr/>
        </p:nvSpPr>
        <p:spPr>
          <a:xfrm>
            <a:off x="3990300" y="2649975"/>
            <a:ext cx="1163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</a:t>
            </a:r>
            <a:r>
              <a:rPr lang="en"/>
              <a:t>cts</a:t>
            </a:r>
            <a:endParaRPr/>
          </a:p>
        </p:txBody>
      </p:sp>
      <p:sp>
        <p:nvSpPr>
          <p:cNvPr id="155" name="Google Shape;155;g3820230363c_0_47"/>
          <p:cNvSpPr txBox="1"/>
          <p:nvPr/>
        </p:nvSpPr>
        <p:spPr>
          <a:xfrm>
            <a:off x="7055050" y="4045000"/>
            <a:ext cx="1163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Payments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20230363c_0_6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Denormalization</a:t>
            </a:r>
            <a:endParaRPr/>
          </a:p>
        </p:txBody>
      </p:sp>
      <p:sp>
        <p:nvSpPr>
          <p:cNvPr id="161" name="Google Shape;161;g3820230363c_0_60"/>
          <p:cNvSpPr txBox="1"/>
          <p:nvPr>
            <p:ph idx="1" type="body"/>
          </p:nvPr>
        </p:nvSpPr>
        <p:spPr>
          <a:xfrm>
            <a:off x="421975" y="1052375"/>
            <a:ext cx="85818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Denormalization: I</a:t>
            </a:r>
            <a:r>
              <a:rPr lang="en" sz="1500"/>
              <a:t>ntentionally introducing redundancy into a database by combining normalized tables. (Opposite of Normalization)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Store data in wide tables to avoid extra joins.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For example, a single orders table stores everything. Customer and product information are repeated at each row which is a lot of data redundancy.  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Queries are run on a single table.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300"/>
          </a:p>
        </p:txBody>
      </p:sp>
      <p:graphicFrame>
        <p:nvGraphicFramePr>
          <p:cNvPr id="162" name="Google Shape;162;g3820230363c_0_60"/>
          <p:cNvGraphicFramePr/>
          <p:nvPr/>
        </p:nvGraphicFramePr>
        <p:xfrm>
          <a:off x="232838" y="273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833275"/>
                <a:gridCol w="930100"/>
                <a:gridCol w="1352150"/>
                <a:gridCol w="1661700"/>
                <a:gridCol w="678575"/>
                <a:gridCol w="1080075"/>
                <a:gridCol w="1649475"/>
                <a:gridCol w="5855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id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customer_name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customer_phone_number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customer_address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….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product_id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product_price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…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Armin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123, 4 th street … 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450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/>
                        <a:t>Rafiee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456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123, 5 th street …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700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20230363c_0_6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Denormalization</a:t>
            </a:r>
            <a:endParaRPr/>
          </a:p>
        </p:txBody>
      </p:sp>
      <p:sp>
        <p:nvSpPr>
          <p:cNvPr id="168" name="Google Shape;168;g3820230363c_0_66"/>
          <p:cNvSpPr txBox="1"/>
          <p:nvPr>
            <p:ph idx="1" type="body"/>
          </p:nvPr>
        </p:nvSpPr>
        <p:spPr>
          <a:xfrm>
            <a:off x="421975" y="1052375"/>
            <a:ext cx="85818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read queries that need a combination of information between product, order and customer perform better.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Also, require less domain knowledge to find your data.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Easier for less technical stakeholders (e.g., data </a:t>
            </a:r>
            <a:r>
              <a:rPr lang="en" sz="1500"/>
              <a:t>analysts</a:t>
            </a:r>
            <a:r>
              <a:rPr lang="en" sz="1500"/>
              <a:t>)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aphicFrame>
        <p:nvGraphicFramePr>
          <p:cNvPr id="169" name="Google Shape;169;g3820230363c_0_66"/>
          <p:cNvGraphicFramePr/>
          <p:nvPr/>
        </p:nvGraphicFramePr>
        <p:xfrm>
          <a:off x="232838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833275"/>
                <a:gridCol w="930100"/>
                <a:gridCol w="1352150"/>
                <a:gridCol w="1661700"/>
                <a:gridCol w="678575"/>
                <a:gridCol w="1080075"/>
                <a:gridCol w="1649475"/>
                <a:gridCol w="5855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id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customer_name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customer_phone_number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customer_address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….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product_id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product_price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…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Armin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123, 4 th street … 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4th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/>
                        <a:t>Rafiee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456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123, 5 th street …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7th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20230363c_0_72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Normalization vs Denormalization</a:t>
            </a:r>
            <a:endParaRPr/>
          </a:p>
        </p:txBody>
      </p:sp>
      <p:graphicFrame>
        <p:nvGraphicFramePr>
          <p:cNvPr id="175" name="Google Shape;175;g3820230363c_0_72"/>
          <p:cNvGraphicFramePr/>
          <p:nvPr/>
        </p:nvGraphicFramePr>
        <p:xfrm>
          <a:off x="421975" y="100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{B1C7E658-7391-443F-A6A4-BCCA1F975ADF}</a:tableStyleId>
              </a:tblPr>
              <a:tblGrid>
                <a:gridCol w="2701725"/>
                <a:gridCol w="2701725"/>
                <a:gridCol w="2701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Aspects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Normalization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Denormalization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Redundancy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Integrity (Accuracy)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6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Storage Efficiency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Read Performance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Less (More Joins)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Write Performance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Maintenance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Easier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Harder (Duplicated Data)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 Storage*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Transactional Databases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Analytical </a:t>
                      </a:r>
                      <a:r>
                        <a:rPr lang="en"/>
                        <a:t>Data Warehouses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 Case *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OLTP - Software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OLAP - Analytics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76" name="Google Shape;176;g3820230363c_0_72"/>
          <p:cNvSpPr txBox="1"/>
          <p:nvPr/>
        </p:nvSpPr>
        <p:spPr>
          <a:xfrm>
            <a:off x="69100" y="4057550"/>
            <a:ext cx="454200" cy="1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820230363c_0_72"/>
          <p:cNvSpPr txBox="1"/>
          <p:nvPr/>
        </p:nvSpPr>
        <p:spPr>
          <a:xfrm>
            <a:off x="-109675" y="3714375"/>
            <a:ext cx="574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</a:rPr>
              <a:t>Will cover later</a:t>
            </a:r>
            <a:endParaRPr b="1" sz="1000">
              <a:solidFill>
                <a:schemeClr val="accent1"/>
              </a:solidFill>
            </a:endParaRPr>
          </a:p>
        </p:txBody>
      </p:sp>
      <p:cxnSp>
        <p:nvCxnSpPr>
          <p:cNvPr id="178" name="Google Shape;178;g3820230363c_0_72"/>
          <p:cNvCxnSpPr>
            <a:stCxn id="177" idx="0"/>
          </p:cNvCxnSpPr>
          <p:nvPr/>
        </p:nvCxnSpPr>
        <p:spPr>
          <a:xfrm>
            <a:off x="177725" y="3714375"/>
            <a:ext cx="286200" cy="21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 Modeling</a:t>
            </a:r>
            <a:endParaRPr/>
          </a:p>
        </p:txBody>
      </p:sp>
      <p:sp>
        <p:nvSpPr>
          <p:cNvPr id="184" name="Google Shape;184;p3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Finding the right balance between highly normalized and highly denormalized data structures is a key part of effective data modeling.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Data Modelling is not just finding the proper normalization level. It includes a broader concept of finding the logical and physical entities.</a:t>
            </a:r>
            <a:endParaRPr sz="1600"/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Identify key entities like Customer, Order, and Product.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Define relationships such as one-to-many between Customer and Orders.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Choose primary keys and foreign keys for unique identification and links.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Set constraints like non-null fields and valid data ranges.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Design indexes to improve query performance.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Plan for scalability using partitioning or sharding (will cover later in distributed databases)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Enforce data integrity with referential constraints and cascading actions.</a:t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20230363c_0_16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 Data Modeling in Analytics</a:t>
            </a:r>
            <a:endParaRPr/>
          </a:p>
        </p:txBody>
      </p:sp>
      <p:sp>
        <p:nvSpPr>
          <p:cNvPr id="190" name="Google Shape;190;g3820230363c_0_167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Best data models in analytics zone: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Often uses denormalized tables for faster reads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Focuses on joins, aggregations, summaries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Deals with historical data management.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Supports complex queries and multidimensional analysis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Prioritizes query performance over write efficiency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Common Models for Analytics Zone Data Modelling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Star Schema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Snowflake Schema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Data Vault</a:t>
            </a:r>
            <a:endParaRPr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Kimball Data Modeling</a:t>
            </a:r>
            <a:endParaRPr/>
          </a:p>
        </p:txBody>
      </p:sp>
      <p:sp>
        <p:nvSpPr>
          <p:cNvPr id="196" name="Google Shape;196;p4"/>
          <p:cNvSpPr txBox="1"/>
          <p:nvPr>
            <p:ph idx="1" type="body"/>
          </p:nvPr>
        </p:nvSpPr>
        <p:spPr>
          <a:xfrm>
            <a:off x="421975" y="1052375"/>
            <a:ext cx="5249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Ralph Kimball is one of the founding architects of data warehousing and dimensional modeling.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Kimball’s Approach emphasizes building data marts (small, subject-specific data warehouses) and integrating them into a data warehouse using a bottom-up approach.</a:t>
            </a:r>
            <a:endParaRPr sz="1600"/>
          </a:p>
        </p:txBody>
      </p:sp>
      <p:pic>
        <p:nvPicPr>
          <p:cNvPr id="197" name="Google Shape;19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3025" y="1052373"/>
            <a:ext cx="2761675" cy="348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Dimensional Modeling</a:t>
            </a:r>
            <a:endParaRPr/>
          </a:p>
        </p:txBody>
      </p:sp>
      <p:sp>
        <p:nvSpPr>
          <p:cNvPr id="203" name="Google Shape;203;p5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Kimball uses </a:t>
            </a:r>
            <a:r>
              <a:rPr b="1" lang="en" sz="1600"/>
              <a:t>dimensional modeling</a:t>
            </a:r>
            <a:r>
              <a:rPr lang="en" sz="1600"/>
              <a:t>, which organizes data into fact and dimension tables.</a:t>
            </a:r>
            <a:endParaRPr sz="1600"/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Fact tables</a:t>
            </a:r>
            <a:r>
              <a:rPr lang="en" sz="1600"/>
              <a:t> store quantitative data such as sales, cost, quantity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Eg., Orders, Payments, Deliveries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Increasing in size </a:t>
            </a:r>
            <a:r>
              <a:rPr lang="en" sz="1600"/>
              <a:t>forever</a:t>
            </a:r>
            <a:r>
              <a:rPr lang="en" sz="1600"/>
              <a:t> and append-only.</a:t>
            </a:r>
            <a:endParaRPr sz="1600"/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Dimensional tables</a:t>
            </a:r>
            <a:r>
              <a:rPr lang="en" sz="1600"/>
              <a:t> store descriptive information such as customer name and product information.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E.g., Customers, Locations, Products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Smaller than fact tables. Not inserting data frequently.</a:t>
            </a:r>
            <a:endParaRPr sz="1600"/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Fact tables contain foreign keys that refer to dimensional tables.</a:t>
            </a:r>
            <a:endParaRPr sz="1600"/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Can be Implemented in two common formats known as </a:t>
            </a:r>
            <a:r>
              <a:rPr b="1" lang="en" sz="1600"/>
              <a:t>Star </a:t>
            </a:r>
            <a:r>
              <a:rPr lang="en" sz="1600"/>
              <a:t>and </a:t>
            </a:r>
            <a:r>
              <a:rPr b="1" lang="en" sz="1600"/>
              <a:t>Snowflake schema</a:t>
            </a:r>
            <a:endParaRPr b="1"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Star Schema</a:t>
            </a:r>
            <a:endParaRPr/>
          </a:p>
        </p:txBody>
      </p:sp>
      <p:sp>
        <p:nvSpPr>
          <p:cNvPr id="209" name="Google Shape;209;p6"/>
          <p:cNvSpPr txBox="1"/>
          <p:nvPr>
            <p:ph idx="1" type="body"/>
          </p:nvPr>
        </p:nvSpPr>
        <p:spPr>
          <a:xfrm>
            <a:off x="248950" y="1052375"/>
            <a:ext cx="48204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There is one central fact surrounded by multiple dimension tables.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Dimension tables are not connected to each other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Simple and easy to understand by non-technical business users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Users query fact tables and pull in other information they need from dimension tables.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500"/>
          </a:p>
        </p:txBody>
      </p:sp>
      <p:pic>
        <p:nvPicPr>
          <p:cNvPr id="210" name="Google Shape;2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5975" y="953939"/>
            <a:ext cx="4156402" cy="371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Star Schema</a:t>
            </a:r>
            <a:endParaRPr/>
          </a:p>
        </p:txBody>
      </p:sp>
      <p:pic>
        <p:nvPicPr>
          <p:cNvPr id="216" name="Google Shape;2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2700" y="1122875"/>
            <a:ext cx="4707500" cy="35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Star Schema - Sample Analysis Query</a:t>
            </a:r>
            <a:endParaRPr/>
          </a:p>
        </p:txBody>
      </p:sp>
      <p:sp>
        <p:nvSpPr>
          <p:cNvPr id="222" name="Google Shape;222;p8"/>
          <p:cNvSpPr txBox="1"/>
          <p:nvPr/>
        </p:nvSpPr>
        <p:spPr>
          <a:xfrm>
            <a:off x="737475" y="1179000"/>
            <a:ext cx="6815700" cy="3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sum(f.sales_amount),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sum(f.quantity),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	sum(f.discount)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fact_sales f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		dim_customer c </a:t>
            </a:r>
            <a:r>
              <a:rPr b="0" i="0" lang="en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ON</a:t>
            </a: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f.customer_id = c.customer_id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		dim_product p </a:t>
            </a:r>
            <a:r>
              <a:rPr b="0" i="0" lang="en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ON</a:t>
            </a: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f.product_id = p.product_id;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WHERE </a:t>
            </a: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c.city = ‘Calgary’ </a:t>
            </a:r>
            <a:r>
              <a:rPr b="0" i="0" lang="en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p.category = ‘Technology’ 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Star Schema - Sample Analysis Query 2</a:t>
            </a:r>
            <a:endParaRPr/>
          </a:p>
        </p:txBody>
      </p:sp>
      <p:sp>
        <p:nvSpPr>
          <p:cNvPr id="228" name="Google Shape;228;p9"/>
          <p:cNvSpPr txBox="1"/>
          <p:nvPr/>
        </p:nvSpPr>
        <p:spPr>
          <a:xfrm>
            <a:off x="737475" y="1179000"/>
            <a:ext cx="6977700" cy="3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p.patient_name,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d.diagnosis_description,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f.total_cost,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t.treatment_date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fact_treatment f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dim_patient p </a:t>
            </a:r>
            <a:r>
              <a:rPr b="0" i="0" lang="en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ON</a:t>
            </a: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f.patient_id = p.patient_id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dim_diagnosis d </a:t>
            </a:r>
            <a:r>
              <a:rPr b="0" i="0" lang="en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ON</a:t>
            </a: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f.diagnosis_id = d.diagnosis_id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dim_time t </a:t>
            </a:r>
            <a:r>
              <a:rPr b="0" i="0" lang="en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ON</a:t>
            </a: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f.time_id = t.time_id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t.treatment_date </a:t>
            </a:r>
            <a:r>
              <a:rPr b="0" i="0" lang="en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BETWEEN</a:t>
            </a: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" sz="1400" u="none" cap="none" strike="noStrike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'2023-01-01'</a:t>
            </a: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" sz="1400" u="none" cap="none" strike="noStrike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" sz="1400" u="none" cap="none" strike="noStrike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'2023-12-31'</a:t>
            </a:r>
            <a:r>
              <a:rPr b="0" i="0" lang="en" sz="14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400" u="none" cap="none" strike="noStrike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5392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955600" y="1432550"/>
            <a:ext cx="3579300" cy="756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 tables are narrow that </a:t>
            </a:r>
            <a:r>
              <a:rPr b="1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potentially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offers optimization benefits depending on database (data warehouse) engine.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Star Schema - Dimension Tables</a:t>
            </a:r>
            <a:endParaRPr/>
          </a:p>
        </p:txBody>
      </p:sp>
      <p:sp>
        <p:nvSpPr>
          <p:cNvPr id="235" name="Google Shape;235;p10"/>
          <p:cNvSpPr txBox="1"/>
          <p:nvPr>
            <p:ph idx="1" type="body"/>
          </p:nvPr>
        </p:nvSpPr>
        <p:spPr>
          <a:xfrm>
            <a:off x="421975" y="1052375"/>
            <a:ext cx="83265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Dimensions are often denormalized.</a:t>
            </a:r>
            <a:endParaRPr sz="16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Products have categories, Customers have addresses, etc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But, they are not separated in other tables, they are stored within the same dimensional table.</a:t>
            </a:r>
            <a:endParaRPr sz="1400"/>
          </a:p>
          <a:p>
            <a:pPr indent="0" lvl="0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Denormalization at dimension tables makes</a:t>
            </a:r>
            <a:endParaRPr sz="16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Data more understandable by non-technical business users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Joins more efficient as they involve less number of table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Design easier for data engineers.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A lot of data redundancy</a:t>
            </a:r>
            <a:endParaRPr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Galaxy Schema</a:t>
            </a:r>
            <a:endParaRPr/>
          </a:p>
        </p:txBody>
      </p:sp>
      <p:sp>
        <p:nvSpPr>
          <p:cNvPr id="241" name="Google Shape;241;p11"/>
          <p:cNvSpPr txBox="1"/>
          <p:nvPr>
            <p:ph idx="1" type="body"/>
          </p:nvPr>
        </p:nvSpPr>
        <p:spPr>
          <a:xfrm>
            <a:off x="421975" y="1052375"/>
            <a:ext cx="83265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400"/>
              <a:t>Often multiple starts are needed, each one representing a business aspect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When there is multiple start and they share some dimensions, it’s called Galaxy schema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Galaxy is just an extension of Star schema</a:t>
            </a:r>
            <a:endParaRPr sz="1400"/>
          </a:p>
        </p:txBody>
      </p:sp>
      <p:pic>
        <p:nvPicPr>
          <p:cNvPr id="242" name="Google Shape;24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9125" y="1793125"/>
            <a:ext cx="5625750" cy="313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Snowflake Schema</a:t>
            </a:r>
            <a:endParaRPr/>
          </a:p>
        </p:txBody>
      </p:sp>
      <p:sp>
        <p:nvSpPr>
          <p:cNvPr id="248" name="Google Shape;248;p12"/>
          <p:cNvSpPr txBox="1"/>
          <p:nvPr>
            <p:ph idx="1" type="body"/>
          </p:nvPr>
        </p:nvSpPr>
        <p:spPr>
          <a:xfrm>
            <a:off x="421975" y="1052375"/>
            <a:ext cx="83265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More normalized version of star schema.</a:t>
            </a:r>
            <a:endParaRPr sz="15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Dimensions have sub dimensions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500"/>
              <a:t>For example, product categories might be a sub dimensional table for products</a:t>
            </a:r>
            <a:endParaRPr sz="16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More storage efficiency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Less reader performance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Because it involves more joins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Harder to understand </a:t>
            </a:r>
            <a:br>
              <a:rPr lang="en" sz="1500"/>
            </a:br>
            <a:r>
              <a:rPr lang="en" sz="1500"/>
              <a:t>b</a:t>
            </a:r>
            <a:r>
              <a:rPr lang="en" sz="1500"/>
              <a:t>y non-technical users</a:t>
            </a:r>
            <a:endParaRPr sz="1500"/>
          </a:p>
        </p:txBody>
      </p:sp>
      <p:pic>
        <p:nvPicPr>
          <p:cNvPr id="249" name="Google Shape;24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3350" y="2057425"/>
            <a:ext cx="4283125" cy="289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820230363c_0_17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 Updates</a:t>
            </a:r>
            <a:endParaRPr/>
          </a:p>
        </p:txBody>
      </p:sp>
      <p:sp>
        <p:nvSpPr>
          <p:cNvPr id="255" name="Google Shape;255;g3820230363c_0_173"/>
          <p:cNvSpPr txBox="1"/>
          <p:nvPr>
            <p:ph idx="1" type="body"/>
          </p:nvPr>
        </p:nvSpPr>
        <p:spPr>
          <a:xfrm>
            <a:off x="421975" y="1052375"/>
            <a:ext cx="83265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600"/>
              <a:t>Factual tables are usually append only (Immutable)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E.g., new orders, payments</a:t>
            </a:r>
            <a:endParaRPr sz="1600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Dimension tables can change.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E.g., The name of the food name. Color of a product changes.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These are called changing dimensions or slowly changing dimensions (SCD).</a:t>
            </a:r>
            <a:endParaRPr sz="1600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Star Schema - Changing Dimensions</a:t>
            </a:r>
            <a:endParaRPr/>
          </a:p>
        </p:txBody>
      </p:sp>
      <p:sp>
        <p:nvSpPr>
          <p:cNvPr id="261" name="Google Shape;261;p13"/>
          <p:cNvSpPr txBox="1"/>
          <p:nvPr>
            <p:ph idx="1" type="body"/>
          </p:nvPr>
        </p:nvSpPr>
        <p:spPr>
          <a:xfrm>
            <a:off x="421975" y="1052375"/>
            <a:ext cx="83265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There is different types to update dimension tables.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Type 1, 2, 3, 4, etc (This is a new very important data modelling concept)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Consider the data below…</a:t>
            </a:r>
            <a:endParaRPr sz="1600"/>
          </a:p>
        </p:txBody>
      </p:sp>
      <p:graphicFrame>
        <p:nvGraphicFramePr>
          <p:cNvPr id="262" name="Google Shape;262;p13"/>
          <p:cNvGraphicFramePr/>
          <p:nvPr/>
        </p:nvGraphicFramePr>
        <p:xfrm>
          <a:off x="613550" y="274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879400"/>
                <a:gridCol w="1178475"/>
                <a:gridCol w="1146825"/>
                <a:gridCol w="491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order_id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customer_id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2024-01-01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2024-05-01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2024-09-01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2024-12-01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63" name="Google Shape;263;p13"/>
          <p:cNvGraphicFramePr/>
          <p:nvPr/>
        </p:nvGraphicFramePr>
        <p:xfrm>
          <a:off x="4681038" y="313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1491575"/>
                <a:gridCol w="1491575"/>
                <a:gridCol w="14915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customer_id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city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Calgary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Vancouver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vMerge="1"/>
              </a:tr>
            </a:tbl>
          </a:graphicData>
        </a:graphic>
      </p:graphicFrame>
      <p:sp>
        <p:nvSpPr>
          <p:cNvPr id="264" name="Google Shape;264;p13"/>
          <p:cNvSpPr txBox="1"/>
          <p:nvPr/>
        </p:nvSpPr>
        <p:spPr>
          <a:xfrm>
            <a:off x="1223300" y="2428050"/>
            <a:ext cx="1881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fact_orders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6033338" y="2741175"/>
            <a:ext cx="1881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dim_customers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13"/>
          <p:cNvCxnSpPr/>
          <p:nvPr/>
        </p:nvCxnSpPr>
        <p:spPr>
          <a:xfrm>
            <a:off x="3818250" y="3160250"/>
            <a:ext cx="1473600" cy="57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Dimension Tracking - </a:t>
            </a:r>
            <a:r>
              <a:rPr lang="en"/>
              <a:t>Type 1</a:t>
            </a:r>
            <a:endParaRPr/>
          </a:p>
        </p:txBody>
      </p:sp>
      <p:sp>
        <p:nvSpPr>
          <p:cNvPr id="272" name="Google Shape;272;p14"/>
          <p:cNvSpPr txBox="1"/>
          <p:nvPr>
            <p:ph idx="1" type="body"/>
          </p:nvPr>
        </p:nvSpPr>
        <p:spPr>
          <a:xfrm>
            <a:off x="421975" y="1052375"/>
            <a:ext cx="83265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What happens if a customer moves to Toronto from Calgary?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Type 1 simply overwrites the existing values.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What could be the problem with this update?</a:t>
            </a:r>
            <a:endParaRPr sz="1600"/>
          </a:p>
        </p:txBody>
      </p:sp>
      <p:graphicFrame>
        <p:nvGraphicFramePr>
          <p:cNvPr id="273" name="Google Shape;273;p14"/>
          <p:cNvGraphicFramePr/>
          <p:nvPr/>
        </p:nvGraphicFramePr>
        <p:xfrm>
          <a:off x="613550" y="274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879400"/>
                <a:gridCol w="1178475"/>
                <a:gridCol w="1146825"/>
                <a:gridCol w="491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order_id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customer_id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2024-01-01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2024-05-01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2024-09-01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2024-12-01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74" name="Google Shape;274;p14"/>
          <p:cNvGraphicFramePr/>
          <p:nvPr/>
        </p:nvGraphicFramePr>
        <p:xfrm>
          <a:off x="4681038" y="313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1491575"/>
                <a:gridCol w="1491575"/>
                <a:gridCol w="14915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customer_id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city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Calgary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Vancouver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vMerge="1"/>
              </a:tr>
            </a:tbl>
          </a:graphicData>
        </a:graphic>
      </p:graphicFrame>
      <p:sp>
        <p:nvSpPr>
          <p:cNvPr id="275" name="Google Shape;275;p14"/>
          <p:cNvSpPr txBox="1"/>
          <p:nvPr/>
        </p:nvSpPr>
        <p:spPr>
          <a:xfrm>
            <a:off x="1223300" y="2428050"/>
            <a:ext cx="1881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fact_orders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4"/>
          <p:cNvSpPr txBox="1"/>
          <p:nvPr/>
        </p:nvSpPr>
        <p:spPr>
          <a:xfrm>
            <a:off x="6033338" y="2794175"/>
            <a:ext cx="1881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dim_customers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" name="Google Shape;277;p14"/>
          <p:cNvCxnSpPr/>
          <p:nvPr/>
        </p:nvCxnSpPr>
        <p:spPr>
          <a:xfrm flipH="1">
            <a:off x="6552075" y="3577275"/>
            <a:ext cx="797100" cy="333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14"/>
          <p:cNvSpPr txBox="1"/>
          <p:nvPr/>
        </p:nvSpPr>
        <p:spPr>
          <a:xfrm>
            <a:off x="7265775" y="3280700"/>
            <a:ext cx="9639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Toronto</a:t>
            </a:r>
            <a:endParaRPr b="1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Dimension Tracking - Type 1</a:t>
            </a:r>
            <a:endParaRPr/>
          </a:p>
        </p:txBody>
      </p:sp>
      <p:sp>
        <p:nvSpPr>
          <p:cNvPr id="284" name="Google Shape;284;p15"/>
          <p:cNvSpPr txBox="1"/>
          <p:nvPr>
            <p:ph idx="1" type="body"/>
          </p:nvPr>
        </p:nvSpPr>
        <p:spPr>
          <a:xfrm>
            <a:off x="421975" y="1052375"/>
            <a:ext cx="47031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Type 1 overwrites the values so it doesn’t preserve the history.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 analytics use cases (data science, data analysis), it’s quite important to track history.</a:t>
            </a:r>
            <a:endParaRPr sz="1600"/>
          </a:p>
        </p:txBody>
      </p:sp>
      <p:graphicFrame>
        <p:nvGraphicFramePr>
          <p:cNvPr id="285" name="Google Shape;285;p15"/>
          <p:cNvGraphicFramePr/>
          <p:nvPr/>
        </p:nvGraphicFramePr>
        <p:xfrm>
          <a:off x="613550" y="274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879400"/>
                <a:gridCol w="1178475"/>
                <a:gridCol w="1146825"/>
                <a:gridCol w="491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order_id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customer_id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2024-01-01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2024-05-01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2024-09-01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2024-12-01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86" name="Google Shape;286;p15"/>
          <p:cNvGraphicFramePr/>
          <p:nvPr/>
        </p:nvGraphicFramePr>
        <p:xfrm>
          <a:off x="4669263" y="344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1491575"/>
                <a:gridCol w="1491575"/>
                <a:gridCol w="14915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customer_id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city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Calgary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Vancouver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vMerge="1"/>
              </a:tr>
            </a:tbl>
          </a:graphicData>
        </a:graphic>
      </p:graphicFrame>
      <p:sp>
        <p:nvSpPr>
          <p:cNvPr id="287" name="Google Shape;287;p15"/>
          <p:cNvSpPr txBox="1"/>
          <p:nvPr/>
        </p:nvSpPr>
        <p:spPr>
          <a:xfrm>
            <a:off x="1223300" y="2428050"/>
            <a:ext cx="1881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fact_orders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6051888" y="3044700"/>
            <a:ext cx="1881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dim_customers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15"/>
          <p:cNvCxnSpPr/>
          <p:nvPr/>
        </p:nvCxnSpPr>
        <p:spPr>
          <a:xfrm flipH="1">
            <a:off x="6508088" y="3839400"/>
            <a:ext cx="797100" cy="333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5"/>
          <p:cNvSpPr txBox="1"/>
          <p:nvPr/>
        </p:nvSpPr>
        <p:spPr>
          <a:xfrm>
            <a:off x="7305200" y="3533575"/>
            <a:ext cx="9639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Toronto</a:t>
            </a:r>
            <a:endParaRPr b="1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4669275" y="1052380"/>
            <a:ext cx="4413000" cy="166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sum(amount)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fact_orders 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left join dim_customers c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on c.customer_id = o.customer_id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where c.city = ‘Calgary’;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Dimension Tracking - Type 2</a:t>
            </a:r>
            <a:endParaRPr/>
          </a:p>
        </p:txBody>
      </p:sp>
      <p:sp>
        <p:nvSpPr>
          <p:cNvPr id="297" name="Google Shape;297;p16"/>
          <p:cNvSpPr txBox="1"/>
          <p:nvPr>
            <p:ph idx="1" type="body"/>
          </p:nvPr>
        </p:nvSpPr>
        <p:spPr>
          <a:xfrm>
            <a:off x="408750" y="1052375"/>
            <a:ext cx="83265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Type 2 adds a new row for each change.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start_date</a:t>
            </a:r>
            <a:r>
              <a:rPr lang="en" sz="1600"/>
              <a:t> and </a:t>
            </a:r>
            <a:r>
              <a:rPr b="1" lang="en" sz="1600"/>
              <a:t>end_date</a:t>
            </a:r>
            <a:r>
              <a:rPr lang="en" sz="1600"/>
              <a:t> enable matching data points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1900-01-01 represents the beginning of history, 9999-12-01 represents the end of it.</a:t>
            </a:r>
            <a:endParaRPr sz="1600"/>
          </a:p>
        </p:txBody>
      </p:sp>
      <p:graphicFrame>
        <p:nvGraphicFramePr>
          <p:cNvPr id="298" name="Google Shape;298;p16"/>
          <p:cNvGraphicFramePr/>
          <p:nvPr/>
        </p:nvGraphicFramePr>
        <p:xfrm>
          <a:off x="168700" y="276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879400"/>
                <a:gridCol w="1178475"/>
                <a:gridCol w="1146825"/>
                <a:gridCol w="491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order_id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customer_id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2024-01-01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2024-05-01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2024-09-01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2024-12-01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99" name="Google Shape;299;p16"/>
          <p:cNvGraphicFramePr/>
          <p:nvPr/>
        </p:nvGraphicFramePr>
        <p:xfrm>
          <a:off x="4085413" y="281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1258550"/>
                <a:gridCol w="1034125"/>
                <a:gridCol w="1153475"/>
                <a:gridCol w="1152025"/>
                <a:gridCol w="4604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customer_id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city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start_end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end_date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Calgary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1900-01-01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2024-08-01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Toronto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2024-08-01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9999-12-01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Vancouver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1900-01-01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9999-12-01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</a:tbl>
          </a:graphicData>
        </a:graphic>
      </p:graphicFrame>
      <p:sp>
        <p:nvSpPr>
          <p:cNvPr id="300" name="Google Shape;300;p16"/>
          <p:cNvSpPr txBox="1"/>
          <p:nvPr/>
        </p:nvSpPr>
        <p:spPr>
          <a:xfrm>
            <a:off x="1048100" y="2428050"/>
            <a:ext cx="1881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fact_orders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5674063" y="2478900"/>
            <a:ext cx="1881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dim_customers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Dimension Tracking - Type 2</a:t>
            </a:r>
            <a:endParaRPr/>
          </a:p>
        </p:txBody>
      </p:sp>
      <p:sp>
        <p:nvSpPr>
          <p:cNvPr id="307" name="Google Shape;307;p17"/>
          <p:cNvSpPr txBox="1"/>
          <p:nvPr>
            <p:ph idx="1" type="body"/>
          </p:nvPr>
        </p:nvSpPr>
        <p:spPr>
          <a:xfrm>
            <a:off x="93650" y="1052375"/>
            <a:ext cx="35115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More data accuracy.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Less efficient reads 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Harder updates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More storage redundancy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graphicFrame>
        <p:nvGraphicFramePr>
          <p:cNvPr id="308" name="Google Shape;308;p17"/>
          <p:cNvGraphicFramePr/>
          <p:nvPr/>
        </p:nvGraphicFramePr>
        <p:xfrm>
          <a:off x="168700" y="276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879400"/>
                <a:gridCol w="1178475"/>
                <a:gridCol w="1146825"/>
                <a:gridCol w="491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order_id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customer_id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2024-01-01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2024-05-01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2024-09-01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2024-12-01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309" name="Google Shape;309;p17"/>
          <p:cNvGraphicFramePr/>
          <p:nvPr/>
        </p:nvGraphicFramePr>
        <p:xfrm>
          <a:off x="4085413" y="296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1258550"/>
                <a:gridCol w="1034125"/>
                <a:gridCol w="1153475"/>
                <a:gridCol w="1152025"/>
                <a:gridCol w="4604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customer_id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city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start_end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end_date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Calgary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1999-01-01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2024-08-01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Toronto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2024-08-01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9999-12-01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Vancouver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1999-01-01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9999-12-01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</a:tbl>
          </a:graphicData>
        </a:graphic>
      </p:graphicFrame>
      <p:sp>
        <p:nvSpPr>
          <p:cNvPr id="310" name="Google Shape;310;p17"/>
          <p:cNvSpPr txBox="1"/>
          <p:nvPr/>
        </p:nvSpPr>
        <p:spPr>
          <a:xfrm>
            <a:off x="1048100" y="2428050"/>
            <a:ext cx="1881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fact_orders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7"/>
          <p:cNvSpPr txBox="1"/>
          <p:nvPr/>
        </p:nvSpPr>
        <p:spPr>
          <a:xfrm>
            <a:off x="5674050" y="1765225"/>
            <a:ext cx="1881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dim_customers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3512400" y="973100"/>
            <a:ext cx="5631600" cy="164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sum(o.amount)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fact_orders 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 join dim_customers c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		on c.customer_id = o.customer_id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and </a:t>
            </a:r>
            <a:r>
              <a:rPr b="0" i="0" lang="en" sz="1400" u="none" cap="none" strike="noStrike">
                <a:solidFill>
                  <a:srgbClr val="E32726"/>
                </a:solidFill>
                <a:latin typeface="Arial"/>
                <a:ea typeface="Arial"/>
                <a:cs typeface="Arial"/>
                <a:sym typeface="Arial"/>
              </a:rPr>
              <a:t>o.date between c.start_date and c.end_date</a:t>
            </a:r>
            <a:endParaRPr b="0" i="0" sz="1400" u="none" cap="none" strike="noStrike">
              <a:solidFill>
                <a:srgbClr val="E327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c.city = 'calgary';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7"/>
          <p:cNvSpPr txBox="1"/>
          <p:nvPr/>
        </p:nvSpPr>
        <p:spPr>
          <a:xfrm>
            <a:off x="5922138" y="2618375"/>
            <a:ext cx="1881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dim_customers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Dimension Tracking - Type 3</a:t>
            </a:r>
            <a:endParaRPr/>
          </a:p>
        </p:txBody>
      </p:sp>
      <p:sp>
        <p:nvSpPr>
          <p:cNvPr id="319" name="Google Shape;319;p18"/>
          <p:cNvSpPr txBox="1"/>
          <p:nvPr>
            <p:ph idx="1" type="body"/>
          </p:nvPr>
        </p:nvSpPr>
        <p:spPr>
          <a:xfrm>
            <a:off x="93650" y="1052375"/>
            <a:ext cx="90504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Two columns track current state and previous state. </a:t>
            </a:r>
            <a:r>
              <a:rPr lang="en" sz="1300"/>
              <a:t>Downside? -&gt; Won’t know anything prior to previous state.</a:t>
            </a:r>
            <a:endParaRPr sz="13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Sometimes it’s good enough to know the previous state. Just a little bit better than type 1.</a:t>
            </a:r>
            <a:endParaRPr sz="1600"/>
          </a:p>
        </p:txBody>
      </p:sp>
      <p:graphicFrame>
        <p:nvGraphicFramePr>
          <p:cNvPr id="320" name="Google Shape;320;p18"/>
          <p:cNvGraphicFramePr/>
          <p:nvPr/>
        </p:nvGraphicFramePr>
        <p:xfrm>
          <a:off x="205775" y="1981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879400"/>
                <a:gridCol w="1178475"/>
                <a:gridCol w="1146825"/>
                <a:gridCol w="491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order_id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customer_id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2024-01-01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2024-05-01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2024-09-01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2024-12-01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321" name="Google Shape;321;p18"/>
          <p:cNvGraphicFramePr/>
          <p:nvPr/>
        </p:nvGraphicFramePr>
        <p:xfrm>
          <a:off x="4273263" y="237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{520DB0A4-C462-403A-804B-7822BC211DE3}</a:tableStyleId>
              </a:tblPr>
              <a:tblGrid>
                <a:gridCol w="1277975"/>
                <a:gridCol w="1135475"/>
                <a:gridCol w="1248425"/>
                <a:gridCol w="8128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customer_id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city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previous_city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E32726"/>
                          </a:solidFill>
                        </a:rPr>
                        <a:t>Toronto</a:t>
                      </a:r>
                      <a:endParaRPr sz="1400" u="none" cap="none" strike="noStrike">
                        <a:solidFill>
                          <a:srgbClr val="E3272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Calgary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Vancouver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null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…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</a:tbl>
          </a:graphicData>
        </a:graphic>
      </p:graphicFrame>
      <p:sp>
        <p:nvSpPr>
          <p:cNvPr id="322" name="Google Shape;322;p18"/>
          <p:cNvSpPr txBox="1"/>
          <p:nvPr/>
        </p:nvSpPr>
        <p:spPr>
          <a:xfrm>
            <a:off x="815525" y="1668100"/>
            <a:ext cx="1881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fact_orders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8"/>
          <p:cNvSpPr txBox="1"/>
          <p:nvPr/>
        </p:nvSpPr>
        <p:spPr>
          <a:xfrm>
            <a:off x="5625563" y="1981225"/>
            <a:ext cx="1881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dim_customers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Dimension Tracking - Type 4</a:t>
            </a:r>
            <a:endParaRPr/>
          </a:p>
        </p:txBody>
      </p:sp>
      <p:sp>
        <p:nvSpPr>
          <p:cNvPr id="329" name="Google Shape;329;p19"/>
          <p:cNvSpPr txBox="1"/>
          <p:nvPr>
            <p:ph idx="1" type="body"/>
          </p:nvPr>
        </p:nvSpPr>
        <p:spPr>
          <a:xfrm>
            <a:off x="93650" y="1052375"/>
            <a:ext cx="87105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Combines type 1 and type 2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It keeps two dimension tables, one in type 1 and one in type 2.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E.g., fact_orders + dim_customers + dim_customer_history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Those queries that need current state use type 1 (dim_customers) for improved performance, but type 2 (dim_customers_history) is used by readers who need more accuracy or need history of changes.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Good Read Performance, Double implementation works, Double Storage Costs, More Redundancy, etc</a:t>
            </a:r>
            <a:endParaRPr sz="16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Dimension Tracking - All</a:t>
            </a:r>
            <a:endParaRPr/>
          </a:p>
        </p:txBody>
      </p:sp>
      <p:sp>
        <p:nvSpPr>
          <p:cNvPr id="335" name="Google Shape;335;p20"/>
          <p:cNvSpPr txBox="1"/>
          <p:nvPr>
            <p:ph idx="1" type="body"/>
          </p:nvPr>
        </p:nvSpPr>
        <p:spPr>
          <a:xfrm>
            <a:off x="93650" y="1052375"/>
            <a:ext cx="87105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There is 6 (or more) types for dimension tracking.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Type 1 and 2 are most common ones. Others are used case by case.</a:t>
            </a:r>
            <a:endParaRPr sz="16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Many also combine facts and dimensions into wide tables to improve read performance—a technique known as wide table data modeling.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UCalgary 2">
      <a:dk1>
        <a:srgbClr val="000000"/>
      </a:dk1>
      <a:lt1>
        <a:srgbClr val="FFFFFF"/>
      </a:lt1>
      <a:dk2>
        <a:srgbClr val="8C857B"/>
      </a:dk2>
      <a:lt2>
        <a:srgbClr val="C3BFB6"/>
      </a:lt2>
      <a:accent1>
        <a:srgbClr val="EE2C2A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D6001C"/>
      </a:hlink>
      <a:folHlink>
        <a:srgbClr val="8C85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