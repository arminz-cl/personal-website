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2" roundtripDataSignature="AMtx7mgUWjJJS6bkiZx+ZSSAtpgVqlHc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457aa6d3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3457aa6d38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7d15e3a38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37d15e3a389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6" name="Shape 6"/>
        <p:cNvGrpSpPr/>
        <p:nvPr/>
      </p:nvGrpSpPr>
      <p:grpSpPr>
        <a:xfrm>
          <a:off x="0" y="0"/>
          <a:ext cx="0" cy="0"/>
          <a:chOff x="0" y="0"/>
          <a:chExt cx="0" cy="0"/>
        </a:xfrm>
      </p:grpSpPr>
      <p:sp>
        <p:nvSpPr>
          <p:cNvPr id="7" name="Google Shape;7;p30"/>
          <p:cNvSpPr txBox="1"/>
          <p:nvPr>
            <p:ph type="ctrTitle"/>
          </p:nvPr>
        </p:nvSpPr>
        <p:spPr>
          <a:xfrm>
            <a:off x="1183709" y="1339007"/>
            <a:ext cx="5880900" cy="1757100"/>
          </a:xfrm>
          <a:prstGeom prst="rect">
            <a:avLst/>
          </a:prstGeom>
          <a:noFill/>
          <a:ln>
            <a:noFill/>
          </a:ln>
        </p:spPr>
        <p:txBody>
          <a:bodyPr anchorCtr="0" anchor="b" bIns="34275" lIns="68575" spcFirstLastPara="1" rIns="68575" wrap="square" tIns="34275">
            <a:normAutofit/>
          </a:bodyPr>
          <a:lstStyle>
            <a:lvl1pPr lvl="0" marR="0" rtl="0" algn="l">
              <a:lnSpc>
                <a:spcPct val="103703"/>
              </a:lnSpc>
              <a:spcBef>
                <a:spcPts val="0"/>
              </a:spcBef>
              <a:spcAft>
                <a:spcPts val="0"/>
              </a:spcAft>
              <a:buClr>
                <a:schemeClr val="accent1"/>
              </a:buClr>
              <a:buSzPts val="4100"/>
              <a:buFont typeface="Calibri"/>
              <a:buNone/>
              <a:defRPr b="1" i="0" sz="41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30"/>
          <p:cNvSpPr txBox="1"/>
          <p:nvPr>
            <p:ph idx="1" type="subTitle"/>
          </p:nvPr>
        </p:nvSpPr>
        <p:spPr>
          <a:xfrm>
            <a:off x="1183709" y="3096024"/>
            <a:ext cx="5880900" cy="536100"/>
          </a:xfrm>
          <a:prstGeom prst="rect">
            <a:avLst/>
          </a:prstGeom>
          <a:noFill/>
          <a:ln>
            <a:noFill/>
          </a:ln>
        </p:spPr>
        <p:txBody>
          <a:bodyPr anchorCtr="0" anchor="t" bIns="34275" lIns="68575" spcFirstLastPara="1" rIns="68575" wrap="square" tIns="34275">
            <a:noAutofit/>
          </a:bodyPr>
          <a:lstStyle>
            <a:lvl1pPr lvl="0" marR="0" rtl="0" algn="l">
              <a:lnSpc>
                <a:spcPct val="108333"/>
              </a:lnSpc>
              <a:spcBef>
                <a:spcPts val="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9" name="Google Shape;9;p30"/>
          <p:cNvSpPr txBox="1"/>
          <p:nvPr>
            <p:ph idx="2" type="body"/>
          </p:nvPr>
        </p:nvSpPr>
        <p:spPr>
          <a:xfrm>
            <a:off x="1183709" y="3636920"/>
            <a:ext cx="5880900" cy="844200"/>
          </a:xfrm>
          <a:prstGeom prst="rect">
            <a:avLst/>
          </a:prstGeom>
          <a:noFill/>
          <a:ln>
            <a:noFill/>
          </a:ln>
        </p:spPr>
        <p:txBody>
          <a:bodyPr anchorCtr="0" anchor="b" bIns="34275" lIns="68575" spcFirstLastPara="1" rIns="68575" wrap="square" tIns="34275">
            <a:noAutofit/>
          </a:bodyPr>
          <a:lstStyle>
            <a:lvl1pPr indent="-228600" lvl="0" marL="457200" marR="0" rtl="0" algn="l">
              <a:lnSpc>
                <a:spcPct val="111111"/>
              </a:lnSpc>
              <a:spcBef>
                <a:spcPts val="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0" name="Google Shape;10;p30"/>
          <p:cNvSpPr txBox="1"/>
          <p:nvPr>
            <p:ph idx="3" type="body"/>
          </p:nvPr>
        </p:nvSpPr>
        <p:spPr>
          <a:xfrm>
            <a:off x="1183709" y="4485884"/>
            <a:ext cx="4939500" cy="3915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90000"/>
              </a:lnSpc>
              <a:spcBef>
                <a:spcPts val="0"/>
              </a:spcBef>
              <a:spcAft>
                <a:spcPts val="0"/>
              </a:spcAft>
              <a:buClr>
                <a:schemeClr val="accent3"/>
              </a:buClr>
              <a:buSzPts val="1100"/>
              <a:buFont typeface="Arial"/>
              <a:buNone/>
              <a:defRPr b="1" i="0" sz="1100" u="none" cap="none" strike="noStrike">
                <a:solidFill>
                  <a:schemeClr val="accent3"/>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cxnSp>
        <p:nvCxnSpPr>
          <p:cNvPr id="12" name="Google Shape;12;p31"/>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3" name="Google Shape;13;p31"/>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4" name="Google Shape;14;p31"/>
          <p:cNvGrpSpPr/>
          <p:nvPr/>
        </p:nvGrpSpPr>
        <p:grpSpPr>
          <a:xfrm>
            <a:off x="1004144" y="1022025"/>
            <a:ext cx="7136668" cy="152400"/>
            <a:chOff x="1346429" y="1011300"/>
            <a:chExt cx="6452100" cy="152400"/>
          </a:xfrm>
        </p:grpSpPr>
        <p:cxnSp>
          <p:nvCxnSpPr>
            <p:cNvPr id="15" name="Google Shape;15;p31"/>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6" name="Google Shape;16;p31"/>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7" name="Google Shape;17;p31"/>
          <p:cNvGrpSpPr/>
          <p:nvPr/>
        </p:nvGrpSpPr>
        <p:grpSpPr>
          <a:xfrm>
            <a:off x="1004151" y="3969100"/>
            <a:ext cx="7136668" cy="152400"/>
            <a:chOff x="1346435" y="3969088"/>
            <a:chExt cx="6452100" cy="152400"/>
          </a:xfrm>
        </p:grpSpPr>
        <p:cxnSp>
          <p:nvCxnSpPr>
            <p:cNvPr id="18" name="Google Shape;18;p31"/>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9" name="Google Shape;19;p31"/>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20" name="Google Shape;20;p31"/>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400"/>
              <a:buFont typeface="Arial"/>
              <a:buChar char="■"/>
              <a:defRPr b="0" i="0" sz="5400" u="none" cap="none" strike="noStrike">
                <a:solidFill>
                  <a:srgbClr val="000000"/>
                </a:solidFill>
                <a:latin typeface="Arial"/>
                <a:ea typeface="Arial"/>
                <a:cs typeface="Arial"/>
                <a:sym typeface="Arial"/>
              </a:defRPr>
            </a:lvl9pPr>
          </a:lstStyle>
          <a:p/>
        </p:txBody>
      </p:sp>
      <p:sp>
        <p:nvSpPr>
          <p:cNvPr id="21" name="Google Shape;21;p31"/>
          <p:cNvSpPr txBox="1"/>
          <p:nvPr>
            <p:ph idx="1" type="subTitle"/>
          </p:nvPr>
        </p:nvSpPr>
        <p:spPr>
          <a:xfrm>
            <a:off x="2137225" y="2850039"/>
            <a:ext cx="48705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9pPr>
          </a:lstStyle>
          <a:p/>
        </p:txBody>
      </p:sp>
      <p:sp>
        <p:nvSpPr>
          <p:cNvPr id="22" name="Google Shape;2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32"/>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lvl1pPr lvl="0" marR="0" rtl="0" algn="l">
              <a:lnSpc>
                <a:spcPct val="105555"/>
              </a:lnSpc>
              <a:spcBef>
                <a:spcPts val="0"/>
              </a:spcBef>
              <a:spcAft>
                <a:spcPts val="0"/>
              </a:spcAft>
              <a:buClr>
                <a:schemeClr val="accent1"/>
              </a:buClr>
              <a:buSzPts val="2700"/>
              <a:buFont typeface="Calibri"/>
              <a:buNone/>
              <a:defRPr b="1" i="0" sz="27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25" name="Google Shape;25;p32"/>
          <p:cNvSpPr txBox="1"/>
          <p:nvPr>
            <p:ph idx="1" type="body"/>
          </p:nvPr>
        </p:nvSpPr>
        <p:spPr>
          <a:xfrm>
            <a:off x="421971" y="1329896"/>
            <a:ext cx="7293300" cy="30867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E32726"/>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rgbClr val="FBB03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rgbClr val="8B857B"/>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3"/>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6" name="Google Shape;26;p32"/>
          <p:cNvSpPr txBox="1"/>
          <p:nvPr>
            <p:ph idx="12" type="sldNum"/>
          </p:nvPr>
        </p:nvSpPr>
        <p:spPr>
          <a:xfrm>
            <a:off x="6859820" y="4785404"/>
            <a:ext cx="2057400" cy="2739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53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ble photo with text">
  <p:cSld name="Double photo with text">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33"/>
          <p:cNvSpPr/>
          <p:nvPr>
            <p:ph idx="2" type="pic"/>
          </p:nvPr>
        </p:nvSpPr>
        <p:spPr>
          <a:xfrm>
            <a:off x="700398" y="1241431"/>
            <a:ext cx="2987100" cy="1667100"/>
          </a:xfrm>
          <a:prstGeom prst="rect">
            <a:avLst/>
          </a:prstGeom>
          <a:noFill/>
          <a:ln>
            <a:noFill/>
          </a:ln>
        </p:spPr>
      </p:sp>
      <p:sp>
        <p:nvSpPr>
          <p:cNvPr id="29" name="Google Shape;29;p33"/>
          <p:cNvSpPr txBox="1"/>
          <p:nvPr>
            <p:ph idx="1" type="body"/>
          </p:nvPr>
        </p:nvSpPr>
        <p:spPr>
          <a:xfrm>
            <a:off x="700398" y="3151862"/>
            <a:ext cx="2997000" cy="1376400"/>
          </a:xfrm>
          <a:prstGeom prst="rect">
            <a:avLst/>
          </a:prstGeom>
          <a:noFill/>
          <a:ln>
            <a:noFill/>
          </a:ln>
        </p:spPr>
        <p:txBody>
          <a:bodyPr anchorCtr="0" anchor="t" bIns="34275" lIns="68575" spcFirstLastPara="1" rIns="68575" wrap="square" tIns="34275">
            <a:noAutofit/>
          </a:bodyPr>
          <a:lstStyle>
            <a:lvl1pPr indent="-323850" lvl="0" marL="457200" marR="0" rtl="0" algn="l">
              <a:lnSpc>
                <a:spcPct val="90000"/>
              </a:lnSpc>
              <a:spcBef>
                <a:spcPts val="800"/>
              </a:spcBef>
              <a:spcAft>
                <a:spcPts val="0"/>
              </a:spcAft>
              <a:buClr>
                <a:schemeClr val="accent1"/>
              </a:buClr>
              <a:buSzPts val="1500"/>
              <a:buFont typeface="Arial"/>
              <a:buChar char="•"/>
              <a:defRPr b="0" i="0" sz="1500" u="none" cap="none" strike="noStrike">
                <a:solidFill>
                  <a:schemeClr val="dk1"/>
                </a:solidFill>
                <a:latin typeface="Calibri"/>
                <a:ea typeface="Calibri"/>
                <a:cs typeface="Calibri"/>
                <a:sym typeface="Calibri"/>
              </a:defRPr>
            </a:lvl1pPr>
            <a:lvl2pPr indent="-317500" lvl="1" marL="914400" marR="0" rtl="0" algn="l">
              <a:lnSpc>
                <a:spcPct val="90000"/>
              </a:lnSpc>
              <a:spcBef>
                <a:spcPts val="400"/>
              </a:spcBef>
              <a:spcAft>
                <a:spcPts val="0"/>
              </a:spcAft>
              <a:buClr>
                <a:srgbClr val="FBB03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90000"/>
              </a:lnSpc>
              <a:spcBef>
                <a:spcPts val="400"/>
              </a:spcBef>
              <a:spcAft>
                <a:spcPts val="0"/>
              </a:spcAft>
              <a:buClr>
                <a:srgbClr val="8B857B"/>
              </a:buClr>
              <a:buSzPts val="1200"/>
              <a:buFont typeface="Arial"/>
              <a:buChar char="•"/>
              <a:defRPr b="0" i="0" sz="1200" u="none" cap="none" strike="noStrike">
                <a:solidFill>
                  <a:schemeClr val="dk1"/>
                </a:solidFill>
                <a:latin typeface="Calibri"/>
                <a:ea typeface="Calibri"/>
                <a:cs typeface="Calibri"/>
                <a:sym typeface="Calibri"/>
              </a:defRPr>
            </a:lvl3pPr>
            <a:lvl4pPr indent="-298450" lvl="3" marL="1828800" marR="0" rtl="0" algn="l">
              <a:lnSpc>
                <a:spcPct val="90000"/>
              </a:lnSpc>
              <a:spcBef>
                <a:spcPts val="400"/>
              </a:spcBef>
              <a:spcAft>
                <a:spcPts val="0"/>
              </a:spcAft>
              <a:buClr>
                <a:schemeClr val="accent3"/>
              </a:buClr>
              <a:buSzPts val="1100"/>
              <a:buFont typeface="Arial"/>
              <a:buChar char="•"/>
              <a:defRPr b="0" i="0" sz="1100" u="none" cap="none" strike="noStrike">
                <a:solidFill>
                  <a:schemeClr val="dk1"/>
                </a:solidFill>
                <a:latin typeface="Calibri"/>
                <a:ea typeface="Calibri"/>
                <a:cs typeface="Calibri"/>
                <a:sym typeface="Calibri"/>
              </a:defRPr>
            </a:lvl4pPr>
            <a:lvl5pPr indent="-298450" lvl="4" marL="2286000" marR="0" rtl="0" algn="l">
              <a:lnSpc>
                <a:spcPct val="90000"/>
              </a:lnSpc>
              <a:spcBef>
                <a:spcPts val="400"/>
              </a:spcBef>
              <a:spcAft>
                <a:spcPts val="0"/>
              </a:spcAft>
              <a:buClr>
                <a:schemeClr val="accent1"/>
              </a:buClr>
              <a:buSzPts val="1100"/>
              <a:buFont typeface="Arial"/>
              <a:buChar char="•"/>
              <a:defRPr b="0" i="0" sz="11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0" name="Google Shape;30;p33"/>
          <p:cNvSpPr/>
          <p:nvPr>
            <p:ph idx="3" type="pic"/>
          </p:nvPr>
        </p:nvSpPr>
        <p:spPr>
          <a:xfrm>
            <a:off x="5430539" y="1241431"/>
            <a:ext cx="2987100" cy="1667100"/>
          </a:xfrm>
          <a:prstGeom prst="rect">
            <a:avLst/>
          </a:prstGeom>
          <a:noFill/>
          <a:ln>
            <a:noFill/>
          </a:ln>
        </p:spPr>
      </p:sp>
      <p:cxnSp>
        <p:nvCxnSpPr>
          <p:cNvPr id="31" name="Google Shape;31;p33"/>
          <p:cNvCxnSpPr/>
          <p:nvPr/>
        </p:nvCxnSpPr>
        <p:spPr>
          <a:xfrm>
            <a:off x="4572000" y="1163485"/>
            <a:ext cx="0" cy="3490200"/>
          </a:xfrm>
          <a:prstGeom prst="straightConnector1">
            <a:avLst/>
          </a:prstGeom>
          <a:noFill/>
          <a:ln cap="flat" cmpd="sng" w="9525">
            <a:solidFill>
              <a:schemeClr val="dk2"/>
            </a:solidFill>
            <a:prstDash val="solid"/>
            <a:miter lim="800000"/>
            <a:headEnd len="sm" w="sm" type="none"/>
            <a:tailEnd len="sm" w="sm" type="none"/>
          </a:ln>
        </p:spPr>
      </p:cxnSp>
      <p:sp>
        <p:nvSpPr>
          <p:cNvPr id="32" name="Google Shape;32;p33"/>
          <p:cNvSpPr txBox="1"/>
          <p:nvPr>
            <p:ph idx="4" type="body"/>
          </p:nvPr>
        </p:nvSpPr>
        <p:spPr>
          <a:xfrm>
            <a:off x="5430539" y="3151862"/>
            <a:ext cx="2997000" cy="1376400"/>
          </a:xfrm>
          <a:prstGeom prst="rect">
            <a:avLst/>
          </a:prstGeom>
          <a:noFill/>
          <a:ln>
            <a:noFill/>
          </a:ln>
        </p:spPr>
        <p:txBody>
          <a:bodyPr anchorCtr="0" anchor="t" bIns="34275" lIns="68575" spcFirstLastPara="1" rIns="68575" wrap="square" tIns="34275">
            <a:noAutofit/>
          </a:bodyPr>
          <a:lstStyle>
            <a:lvl1pPr indent="-323850" lvl="0" marL="457200" marR="0" rtl="0" algn="l">
              <a:lnSpc>
                <a:spcPct val="90000"/>
              </a:lnSpc>
              <a:spcBef>
                <a:spcPts val="800"/>
              </a:spcBef>
              <a:spcAft>
                <a:spcPts val="0"/>
              </a:spcAft>
              <a:buClr>
                <a:schemeClr val="accent1"/>
              </a:buClr>
              <a:buSzPts val="1500"/>
              <a:buFont typeface="Arial"/>
              <a:buChar char="•"/>
              <a:defRPr b="0" i="0" sz="1500" u="none" cap="none" strike="noStrike">
                <a:solidFill>
                  <a:schemeClr val="dk1"/>
                </a:solidFill>
                <a:latin typeface="Calibri"/>
                <a:ea typeface="Calibri"/>
                <a:cs typeface="Calibri"/>
                <a:sym typeface="Calibri"/>
              </a:defRPr>
            </a:lvl1pPr>
            <a:lvl2pPr indent="-317500" lvl="1" marL="914400" marR="0" rtl="0" algn="l">
              <a:lnSpc>
                <a:spcPct val="90000"/>
              </a:lnSpc>
              <a:spcBef>
                <a:spcPts val="400"/>
              </a:spcBef>
              <a:spcAft>
                <a:spcPts val="0"/>
              </a:spcAft>
              <a:buClr>
                <a:srgbClr val="FBB03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90000"/>
              </a:lnSpc>
              <a:spcBef>
                <a:spcPts val="400"/>
              </a:spcBef>
              <a:spcAft>
                <a:spcPts val="0"/>
              </a:spcAft>
              <a:buClr>
                <a:srgbClr val="8B857B"/>
              </a:buClr>
              <a:buSzPts val="1200"/>
              <a:buFont typeface="Arial"/>
              <a:buChar char="•"/>
              <a:defRPr b="0" i="0" sz="1200" u="none" cap="none" strike="noStrike">
                <a:solidFill>
                  <a:schemeClr val="dk1"/>
                </a:solidFill>
                <a:latin typeface="Calibri"/>
                <a:ea typeface="Calibri"/>
                <a:cs typeface="Calibri"/>
                <a:sym typeface="Calibri"/>
              </a:defRPr>
            </a:lvl3pPr>
            <a:lvl4pPr indent="-298450" lvl="3" marL="1828800" marR="0" rtl="0" algn="l">
              <a:lnSpc>
                <a:spcPct val="90000"/>
              </a:lnSpc>
              <a:spcBef>
                <a:spcPts val="400"/>
              </a:spcBef>
              <a:spcAft>
                <a:spcPts val="0"/>
              </a:spcAft>
              <a:buClr>
                <a:schemeClr val="accent3"/>
              </a:buClr>
              <a:buSzPts val="1100"/>
              <a:buFont typeface="Arial"/>
              <a:buChar char="•"/>
              <a:defRPr b="0" i="0" sz="1100" u="none" cap="none" strike="noStrike">
                <a:solidFill>
                  <a:schemeClr val="dk1"/>
                </a:solidFill>
                <a:latin typeface="Calibri"/>
                <a:ea typeface="Calibri"/>
                <a:cs typeface="Calibri"/>
                <a:sym typeface="Calibri"/>
              </a:defRPr>
            </a:lvl4pPr>
            <a:lvl5pPr indent="-298450" lvl="4" marL="2286000" marR="0" rtl="0" algn="l">
              <a:lnSpc>
                <a:spcPct val="90000"/>
              </a:lnSpc>
              <a:spcBef>
                <a:spcPts val="400"/>
              </a:spcBef>
              <a:spcAft>
                <a:spcPts val="0"/>
              </a:spcAft>
              <a:buClr>
                <a:schemeClr val="accent1"/>
              </a:buClr>
              <a:buSzPts val="1100"/>
              <a:buFont typeface="Arial"/>
              <a:buChar char="•"/>
              <a:defRPr b="0" i="0" sz="11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3" name="Google Shape;33;p33"/>
          <p:cNvSpPr txBox="1"/>
          <p:nvPr>
            <p:ph idx="12" type="sldNum"/>
          </p:nvPr>
        </p:nvSpPr>
        <p:spPr>
          <a:xfrm>
            <a:off x="6859820" y="4785404"/>
            <a:ext cx="2057400" cy="2739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33"/>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lvl1pPr lvl="0" marR="0" rtl="0" algn="l">
              <a:lnSpc>
                <a:spcPct val="105555"/>
              </a:lnSpc>
              <a:spcBef>
                <a:spcPts val="0"/>
              </a:spcBef>
              <a:spcAft>
                <a:spcPts val="0"/>
              </a:spcAft>
              <a:buClr>
                <a:schemeClr val="accent1"/>
              </a:buClr>
              <a:buSzPts val="2700"/>
              <a:buFont typeface="Calibri"/>
              <a:buNone/>
              <a:defRPr b="1" i="0" sz="27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lide">
  <p:cSld name="Statement slide">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34"/>
          <p:cNvSpPr txBox="1"/>
          <p:nvPr>
            <p:ph idx="1" type="body"/>
          </p:nvPr>
        </p:nvSpPr>
        <p:spPr>
          <a:xfrm>
            <a:off x="1183710" y="1227953"/>
            <a:ext cx="6562200" cy="3466200"/>
          </a:xfrm>
          <a:prstGeom prst="rect">
            <a:avLst/>
          </a:prstGeom>
          <a:noFill/>
          <a:ln>
            <a:noFill/>
          </a:ln>
        </p:spPr>
        <p:txBody>
          <a:bodyPr anchorCtr="0" anchor="ctr" bIns="34275" lIns="68575" spcFirstLastPara="1" rIns="68575" wrap="square" tIns="34275">
            <a:noAutofit/>
          </a:bodyPr>
          <a:lstStyle>
            <a:lvl1pPr indent="-228600" lvl="0" marL="457200" marR="0" rtl="0" algn="l">
              <a:lnSpc>
                <a:spcPct val="103333"/>
              </a:lnSpc>
              <a:spcBef>
                <a:spcPts val="0"/>
              </a:spcBef>
              <a:spcAft>
                <a:spcPts val="0"/>
              </a:spcAft>
              <a:buClr>
                <a:schemeClr val="accent1"/>
              </a:buClr>
              <a:buSzPts val="4500"/>
              <a:buFont typeface="Arial"/>
              <a:buNone/>
              <a:defRPr b="1" i="0" sz="4500" u="none" cap="none" strike="noStrike">
                <a:solidFill>
                  <a:schemeClr val="accent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photo with text">
  <p:cSld name="Single photo with text">
    <p:bg>
      <p:bgPr>
        <a:blipFill>
          <a:blip r:embed="rId2">
            <a:alphaModFix/>
          </a:blip>
          <a:stretch>
            <a:fillRect/>
          </a:stretch>
        </a:blipFill>
      </p:bgPr>
    </p:bg>
    <p:spTree>
      <p:nvGrpSpPr>
        <p:cNvPr id="37" name="Shape 37"/>
        <p:cNvGrpSpPr/>
        <p:nvPr/>
      </p:nvGrpSpPr>
      <p:grpSpPr>
        <a:xfrm>
          <a:off x="0" y="0"/>
          <a:ext cx="0" cy="0"/>
          <a:chOff x="0" y="0"/>
          <a:chExt cx="0" cy="0"/>
        </a:xfrm>
      </p:grpSpPr>
      <p:sp>
        <p:nvSpPr>
          <p:cNvPr id="38" name="Google Shape;38;p35"/>
          <p:cNvSpPr/>
          <p:nvPr>
            <p:ph idx="2" type="pic"/>
          </p:nvPr>
        </p:nvSpPr>
        <p:spPr>
          <a:xfrm>
            <a:off x="700398" y="1329766"/>
            <a:ext cx="2953800" cy="2953800"/>
          </a:xfrm>
          <a:prstGeom prst="rect">
            <a:avLst/>
          </a:prstGeom>
          <a:noFill/>
          <a:ln>
            <a:noFill/>
          </a:ln>
        </p:spPr>
      </p:sp>
      <p:sp>
        <p:nvSpPr>
          <p:cNvPr id="39" name="Google Shape;39;p35"/>
          <p:cNvSpPr txBox="1"/>
          <p:nvPr>
            <p:ph idx="1" type="body"/>
          </p:nvPr>
        </p:nvSpPr>
        <p:spPr>
          <a:xfrm>
            <a:off x="4010677" y="1329766"/>
            <a:ext cx="4510200" cy="29538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accent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rgbClr val="FBB03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rgbClr val="8B857B"/>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3"/>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40" name="Google Shape;40;p35"/>
          <p:cNvSpPr txBox="1"/>
          <p:nvPr>
            <p:ph idx="12" type="sldNum"/>
          </p:nvPr>
        </p:nvSpPr>
        <p:spPr>
          <a:xfrm>
            <a:off x="6859820" y="4785404"/>
            <a:ext cx="2057400" cy="2739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35"/>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lvl1pPr lvl="0" marR="0" rtl="0" algn="l">
              <a:lnSpc>
                <a:spcPct val="105555"/>
              </a:lnSpc>
              <a:spcBef>
                <a:spcPts val="0"/>
              </a:spcBef>
              <a:spcAft>
                <a:spcPts val="0"/>
              </a:spcAft>
              <a:buClr>
                <a:schemeClr val="accent1"/>
              </a:buClr>
              <a:buSzPts val="2700"/>
              <a:buFont typeface="Calibri"/>
              <a:buNone/>
              <a:defRPr b="1" i="0" sz="27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ding slide">
  <p:cSld name="Concluding slide">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36"/>
          <p:cNvSpPr txBox="1"/>
          <p:nvPr>
            <p:ph type="ctrTitle"/>
          </p:nvPr>
        </p:nvSpPr>
        <p:spPr>
          <a:xfrm>
            <a:off x="1183709" y="1260389"/>
            <a:ext cx="6313800" cy="1446300"/>
          </a:xfrm>
          <a:prstGeom prst="rect">
            <a:avLst/>
          </a:prstGeom>
          <a:noFill/>
          <a:ln>
            <a:noFill/>
          </a:ln>
        </p:spPr>
        <p:txBody>
          <a:bodyPr anchorCtr="0" anchor="b" bIns="34275" lIns="68575" spcFirstLastPara="1" rIns="68575" wrap="square" tIns="34275">
            <a:normAutofit/>
          </a:bodyPr>
          <a:lstStyle>
            <a:lvl1pPr lvl="0" marR="0" rtl="0" algn="l">
              <a:lnSpc>
                <a:spcPct val="105555"/>
              </a:lnSpc>
              <a:spcBef>
                <a:spcPts val="0"/>
              </a:spcBef>
              <a:spcAft>
                <a:spcPts val="0"/>
              </a:spcAft>
              <a:buClr>
                <a:schemeClr val="accent1"/>
              </a:buClr>
              <a:buSzPts val="2700"/>
              <a:buFont typeface="Calibri"/>
              <a:buNone/>
              <a:defRPr b="1" i="0" sz="27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44" name="Google Shape;44;p36"/>
          <p:cNvSpPr txBox="1"/>
          <p:nvPr>
            <p:ph idx="1" type="subTitle"/>
          </p:nvPr>
        </p:nvSpPr>
        <p:spPr>
          <a:xfrm>
            <a:off x="1183709" y="2718141"/>
            <a:ext cx="6313800" cy="585600"/>
          </a:xfrm>
          <a:prstGeom prst="rect">
            <a:avLst/>
          </a:prstGeom>
          <a:noFill/>
          <a:ln>
            <a:noFill/>
          </a:ln>
        </p:spPr>
        <p:txBody>
          <a:bodyPr anchorCtr="0" anchor="t" bIns="34275" lIns="68575" spcFirstLastPara="1" rIns="68575" wrap="square" tIns="34275">
            <a:noAutofit/>
          </a:bodyPr>
          <a:lstStyle>
            <a:lvl1pPr lvl="0" marR="0" rtl="0" algn="l">
              <a:lnSpc>
                <a:spcPct val="108333"/>
              </a:lnSpc>
              <a:spcBef>
                <a:spcPts val="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45" name="Google Shape;45;p36"/>
          <p:cNvSpPr txBox="1"/>
          <p:nvPr>
            <p:ph idx="2" type="body"/>
          </p:nvPr>
        </p:nvSpPr>
        <p:spPr>
          <a:xfrm>
            <a:off x="1183709" y="3315289"/>
            <a:ext cx="6313800" cy="1101600"/>
          </a:xfrm>
          <a:prstGeom prst="rect">
            <a:avLst/>
          </a:prstGeom>
          <a:noFill/>
          <a:ln>
            <a:noFill/>
          </a:ln>
        </p:spPr>
        <p:txBody>
          <a:bodyPr anchorCtr="0" anchor="b" bIns="34275" lIns="68575" spcFirstLastPara="1" rIns="68575" wrap="square" tIns="34275">
            <a:noAutofit/>
          </a:bodyPr>
          <a:lstStyle>
            <a:lvl1pPr indent="-228600" lvl="0" marL="457200" marR="0" rtl="0" algn="l">
              <a:lnSpc>
                <a:spcPct val="111111"/>
              </a:lnSpc>
              <a:spcBef>
                <a:spcPts val="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6" name="Shape 46"/>
        <p:cNvGrpSpPr/>
        <p:nvPr/>
      </p:nvGrpSpPr>
      <p:grpSpPr>
        <a:xfrm>
          <a:off x="0" y="0"/>
          <a:ext cx="0" cy="0"/>
          <a:chOff x="0" y="0"/>
          <a:chExt cx="0" cy="0"/>
        </a:xfrm>
      </p:grpSpPr>
      <p:sp>
        <p:nvSpPr>
          <p:cNvPr id="47" name="Google Shape;47;p37"/>
          <p:cNvSpPr txBox="1"/>
          <p:nvPr>
            <p:ph type="title"/>
          </p:nvPr>
        </p:nvSpPr>
        <p:spPr>
          <a:xfrm>
            <a:off x="311700" y="445025"/>
            <a:ext cx="8520600" cy="7074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48" name="Google Shape;48;p37"/>
          <p:cNvSpPr txBox="1"/>
          <p:nvPr>
            <p:ph idx="1" type="body"/>
          </p:nvPr>
        </p:nvSpPr>
        <p:spPr>
          <a:xfrm>
            <a:off x="311700" y="1266175"/>
            <a:ext cx="3999900" cy="33027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04800" lvl="1" marL="914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304800" lvl="3" marL="1828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04800" lvl="5" marL="2743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6pPr>
            <a:lvl7pPr indent="-304800" lvl="6" marL="3200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7pPr>
            <a:lvl8pPr indent="-304800" lvl="7" marL="3657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8pPr>
            <a:lvl9pPr indent="-304800" lvl="8" marL="4114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9pPr>
          </a:lstStyle>
          <a:p/>
        </p:txBody>
      </p:sp>
      <p:sp>
        <p:nvSpPr>
          <p:cNvPr id="49" name="Google Shape;49;p37"/>
          <p:cNvSpPr txBox="1"/>
          <p:nvPr>
            <p:ph idx="2" type="body"/>
          </p:nvPr>
        </p:nvSpPr>
        <p:spPr>
          <a:xfrm>
            <a:off x="4832400" y="1266175"/>
            <a:ext cx="3999900" cy="33027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04800" lvl="1" marL="914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304800" lvl="3" marL="1828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304800" lvl="5" marL="27432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6pPr>
            <a:lvl7pPr indent="-304800" lvl="6" marL="32004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7pPr>
            <a:lvl8pPr indent="-304800" lvl="7" marL="36576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8pPr>
            <a:lvl9pPr indent="-304800" lvl="8" marL="4114800" marR="0" rtl="0" algn="l">
              <a:lnSpc>
                <a:spcPct val="100000"/>
              </a:lnSpc>
              <a:spcBef>
                <a:spcPts val="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9pPr>
          </a:lstStyle>
          <a:p/>
        </p:txBody>
      </p:sp>
      <p:sp>
        <p:nvSpPr>
          <p:cNvPr id="50" name="Google Shape;50;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
          <p:cNvSpPr txBox="1"/>
          <p:nvPr>
            <p:ph type="ctrTitle"/>
          </p:nvPr>
        </p:nvSpPr>
        <p:spPr>
          <a:xfrm>
            <a:off x="1183709" y="1339007"/>
            <a:ext cx="5880900" cy="1757100"/>
          </a:xfrm>
          <a:prstGeom prst="rect">
            <a:avLst/>
          </a:prstGeom>
          <a:noFill/>
          <a:ln>
            <a:noFill/>
          </a:ln>
        </p:spPr>
        <p:txBody>
          <a:bodyPr anchorCtr="0" anchor="b" bIns="34275" lIns="68575" spcFirstLastPara="1" rIns="68575" wrap="square" tIns="34275">
            <a:normAutofit/>
          </a:bodyPr>
          <a:lstStyle/>
          <a:p>
            <a:pPr indent="0" lvl="0" marL="0" rtl="0" algn="l">
              <a:lnSpc>
                <a:spcPct val="103703"/>
              </a:lnSpc>
              <a:spcBef>
                <a:spcPts val="0"/>
              </a:spcBef>
              <a:spcAft>
                <a:spcPts val="0"/>
              </a:spcAft>
              <a:buSzPts val="4100"/>
              <a:buNone/>
            </a:pPr>
            <a:r>
              <a:rPr lang="en"/>
              <a:t>Scalable Data Analytics</a:t>
            </a:r>
            <a:endParaRPr/>
          </a:p>
        </p:txBody>
      </p:sp>
      <p:sp>
        <p:nvSpPr>
          <p:cNvPr id="56" name="Google Shape;56;p1"/>
          <p:cNvSpPr txBox="1"/>
          <p:nvPr>
            <p:ph idx="1" type="subTitle"/>
          </p:nvPr>
        </p:nvSpPr>
        <p:spPr>
          <a:xfrm>
            <a:off x="1183709" y="3096024"/>
            <a:ext cx="5880900" cy="536100"/>
          </a:xfrm>
          <a:prstGeom prst="rect">
            <a:avLst/>
          </a:prstGeom>
          <a:noFill/>
          <a:ln>
            <a:noFill/>
          </a:ln>
        </p:spPr>
        <p:txBody>
          <a:bodyPr anchorCtr="0" anchor="t" bIns="34275" lIns="68575" spcFirstLastPara="1" rIns="68575" wrap="square" tIns="34275">
            <a:noAutofit/>
          </a:bodyPr>
          <a:lstStyle/>
          <a:p>
            <a:pPr indent="0" lvl="0" marL="0" rtl="0" algn="l">
              <a:lnSpc>
                <a:spcPct val="108333"/>
              </a:lnSpc>
              <a:spcBef>
                <a:spcPts val="0"/>
              </a:spcBef>
              <a:spcAft>
                <a:spcPts val="0"/>
              </a:spcAft>
              <a:buSzPts val="1800"/>
              <a:buNone/>
            </a:pPr>
            <a:r>
              <a:rPr lang="en"/>
              <a:t>SENG 550</a:t>
            </a:r>
            <a:endParaRPr/>
          </a:p>
        </p:txBody>
      </p:sp>
      <p:sp>
        <p:nvSpPr>
          <p:cNvPr id="57" name="Google Shape;57;p1"/>
          <p:cNvSpPr txBox="1"/>
          <p:nvPr>
            <p:ph idx="2" type="body"/>
          </p:nvPr>
        </p:nvSpPr>
        <p:spPr>
          <a:xfrm>
            <a:off x="1183709" y="3636920"/>
            <a:ext cx="5880900" cy="844200"/>
          </a:xfrm>
          <a:prstGeom prst="rect">
            <a:avLst/>
          </a:prstGeom>
          <a:noFill/>
          <a:ln>
            <a:noFill/>
          </a:ln>
        </p:spPr>
        <p:txBody>
          <a:bodyPr anchorCtr="0" anchor="b" bIns="34275" lIns="68575" spcFirstLastPara="1" rIns="68575" wrap="square" tIns="34275">
            <a:noAutofit/>
          </a:bodyPr>
          <a:lstStyle/>
          <a:p>
            <a:pPr indent="0" lvl="0" marL="0" rtl="0" algn="l">
              <a:lnSpc>
                <a:spcPct val="111111"/>
              </a:lnSpc>
              <a:spcBef>
                <a:spcPts val="0"/>
              </a:spcBef>
              <a:spcAft>
                <a:spcPts val="0"/>
              </a:spcAft>
              <a:buSzPts val="1400"/>
              <a:buNone/>
            </a:pPr>
            <a:r>
              <a:rPr lang="en"/>
              <a:t>AKA. Big Data - Data Engineering</a:t>
            </a:r>
            <a:endParaRPr/>
          </a:p>
        </p:txBody>
      </p:sp>
      <p:sp>
        <p:nvSpPr>
          <p:cNvPr id="58" name="Google Shape;58;p1"/>
          <p:cNvSpPr txBox="1"/>
          <p:nvPr>
            <p:ph idx="3" type="body"/>
          </p:nvPr>
        </p:nvSpPr>
        <p:spPr>
          <a:xfrm>
            <a:off x="1183709" y="4485884"/>
            <a:ext cx="4939500" cy="3915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SzPts val="1100"/>
              <a:buNone/>
            </a:pPr>
            <a:r>
              <a:rPr lang="en"/>
              <a:t>Armin Zirak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400"/>
              <a:buNone/>
            </a:pPr>
            <a:r>
              <a:rPr lang="en" sz="3000"/>
              <a:t>Data Engineering</a:t>
            </a:r>
            <a:endParaRPr sz="3000"/>
          </a:p>
        </p:txBody>
      </p:sp>
      <p:sp>
        <p:nvSpPr>
          <p:cNvPr id="64" name="Google Shape;64;p2"/>
          <p:cNvSpPr txBox="1"/>
          <p:nvPr>
            <p:ph idx="1" type="subTitle"/>
          </p:nvPr>
        </p:nvSpPr>
        <p:spPr>
          <a:xfrm>
            <a:off x="2137225" y="2850039"/>
            <a:ext cx="4870500" cy="792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
              <a:t>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Types of Data</a:t>
            </a:r>
            <a:endParaRPr/>
          </a:p>
        </p:txBody>
      </p:sp>
      <p:sp>
        <p:nvSpPr>
          <p:cNvPr id="70" name="Google Shape;70;p3"/>
          <p:cNvSpPr txBox="1"/>
          <p:nvPr>
            <p:ph idx="1" type="body"/>
          </p:nvPr>
        </p:nvSpPr>
        <p:spPr>
          <a:xfrm>
            <a:off x="421971" y="1329896"/>
            <a:ext cx="7293300" cy="30867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800"/>
              </a:spcBef>
              <a:spcAft>
                <a:spcPts val="0"/>
              </a:spcAft>
              <a:buClr>
                <a:schemeClr val="dk1"/>
              </a:buClr>
              <a:buSzPts val="1100"/>
              <a:buFont typeface="Arial"/>
              <a:buNone/>
            </a:pPr>
            <a:r>
              <a:t/>
            </a:r>
            <a:endParaRPr sz="2300"/>
          </a:p>
          <a:p>
            <a:pPr indent="0" lvl="0" marL="0" rtl="0" algn="l">
              <a:lnSpc>
                <a:spcPct val="115000"/>
              </a:lnSpc>
              <a:spcBef>
                <a:spcPts val="800"/>
              </a:spcBef>
              <a:spcAft>
                <a:spcPts val="0"/>
              </a:spcAft>
              <a:buClr>
                <a:schemeClr val="dk1"/>
              </a:buClr>
              <a:buSzPts val="1100"/>
              <a:buFont typeface="Arial"/>
              <a:buNone/>
            </a:pPr>
            <a:r>
              <a:rPr lang="en" sz="2300"/>
              <a:t>What data types exist in the world?</a:t>
            </a:r>
            <a:endParaRPr sz="2300"/>
          </a:p>
          <a:p>
            <a:pPr indent="0" lvl="0" marL="0" rtl="0" algn="l">
              <a:lnSpc>
                <a:spcPct val="115000"/>
              </a:lnSpc>
              <a:spcBef>
                <a:spcPts val="800"/>
              </a:spcBef>
              <a:spcAft>
                <a:spcPts val="0"/>
              </a:spcAft>
              <a:buSzPts val="2100"/>
              <a:buNone/>
            </a:pPr>
            <a:r>
              <a:t/>
            </a:r>
            <a:endParaRPr sz="2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Types</a:t>
            </a:r>
            <a:endParaRPr/>
          </a:p>
        </p:txBody>
      </p:sp>
      <p:sp>
        <p:nvSpPr>
          <p:cNvPr id="76" name="Google Shape;76;p4"/>
          <p:cNvSpPr txBox="1"/>
          <p:nvPr>
            <p:ph idx="1" type="body"/>
          </p:nvPr>
        </p:nvSpPr>
        <p:spPr>
          <a:xfrm>
            <a:off x="421971" y="1329896"/>
            <a:ext cx="7293300" cy="3086700"/>
          </a:xfrm>
          <a:prstGeom prst="rect">
            <a:avLst/>
          </a:prstGeom>
          <a:noFill/>
          <a:ln>
            <a:noFill/>
          </a:ln>
        </p:spPr>
        <p:txBody>
          <a:bodyPr anchorCtr="0" anchor="t" bIns="34275" lIns="68575" spcFirstLastPara="1" rIns="68575" wrap="square" tIns="34275">
            <a:noAutofit/>
          </a:bodyPr>
          <a:lstStyle/>
          <a:p>
            <a:pPr indent="-342900" lvl="0" marL="457200" rtl="0" algn="l">
              <a:lnSpc>
                <a:spcPct val="150000"/>
              </a:lnSpc>
              <a:spcBef>
                <a:spcPts val="800"/>
              </a:spcBef>
              <a:spcAft>
                <a:spcPts val="0"/>
              </a:spcAft>
              <a:buSzPts val="1800"/>
              <a:buChar char="●"/>
            </a:pPr>
            <a:r>
              <a:rPr lang="en" sz="1800"/>
              <a:t>Tabular Data: tables of orders, menus, customers.</a:t>
            </a:r>
            <a:endParaRPr sz="1800"/>
          </a:p>
          <a:p>
            <a:pPr indent="-342900" lvl="0" marL="457200" rtl="0" algn="l">
              <a:lnSpc>
                <a:spcPct val="150000"/>
              </a:lnSpc>
              <a:spcBef>
                <a:spcPts val="0"/>
              </a:spcBef>
              <a:spcAft>
                <a:spcPts val="0"/>
              </a:spcAft>
              <a:buSzPts val="1800"/>
              <a:buChar char="●"/>
            </a:pPr>
            <a:r>
              <a:rPr lang="en" sz="1800"/>
              <a:t>Text: tweets, articles, reviews. </a:t>
            </a:r>
            <a:endParaRPr sz="1800"/>
          </a:p>
          <a:p>
            <a:pPr indent="-323850" lvl="1" marL="914400" rtl="0" algn="l">
              <a:lnSpc>
                <a:spcPct val="150000"/>
              </a:lnSpc>
              <a:spcBef>
                <a:spcPts val="0"/>
              </a:spcBef>
              <a:spcAft>
                <a:spcPts val="0"/>
              </a:spcAft>
              <a:buSzPts val="1500"/>
              <a:buChar char="○"/>
            </a:pPr>
            <a:r>
              <a:rPr lang="en" sz="1500"/>
              <a:t>Text Databases such as ElasticSearch -&gt; logger.log(“user clicked on the button”).</a:t>
            </a:r>
            <a:endParaRPr sz="1500"/>
          </a:p>
          <a:p>
            <a:pPr indent="-342900" lvl="0" marL="457200" rtl="0" algn="l">
              <a:lnSpc>
                <a:spcPct val="150000"/>
              </a:lnSpc>
              <a:spcBef>
                <a:spcPts val="0"/>
              </a:spcBef>
              <a:spcAft>
                <a:spcPts val="0"/>
              </a:spcAft>
              <a:buSzPts val="1800"/>
              <a:buChar char="●"/>
            </a:pPr>
            <a:r>
              <a:rPr lang="en" sz="1800"/>
              <a:t>Image: product images on e-commerce sites.</a:t>
            </a:r>
            <a:endParaRPr sz="1800"/>
          </a:p>
          <a:p>
            <a:pPr indent="-342900" lvl="0" marL="457200" rtl="0" algn="l">
              <a:lnSpc>
                <a:spcPct val="150000"/>
              </a:lnSpc>
              <a:spcBef>
                <a:spcPts val="0"/>
              </a:spcBef>
              <a:spcAft>
                <a:spcPts val="0"/>
              </a:spcAft>
              <a:buSzPts val="1800"/>
              <a:buChar char="●"/>
            </a:pPr>
            <a:r>
              <a:rPr lang="en" sz="1800"/>
              <a:t>Video: YouTube, surveillance systems, etc.</a:t>
            </a:r>
            <a:endParaRPr sz="1800"/>
          </a:p>
          <a:p>
            <a:pPr indent="-342900" lvl="0" marL="457200" rtl="0" algn="l">
              <a:lnSpc>
                <a:spcPct val="150000"/>
              </a:lnSpc>
              <a:spcBef>
                <a:spcPts val="0"/>
              </a:spcBef>
              <a:spcAft>
                <a:spcPts val="0"/>
              </a:spcAft>
              <a:buSzPts val="1800"/>
              <a:buChar char="●"/>
            </a:pPr>
            <a:r>
              <a:rPr lang="en" sz="1800"/>
              <a:t>Audio: Spotify music, WhatsApp voice messages.</a:t>
            </a:r>
            <a:endParaRPr sz="1800"/>
          </a:p>
          <a:p>
            <a:pPr indent="0" lvl="0" marL="0" rtl="0" algn="l">
              <a:lnSpc>
                <a:spcPct val="115000"/>
              </a:lnSpc>
              <a:spcBef>
                <a:spcPts val="800"/>
              </a:spcBef>
              <a:spcAft>
                <a:spcPts val="0"/>
              </a:spcAft>
              <a:buClr>
                <a:schemeClr val="dk1"/>
              </a:buClr>
              <a:buSzPts val="1100"/>
              <a:buFont typeface="Arial"/>
              <a:buNone/>
            </a:pPr>
            <a:r>
              <a:rPr lang="en" sz="1800"/>
              <a:t>Each type of data has its own challenges in storage, processing, and analysis.</a:t>
            </a:r>
            <a:endParaRPr sz="1800"/>
          </a:p>
          <a:p>
            <a:pPr indent="0" lvl="0" marL="0" rtl="0" algn="l">
              <a:lnSpc>
                <a:spcPct val="115000"/>
              </a:lnSpc>
              <a:spcBef>
                <a:spcPts val="800"/>
              </a:spcBef>
              <a:spcAft>
                <a:spcPts val="0"/>
              </a:spcAft>
              <a:buSzPts val="2100"/>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5"/>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Tabular Data</a:t>
            </a:r>
            <a:endParaRPr/>
          </a:p>
        </p:txBody>
      </p:sp>
      <p:sp>
        <p:nvSpPr>
          <p:cNvPr id="82" name="Google Shape;82;p5"/>
          <p:cNvSpPr txBox="1"/>
          <p:nvPr>
            <p:ph idx="1" type="body"/>
          </p:nvPr>
        </p:nvSpPr>
        <p:spPr>
          <a:xfrm>
            <a:off x="421971" y="1329896"/>
            <a:ext cx="7293300" cy="3086700"/>
          </a:xfrm>
          <a:prstGeom prst="rect">
            <a:avLst/>
          </a:prstGeom>
          <a:noFill/>
          <a:ln>
            <a:noFill/>
          </a:ln>
        </p:spPr>
        <p:txBody>
          <a:bodyPr anchorCtr="0" anchor="t" bIns="34275" lIns="68575" spcFirstLastPara="1" rIns="68575" wrap="square" tIns="34275">
            <a:noAutofit/>
          </a:bodyPr>
          <a:lstStyle/>
          <a:p>
            <a:pPr indent="-342900" lvl="0" marL="457200" rtl="0" algn="l">
              <a:lnSpc>
                <a:spcPct val="115000"/>
              </a:lnSpc>
              <a:spcBef>
                <a:spcPts val="800"/>
              </a:spcBef>
              <a:spcAft>
                <a:spcPts val="0"/>
              </a:spcAft>
              <a:buSzPts val="1800"/>
              <a:buChar char="●"/>
            </a:pPr>
            <a:r>
              <a:rPr lang="en" sz="1800"/>
              <a:t>Tabular data is the most common format.</a:t>
            </a:r>
            <a:endParaRPr sz="1800"/>
          </a:p>
          <a:p>
            <a:pPr indent="-342900" lvl="0" marL="457200" rtl="0" algn="l">
              <a:lnSpc>
                <a:spcPct val="115000"/>
              </a:lnSpc>
              <a:spcBef>
                <a:spcPts val="0"/>
              </a:spcBef>
              <a:spcAft>
                <a:spcPts val="0"/>
              </a:spcAft>
              <a:buSzPts val="1800"/>
              <a:buChar char="●"/>
            </a:pPr>
            <a:r>
              <a:rPr lang="en" sz="1800"/>
              <a:t>Excel, Google Sheets, CSV files, etc are all tables.</a:t>
            </a:r>
            <a:endParaRPr sz="1800"/>
          </a:p>
          <a:p>
            <a:pPr indent="-342900" lvl="0" marL="457200" rtl="0" algn="l">
              <a:lnSpc>
                <a:spcPct val="115000"/>
              </a:lnSpc>
              <a:spcBef>
                <a:spcPts val="0"/>
              </a:spcBef>
              <a:spcAft>
                <a:spcPts val="0"/>
              </a:spcAft>
              <a:buSzPts val="1800"/>
              <a:buChar char="●"/>
            </a:pPr>
            <a:r>
              <a:rPr lang="en" sz="1800"/>
              <a:t>The human brain understands tabular data easier.</a:t>
            </a:r>
            <a:endParaRPr sz="1800"/>
          </a:p>
          <a:p>
            <a:pPr indent="-342900" lvl="0" marL="457200" rtl="0" algn="l">
              <a:lnSpc>
                <a:spcPct val="115000"/>
              </a:lnSpc>
              <a:spcBef>
                <a:spcPts val="0"/>
              </a:spcBef>
              <a:spcAft>
                <a:spcPts val="0"/>
              </a:spcAft>
              <a:buSzPts val="1800"/>
              <a:buChar char="●"/>
            </a:pPr>
            <a:r>
              <a:rPr lang="en" sz="1800"/>
              <a:t>Tabular data is the focus of this course.</a:t>
            </a:r>
            <a:endParaRPr sz="1800"/>
          </a:p>
          <a:p>
            <a:pPr indent="0" lvl="0" marL="0" rtl="0" algn="l">
              <a:lnSpc>
                <a:spcPct val="90000"/>
              </a:lnSpc>
              <a:spcBef>
                <a:spcPts val="800"/>
              </a:spcBef>
              <a:spcAft>
                <a:spcPts val="0"/>
              </a:spcAft>
              <a:buSzPts val="2100"/>
              <a:buNone/>
            </a:pPr>
            <a:r>
              <a:t/>
            </a:r>
            <a:endParaRPr sz="1800"/>
          </a:p>
        </p:txBody>
      </p:sp>
      <p:pic>
        <p:nvPicPr>
          <p:cNvPr id="83" name="Google Shape;83;p5"/>
          <p:cNvPicPr preferRelativeResize="0"/>
          <p:nvPr/>
        </p:nvPicPr>
        <p:blipFill rotWithShape="1">
          <a:blip r:embed="rId3">
            <a:alphaModFix/>
          </a:blip>
          <a:srcRect b="26647" l="0" r="0" t="0"/>
          <a:stretch/>
        </p:blipFill>
        <p:spPr>
          <a:xfrm>
            <a:off x="1381300" y="2833250"/>
            <a:ext cx="6381401" cy="1916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6"/>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SQL</a:t>
            </a:r>
            <a:endParaRPr/>
          </a:p>
        </p:txBody>
      </p:sp>
      <p:sp>
        <p:nvSpPr>
          <p:cNvPr id="89" name="Google Shape;89;p6"/>
          <p:cNvSpPr txBox="1"/>
          <p:nvPr>
            <p:ph idx="1" type="body"/>
          </p:nvPr>
        </p:nvSpPr>
        <p:spPr>
          <a:xfrm>
            <a:off x="421971" y="1101296"/>
            <a:ext cx="7293300" cy="3086700"/>
          </a:xfrm>
          <a:prstGeom prst="rect">
            <a:avLst/>
          </a:prstGeom>
          <a:noFill/>
          <a:ln>
            <a:noFill/>
          </a:ln>
        </p:spPr>
        <p:txBody>
          <a:bodyPr anchorCtr="0" anchor="t" bIns="34275" lIns="68575" spcFirstLastPara="1" rIns="68575" wrap="square" tIns="34275">
            <a:noAutofit/>
          </a:bodyPr>
          <a:lstStyle/>
          <a:p>
            <a:pPr indent="-342900" lvl="0" marL="457200" rtl="0" algn="l">
              <a:lnSpc>
                <a:spcPct val="115000"/>
              </a:lnSpc>
              <a:spcBef>
                <a:spcPts val="800"/>
              </a:spcBef>
              <a:spcAft>
                <a:spcPts val="0"/>
              </a:spcAft>
              <a:buSzPts val="1800"/>
              <a:buChar char="●"/>
            </a:pPr>
            <a:r>
              <a:rPr lang="en" sz="1800"/>
              <a:t>SQL Queries are the most common tool to retrieve data.</a:t>
            </a:r>
            <a:endParaRPr sz="1800"/>
          </a:p>
          <a:p>
            <a:pPr indent="-342900" lvl="1" marL="914400" rtl="0" algn="l">
              <a:lnSpc>
                <a:spcPct val="115000"/>
              </a:lnSpc>
              <a:spcBef>
                <a:spcPts val="0"/>
              </a:spcBef>
              <a:spcAft>
                <a:spcPts val="0"/>
              </a:spcAft>
              <a:buSzPts val="1800"/>
              <a:buChar char="○"/>
            </a:pPr>
            <a:r>
              <a:rPr lang="en" sz="1800"/>
              <a:t>select * from customers where customer_id = 3</a:t>
            </a:r>
            <a:endParaRPr sz="1800"/>
          </a:p>
          <a:p>
            <a:pPr indent="-342900" lvl="1" marL="914400" rtl="0" algn="l">
              <a:lnSpc>
                <a:spcPct val="115000"/>
              </a:lnSpc>
              <a:spcBef>
                <a:spcPts val="0"/>
              </a:spcBef>
              <a:spcAft>
                <a:spcPts val="0"/>
              </a:spcAft>
              <a:buSzPts val="1800"/>
              <a:buChar char="○"/>
            </a:pPr>
            <a:r>
              <a:rPr lang="en" sz="1800"/>
              <a:t>select average(age) from customers;</a:t>
            </a:r>
            <a:endParaRPr sz="1800"/>
          </a:p>
          <a:p>
            <a:pPr indent="-342900" lvl="1" marL="914400" rtl="0" algn="l">
              <a:lnSpc>
                <a:spcPct val="115000"/>
              </a:lnSpc>
              <a:spcBef>
                <a:spcPts val="0"/>
              </a:spcBef>
              <a:spcAft>
                <a:spcPts val="0"/>
              </a:spcAft>
              <a:buSzPts val="1800"/>
              <a:buChar char="○"/>
            </a:pPr>
            <a:r>
              <a:rPr lang="en"/>
              <a:t>Df[df[‘customer_id’] == 3]</a:t>
            </a:r>
            <a:endParaRPr/>
          </a:p>
          <a:p>
            <a:pPr indent="-342900" lvl="0" marL="457200" rtl="0" algn="l">
              <a:lnSpc>
                <a:spcPct val="115000"/>
              </a:lnSpc>
              <a:spcBef>
                <a:spcPts val="0"/>
              </a:spcBef>
              <a:spcAft>
                <a:spcPts val="0"/>
              </a:spcAft>
              <a:buSzPts val="1800"/>
              <a:buChar char="●"/>
            </a:pPr>
            <a:r>
              <a:rPr lang="en" sz="1800"/>
              <a:t>We will learn</a:t>
            </a:r>
            <a:r>
              <a:rPr lang="en" sz="1800"/>
              <a:t> SQL.</a:t>
            </a:r>
            <a:endParaRPr sz="1800"/>
          </a:p>
        </p:txBody>
      </p:sp>
      <p:pic>
        <p:nvPicPr>
          <p:cNvPr id="90" name="Google Shape;90;p6"/>
          <p:cNvPicPr preferRelativeResize="0"/>
          <p:nvPr/>
        </p:nvPicPr>
        <p:blipFill rotWithShape="1">
          <a:blip r:embed="rId3">
            <a:alphaModFix/>
          </a:blip>
          <a:srcRect b="26647" l="0" r="0" t="0"/>
          <a:stretch/>
        </p:blipFill>
        <p:spPr>
          <a:xfrm>
            <a:off x="1381300" y="2728825"/>
            <a:ext cx="6381401" cy="1916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7"/>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Engineering in Action</a:t>
            </a:r>
            <a:endParaRPr/>
          </a:p>
        </p:txBody>
      </p:sp>
      <p:sp>
        <p:nvSpPr>
          <p:cNvPr id="96" name="Google Shape;96;p7"/>
          <p:cNvSpPr/>
          <p:nvPr/>
        </p:nvSpPr>
        <p:spPr>
          <a:xfrm>
            <a:off x="5769225" y="1493963"/>
            <a:ext cx="1584400" cy="2596325"/>
          </a:xfrm>
          <a:prstGeom prst="flowChartMagneticDisk">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Orders</a:t>
            </a:r>
            <a:endParaRPr b="0" i="0" sz="1400" u="none" cap="none" strike="noStrike">
              <a:solidFill>
                <a:srgbClr val="000000"/>
              </a:solidFill>
              <a:latin typeface="Arial"/>
              <a:ea typeface="Arial"/>
              <a:cs typeface="Arial"/>
              <a:sym typeface="Arial"/>
            </a:endParaRPr>
          </a:p>
        </p:txBody>
      </p:sp>
      <p:sp>
        <p:nvSpPr>
          <p:cNvPr id="97" name="Google Shape;97;p7"/>
          <p:cNvSpPr/>
          <p:nvPr/>
        </p:nvSpPr>
        <p:spPr>
          <a:xfrm>
            <a:off x="1460925" y="1215100"/>
            <a:ext cx="1767600" cy="5088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Customers place orders</a:t>
            </a:r>
            <a:endParaRPr b="0" i="0" sz="1400" u="none" cap="none" strike="noStrike">
              <a:solidFill>
                <a:srgbClr val="000000"/>
              </a:solidFill>
              <a:latin typeface="Arial"/>
              <a:ea typeface="Arial"/>
              <a:cs typeface="Arial"/>
              <a:sym typeface="Arial"/>
            </a:endParaRPr>
          </a:p>
        </p:txBody>
      </p:sp>
      <p:sp>
        <p:nvSpPr>
          <p:cNvPr id="98" name="Google Shape;98;p7"/>
          <p:cNvSpPr/>
          <p:nvPr/>
        </p:nvSpPr>
        <p:spPr>
          <a:xfrm>
            <a:off x="3401900" y="2292675"/>
            <a:ext cx="2058600" cy="555000"/>
          </a:xfrm>
          <a:prstGeom prst="rightArrow">
            <a:avLst>
              <a:gd fmla="val 50000" name="adj1"/>
              <a:gd fmla="val 50000" name="adj2"/>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Software (Backend)</a:t>
            </a:r>
            <a:endParaRPr b="0" i="0" sz="1400" u="none" cap="none" strike="noStrike">
              <a:solidFill>
                <a:srgbClr val="000000"/>
              </a:solidFill>
              <a:latin typeface="Arial"/>
              <a:ea typeface="Arial"/>
              <a:cs typeface="Arial"/>
              <a:sym typeface="Arial"/>
            </a:endParaRPr>
          </a:p>
        </p:txBody>
      </p:sp>
      <p:sp>
        <p:nvSpPr>
          <p:cNvPr id="99" name="Google Shape;99;p7"/>
          <p:cNvSpPr/>
          <p:nvPr/>
        </p:nvSpPr>
        <p:spPr>
          <a:xfrm>
            <a:off x="905925" y="1593025"/>
            <a:ext cx="555000" cy="555000"/>
          </a:xfrm>
          <a:prstGeom prst="smileyFace">
            <a:avLst>
              <a:gd fmla="val 4653" name="adj"/>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7"/>
          <p:cNvSpPr/>
          <p:nvPr/>
        </p:nvSpPr>
        <p:spPr>
          <a:xfrm>
            <a:off x="1314075" y="2240113"/>
            <a:ext cx="994500" cy="3006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Order</a:t>
            </a:r>
            <a:endParaRPr b="0" i="0" sz="1400" u="none" cap="none" strike="noStrike">
              <a:solidFill>
                <a:srgbClr val="000000"/>
              </a:solidFill>
              <a:latin typeface="Arial"/>
              <a:ea typeface="Arial"/>
              <a:cs typeface="Arial"/>
              <a:sym typeface="Arial"/>
            </a:endParaRPr>
          </a:p>
        </p:txBody>
      </p:sp>
      <p:sp>
        <p:nvSpPr>
          <p:cNvPr id="101" name="Google Shape;101;p7"/>
          <p:cNvSpPr/>
          <p:nvPr/>
        </p:nvSpPr>
        <p:spPr>
          <a:xfrm>
            <a:off x="1466475" y="2392513"/>
            <a:ext cx="994500" cy="3006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Order</a:t>
            </a:r>
            <a:endParaRPr b="0" i="0" sz="1400" u="none" cap="none" strike="noStrike">
              <a:solidFill>
                <a:srgbClr val="000000"/>
              </a:solidFill>
              <a:latin typeface="Arial"/>
              <a:ea typeface="Arial"/>
              <a:cs typeface="Arial"/>
              <a:sym typeface="Arial"/>
            </a:endParaRPr>
          </a:p>
        </p:txBody>
      </p:sp>
      <p:sp>
        <p:nvSpPr>
          <p:cNvPr id="102" name="Google Shape;102;p7"/>
          <p:cNvSpPr/>
          <p:nvPr/>
        </p:nvSpPr>
        <p:spPr>
          <a:xfrm>
            <a:off x="1618875" y="2544913"/>
            <a:ext cx="994500" cy="3006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Order</a:t>
            </a:r>
            <a:endParaRPr b="0" i="0" sz="1400" u="none" cap="none" strike="noStrike">
              <a:solidFill>
                <a:srgbClr val="000000"/>
              </a:solidFill>
              <a:latin typeface="Arial"/>
              <a:ea typeface="Arial"/>
              <a:cs typeface="Arial"/>
              <a:sym typeface="Arial"/>
            </a:endParaRPr>
          </a:p>
        </p:txBody>
      </p:sp>
      <p:sp>
        <p:nvSpPr>
          <p:cNvPr id="103" name="Google Shape;103;p7"/>
          <p:cNvSpPr/>
          <p:nvPr/>
        </p:nvSpPr>
        <p:spPr>
          <a:xfrm>
            <a:off x="1771275" y="2697313"/>
            <a:ext cx="994500" cy="3006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Order</a:t>
            </a:r>
            <a:endParaRPr b="0" i="0" sz="1400" u="none" cap="none" strike="noStrike">
              <a:solidFill>
                <a:srgbClr val="000000"/>
              </a:solidFill>
              <a:latin typeface="Arial"/>
              <a:ea typeface="Arial"/>
              <a:cs typeface="Arial"/>
              <a:sym typeface="Arial"/>
            </a:endParaRPr>
          </a:p>
        </p:txBody>
      </p:sp>
      <p:sp>
        <p:nvSpPr>
          <p:cNvPr id="104" name="Google Shape;104;p7"/>
          <p:cNvSpPr/>
          <p:nvPr/>
        </p:nvSpPr>
        <p:spPr>
          <a:xfrm>
            <a:off x="1923675" y="2849713"/>
            <a:ext cx="994500" cy="3006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Order</a:t>
            </a:r>
            <a:endParaRPr b="0" i="0" sz="1400" u="none" cap="none" strike="noStrike">
              <a:solidFill>
                <a:srgbClr val="000000"/>
              </a:solidFill>
              <a:latin typeface="Arial"/>
              <a:ea typeface="Arial"/>
              <a:cs typeface="Arial"/>
              <a:sym typeface="Arial"/>
            </a:endParaRPr>
          </a:p>
        </p:txBody>
      </p:sp>
      <p:sp>
        <p:nvSpPr>
          <p:cNvPr id="105" name="Google Shape;105;p7"/>
          <p:cNvSpPr/>
          <p:nvPr/>
        </p:nvSpPr>
        <p:spPr>
          <a:xfrm>
            <a:off x="2076075" y="3002113"/>
            <a:ext cx="994500" cy="3006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Order</a:t>
            </a:r>
            <a:endParaRPr b="0" i="0" sz="1400" u="none" cap="none" strike="noStrike">
              <a:solidFill>
                <a:srgbClr val="000000"/>
              </a:solidFill>
              <a:latin typeface="Arial"/>
              <a:ea typeface="Arial"/>
              <a:cs typeface="Arial"/>
              <a:sym typeface="Arial"/>
            </a:endParaRPr>
          </a:p>
        </p:txBody>
      </p:sp>
      <p:sp>
        <p:nvSpPr>
          <p:cNvPr id="106" name="Google Shape;106;p7"/>
          <p:cNvSpPr/>
          <p:nvPr/>
        </p:nvSpPr>
        <p:spPr>
          <a:xfrm>
            <a:off x="2228475" y="3154513"/>
            <a:ext cx="994500" cy="3006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Order</a:t>
            </a:r>
            <a:endParaRPr b="0" i="0" sz="1400" u="none" cap="none" strike="noStrike">
              <a:solidFill>
                <a:srgbClr val="000000"/>
              </a:solidFill>
              <a:latin typeface="Arial"/>
              <a:ea typeface="Arial"/>
              <a:cs typeface="Arial"/>
              <a:sym typeface="Arial"/>
            </a:endParaRPr>
          </a:p>
        </p:txBody>
      </p:sp>
      <p:sp>
        <p:nvSpPr>
          <p:cNvPr id="107" name="Google Shape;107;p7"/>
          <p:cNvSpPr/>
          <p:nvPr/>
        </p:nvSpPr>
        <p:spPr>
          <a:xfrm>
            <a:off x="2380875" y="3306913"/>
            <a:ext cx="994500" cy="3006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Order</a:t>
            </a:r>
            <a:endParaRPr b="0" i="0" sz="1400" u="none" cap="none" strike="noStrike">
              <a:solidFill>
                <a:srgbClr val="000000"/>
              </a:solidFill>
              <a:latin typeface="Arial"/>
              <a:ea typeface="Arial"/>
              <a:cs typeface="Arial"/>
              <a:sym typeface="Arial"/>
            </a:endParaRPr>
          </a:p>
        </p:txBody>
      </p:sp>
      <p:sp>
        <p:nvSpPr>
          <p:cNvPr id="108" name="Google Shape;108;p7"/>
          <p:cNvSpPr txBox="1"/>
          <p:nvPr/>
        </p:nvSpPr>
        <p:spPr>
          <a:xfrm>
            <a:off x="5303700" y="4120425"/>
            <a:ext cx="2553000" cy="53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Database </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(e.g., MySQL, PostgreSQL)</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8"/>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Engineering - Example 1</a:t>
            </a:r>
            <a:endParaRPr/>
          </a:p>
        </p:txBody>
      </p:sp>
      <p:sp>
        <p:nvSpPr>
          <p:cNvPr id="114" name="Google Shape;114;p8"/>
          <p:cNvSpPr/>
          <p:nvPr/>
        </p:nvSpPr>
        <p:spPr>
          <a:xfrm>
            <a:off x="2847150" y="1850138"/>
            <a:ext cx="1584400" cy="2596325"/>
          </a:xfrm>
          <a:prstGeom prst="flowChartMagneticDisk">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Orders (5TB)</a:t>
            </a:r>
            <a:endParaRPr b="0" i="0" sz="1400" u="none" cap="none" strike="noStrike">
              <a:solidFill>
                <a:srgbClr val="000000"/>
              </a:solidFill>
              <a:latin typeface="Arial"/>
              <a:ea typeface="Arial"/>
              <a:cs typeface="Arial"/>
              <a:sym typeface="Arial"/>
            </a:endParaRPr>
          </a:p>
        </p:txBody>
      </p:sp>
      <p:sp>
        <p:nvSpPr>
          <p:cNvPr id="115" name="Google Shape;115;p8"/>
          <p:cNvSpPr/>
          <p:nvPr/>
        </p:nvSpPr>
        <p:spPr>
          <a:xfrm>
            <a:off x="8498825" y="2294238"/>
            <a:ext cx="555000" cy="555000"/>
          </a:xfrm>
          <a:prstGeom prst="smileyFace">
            <a:avLst>
              <a:gd fmla="val -4653" name="adj"/>
            </a:avLst>
          </a:prstGeom>
          <a:solidFill>
            <a:srgbClr val="F4CC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8"/>
          <p:cNvSpPr/>
          <p:nvPr/>
        </p:nvSpPr>
        <p:spPr>
          <a:xfrm>
            <a:off x="4492875" y="1618650"/>
            <a:ext cx="4082700" cy="675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Manager (BI): I want to calculate the last month’s revenue on Calgary orders …</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Every time I run a query, it takes a long time.</a:t>
            </a:r>
            <a:endParaRPr b="0" i="0" sz="1200" u="none" cap="none" strike="noStrike">
              <a:solidFill>
                <a:srgbClr val="000000"/>
              </a:solidFill>
              <a:latin typeface="Arial"/>
              <a:ea typeface="Arial"/>
              <a:cs typeface="Arial"/>
              <a:sym typeface="Arial"/>
            </a:endParaRPr>
          </a:p>
        </p:txBody>
      </p:sp>
      <p:sp>
        <p:nvSpPr>
          <p:cNvPr id="117" name="Google Shape;117;p8"/>
          <p:cNvSpPr/>
          <p:nvPr/>
        </p:nvSpPr>
        <p:spPr>
          <a:xfrm>
            <a:off x="4566900" y="2410450"/>
            <a:ext cx="3810000" cy="555000"/>
          </a:xfrm>
          <a:prstGeom prst="rightArrow">
            <a:avLst>
              <a:gd fmla="val 50000" name="adj1"/>
              <a:gd fmla="val 50000" name="adj2"/>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Query: Calculate Revenue on Calgary’s Orders</a:t>
            </a:r>
            <a:endParaRPr b="0" i="0" sz="1100" u="none" cap="none" strike="noStrike">
              <a:solidFill>
                <a:srgbClr val="000000"/>
              </a:solidFill>
              <a:latin typeface="Arial"/>
              <a:ea typeface="Arial"/>
              <a:cs typeface="Arial"/>
              <a:sym typeface="Arial"/>
            </a:endParaRPr>
          </a:p>
        </p:txBody>
      </p:sp>
      <p:sp>
        <p:nvSpPr>
          <p:cNvPr id="118" name="Google Shape;118;p8"/>
          <p:cNvSpPr/>
          <p:nvPr/>
        </p:nvSpPr>
        <p:spPr>
          <a:xfrm>
            <a:off x="4981950" y="2923725"/>
            <a:ext cx="2907900" cy="9948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select sum(profit - cost) from orders where location = ‘calgary’ </a:t>
            </a:r>
            <a:endParaRPr b="0" i="0" sz="1400" u="none" cap="none" strike="noStrike">
              <a:solidFill>
                <a:srgbClr val="000000"/>
              </a:solidFill>
              <a:latin typeface="Arial"/>
              <a:ea typeface="Arial"/>
              <a:cs typeface="Arial"/>
              <a:sym typeface="Arial"/>
            </a:endParaRPr>
          </a:p>
        </p:txBody>
      </p:sp>
      <p:sp>
        <p:nvSpPr>
          <p:cNvPr id="119" name="Google Shape;119;p8"/>
          <p:cNvSpPr/>
          <p:nvPr/>
        </p:nvSpPr>
        <p:spPr>
          <a:xfrm>
            <a:off x="1007025" y="2068213"/>
            <a:ext cx="555000" cy="555000"/>
          </a:xfrm>
          <a:prstGeom prst="smileyFace">
            <a:avLst>
              <a:gd fmla="val -4653" name="adj"/>
            </a:avLst>
          </a:prstGeom>
          <a:solidFill>
            <a:srgbClr val="F4CC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8"/>
          <p:cNvSpPr/>
          <p:nvPr/>
        </p:nvSpPr>
        <p:spPr>
          <a:xfrm>
            <a:off x="121275" y="2662875"/>
            <a:ext cx="2478600" cy="6411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Software Engineer:</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Whenever this guy runs a query, our database slows down.</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9"/>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Engineering - Example 1</a:t>
            </a:r>
            <a:endParaRPr/>
          </a:p>
        </p:txBody>
      </p:sp>
      <p:sp>
        <p:nvSpPr>
          <p:cNvPr id="126" name="Google Shape;126;p9"/>
          <p:cNvSpPr/>
          <p:nvPr/>
        </p:nvSpPr>
        <p:spPr>
          <a:xfrm>
            <a:off x="174975" y="1483663"/>
            <a:ext cx="1584400" cy="2596325"/>
          </a:xfrm>
          <a:prstGeom prst="flowChartMagneticDisk">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Orders</a:t>
            </a:r>
            <a:endParaRPr b="0" i="0" sz="1400" u="none" cap="none" strike="noStrike">
              <a:solidFill>
                <a:srgbClr val="000000"/>
              </a:solidFill>
              <a:latin typeface="Arial"/>
              <a:ea typeface="Arial"/>
              <a:cs typeface="Arial"/>
              <a:sym typeface="Arial"/>
            </a:endParaRPr>
          </a:p>
        </p:txBody>
      </p:sp>
      <p:sp>
        <p:nvSpPr>
          <p:cNvPr id="127" name="Google Shape;127;p9"/>
          <p:cNvSpPr/>
          <p:nvPr/>
        </p:nvSpPr>
        <p:spPr>
          <a:xfrm>
            <a:off x="6756975" y="2463788"/>
            <a:ext cx="555000" cy="555000"/>
          </a:xfrm>
          <a:prstGeom prst="smileyFace">
            <a:avLst>
              <a:gd fmla="val 4653" name="adj"/>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9"/>
          <p:cNvSpPr/>
          <p:nvPr/>
        </p:nvSpPr>
        <p:spPr>
          <a:xfrm>
            <a:off x="5114625" y="1801363"/>
            <a:ext cx="3839700" cy="508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Manager: Now I read from a smaller database and my queries won’t impact the main system.</a:t>
            </a:r>
            <a:endParaRPr b="0" i="0" sz="1200" u="none" cap="none" strike="noStrike">
              <a:solidFill>
                <a:srgbClr val="000000"/>
              </a:solidFill>
              <a:latin typeface="Arial"/>
              <a:ea typeface="Arial"/>
              <a:cs typeface="Arial"/>
              <a:sym typeface="Arial"/>
            </a:endParaRPr>
          </a:p>
        </p:txBody>
      </p:sp>
      <p:sp>
        <p:nvSpPr>
          <p:cNvPr id="129" name="Google Shape;129;p9"/>
          <p:cNvSpPr/>
          <p:nvPr/>
        </p:nvSpPr>
        <p:spPr>
          <a:xfrm>
            <a:off x="3611425" y="2203588"/>
            <a:ext cx="1387800" cy="1156475"/>
          </a:xfrm>
          <a:prstGeom prst="flowChartMagneticDisk">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calgary_orders</a:t>
            </a:r>
            <a:endParaRPr b="0" i="0" sz="1400" u="none" cap="none" strike="noStrike">
              <a:solidFill>
                <a:srgbClr val="000000"/>
              </a:solidFill>
              <a:latin typeface="Arial"/>
              <a:ea typeface="Arial"/>
              <a:cs typeface="Arial"/>
              <a:sym typeface="Arial"/>
            </a:endParaRPr>
          </a:p>
        </p:txBody>
      </p:sp>
      <p:sp>
        <p:nvSpPr>
          <p:cNvPr id="130" name="Google Shape;130;p9"/>
          <p:cNvSpPr/>
          <p:nvPr/>
        </p:nvSpPr>
        <p:spPr>
          <a:xfrm>
            <a:off x="5085950" y="2463800"/>
            <a:ext cx="1584300" cy="555000"/>
          </a:xfrm>
          <a:prstGeom prst="rightArrow">
            <a:avLst>
              <a:gd fmla="val 50000" name="adj1"/>
              <a:gd fmla="val 50000" name="adj2"/>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Query</a:t>
            </a:r>
            <a:endParaRPr b="0" i="0" sz="1100" u="none" cap="none" strike="noStrike">
              <a:solidFill>
                <a:srgbClr val="000000"/>
              </a:solidFill>
              <a:latin typeface="Arial"/>
              <a:ea typeface="Arial"/>
              <a:cs typeface="Arial"/>
              <a:sym typeface="Arial"/>
            </a:endParaRPr>
          </a:p>
        </p:txBody>
      </p:sp>
      <p:sp>
        <p:nvSpPr>
          <p:cNvPr id="131" name="Google Shape;131;p9"/>
          <p:cNvSpPr/>
          <p:nvPr/>
        </p:nvSpPr>
        <p:spPr>
          <a:xfrm>
            <a:off x="1836250" y="2504325"/>
            <a:ext cx="1698300" cy="555000"/>
          </a:xfrm>
          <a:prstGeom prst="rightArrow">
            <a:avLst>
              <a:gd fmla="val 50000" name="adj1"/>
              <a:gd fmla="val 50000" name="adj2"/>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Data Pipeline</a:t>
            </a:r>
            <a:endParaRPr b="0" i="0" sz="1100" u="none" cap="none" strike="noStrike">
              <a:solidFill>
                <a:srgbClr val="000000"/>
              </a:solidFill>
              <a:latin typeface="Arial"/>
              <a:ea typeface="Arial"/>
              <a:cs typeface="Arial"/>
              <a:sym typeface="Arial"/>
            </a:endParaRPr>
          </a:p>
        </p:txBody>
      </p:sp>
      <p:sp>
        <p:nvSpPr>
          <p:cNvPr id="132" name="Google Shape;132;p9"/>
          <p:cNvSpPr/>
          <p:nvPr/>
        </p:nvSpPr>
        <p:spPr>
          <a:xfrm>
            <a:off x="5161125" y="3172425"/>
            <a:ext cx="3746700" cy="4164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select sum(profit - cost) from calgary_orders;</a:t>
            </a:r>
            <a:endParaRPr b="0" i="0" sz="1400" u="none" cap="none" strike="noStrike">
              <a:solidFill>
                <a:srgbClr val="000000"/>
              </a:solidFill>
              <a:latin typeface="Arial"/>
              <a:ea typeface="Arial"/>
              <a:cs typeface="Arial"/>
              <a:sym typeface="Arial"/>
            </a:endParaRPr>
          </a:p>
        </p:txBody>
      </p:sp>
      <p:sp>
        <p:nvSpPr>
          <p:cNvPr id="133" name="Google Shape;133;p9"/>
          <p:cNvSpPr/>
          <p:nvPr/>
        </p:nvSpPr>
        <p:spPr>
          <a:xfrm>
            <a:off x="1882500" y="3616450"/>
            <a:ext cx="3203400" cy="1156500"/>
          </a:xfrm>
          <a:prstGeom prst="rect">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The new data pipeline moves calgary orders into the second database. So, if it moves data once a day, there is only one heavy query to the source table each day and that is under control of data engineers.</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Engineering - Example 2</a:t>
            </a:r>
            <a:endParaRPr/>
          </a:p>
        </p:txBody>
      </p:sp>
      <p:sp>
        <p:nvSpPr>
          <p:cNvPr id="139" name="Google Shape;139;p10"/>
          <p:cNvSpPr/>
          <p:nvPr/>
        </p:nvSpPr>
        <p:spPr>
          <a:xfrm>
            <a:off x="421963" y="1973447"/>
            <a:ext cx="1306830" cy="2203753"/>
          </a:xfrm>
          <a:prstGeom prst="flowChartMagneticDisk">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Orders</a:t>
            </a:r>
            <a:endParaRPr b="0" i="0" sz="1400" u="none" cap="none" strike="noStrike">
              <a:solidFill>
                <a:srgbClr val="000000"/>
              </a:solidFill>
              <a:latin typeface="Arial"/>
              <a:ea typeface="Arial"/>
              <a:cs typeface="Arial"/>
              <a:sym typeface="Arial"/>
            </a:endParaRPr>
          </a:p>
        </p:txBody>
      </p:sp>
      <p:sp>
        <p:nvSpPr>
          <p:cNvPr id="140" name="Google Shape;140;p10"/>
          <p:cNvSpPr/>
          <p:nvPr/>
        </p:nvSpPr>
        <p:spPr>
          <a:xfrm>
            <a:off x="5091803" y="1972997"/>
            <a:ext cx="457800" cy="471000"/>
          </a:xfrm>
          <a:prstGeom prst="smileyFace">
            <a:avLst>
              <a:gd fmla="val -4653" name="adj"/>
            </a:avLst>
          </a:prstGeom>
          <a:solidFill>
            <a:srgbClr val="F4CC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0"/>
          <p:cNvSpPr/>
          <p:nvPr/>
        </p:nvSpPr>
        <p:spPr>
          <a:xfrm>
            <a:off x="2366825" y="1285875"/>
            <a:ext cx="3951600" cy="6282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 Scientist: I want to write a machine learning model to predict next months’ revenue</a:t>
            </a:r>
            <a:endParaRPr b="0" i="0" sz="1400" u="none" cap="none" strike="noStrike">
              <a:solidFill>
                <a:srgbClr val="000000"/>
              </a:solidFill>
              <a:latin typeface="Arial"/>
              <a:ea typeface="Arial"/>
              <a:cs typeface="Arial"/>
              <a:sym typeface="Arial"/>
            </a:endParaRPr>
          </a:p>
        </p:txBody>
      </p:sp>
      <p:sp>
        <p:nvSpPr>
          <p:cNvPr id="142" name="Google Shape;142;p10"/>
          <p:cNvSpPr/>
          <p:nvPr/>
        </p:nvSpPr>
        <p:spPr>
          <a:xfrm>
            <a:off x="5091800" y="2528125"/>
            <a:ext cx="3585600" cy="10944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But I can’t run my model on a database. I prefer it to be in a file format (e.g., CSV).</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Also, my model reads all data for every test. I will need to run multiple tests each day, it’s going to hurt the main database.</a:t>
            </a:r>
            <a:endParaRPr b="0" i="0" sz="1400" u="none" cap="none" strike="noStrike">
              <a:solidFill>
                <a:srgbClr val="000000"/>
              </a:solidFill>
              <a:latin typeface="Arial"/>
              <a:ea typeface="Arial"/>
              <a:cs typeface="Arial"/>
              <a:sym typeface="Arial"/>
            </a:endParaRPr>
          </a:p>
        </p:txBody>
      </p:sp>
      <p:pic>
        <p:nvPicPr>
          <p:cNvPr id="143" name="Google Shape;143;p10"/>
          <p:cNvPicPr preferRelativeResize="0"/>
          <p:nvPr/>
        </p:nvPicPr>
        <p:blipFill rotWithShape="1">
          <a:blip r:embed="rId3">
            <a:alphaModFix/>
          </a:blip>
          <a:srcRect b="0" l="0" r="0" t="0"/>
          <a:stretch/>
        </p:blipFill>
        <p:spPr>
          <a:xfrm>
            <a:off x="3616046" y="2421463"/>
            <a:ext cx="1306825" cy="1306825"/>
          </a:xfrm>
          <a:prstGeom prst="rect">
            <a:avLst/>
          </a:prstGeom>
          <a:noFill/>
          <a:ln>
            <a:noFill/>
          </a:ln>
        </p:spPr>
      </p:pic>
      <p:sp>
        <p:nvSpPr>
          <p:cNvPr id="144" name="Google Shape;144;p10"/>
          <p:cNvSpPr/>
          <p:nvPr/>
        </p:nvSpPr>
        <p:spPr>
          <a:xfrm>
            <a:off x="1880275" y="2797375"/>
            <a:ext cx="1584300" cy="555000"/>
          </a:xfrm>
          <a:prstGeom prst="rightArrow">
            <a:avLst>
              <a:gd fmla="val 50000" name="adj1"/>
              <a:gd fmla="val 50000" name="adj2"/>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Model Reads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Engineering - Example 2</a:t>
            </a:r>
            <a:endParaRPr/>
          </a:p>
        </p:txBody>
      </p:sp>
      <p:sp>
        <p:nvSpPr>
          <p:cNvPr id="150" name="Google Shape;150;p11"/>
          <p:cNvSpPr/>
          <p:nvPr/>
        </p:nvSpPr>
        <p:spPr>
          <a:xfrm>
            <a:off x="665788" y="1972997"/>
            <a:ext cx="1306830" cy="2203753"/>
          </a:xfrm>
          <a:prstGeom prst="flowChartMagneticDisk">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Orders</a:t>
            </a:r>
            <a:endParaRPr b="0" i="0" sz="1400" u="none" cap="none" strike="noStrike">
              <a:solidFill>
                <a:srgbClr val="000000"/>
              </a:solidFill>
              <a:latin typeface="Arial"/>
              <a:ea typeface="Arial"/>
              <a:cs typeface="Arial"/>
              <a:sym typeface="Arial"/>
            </a:endParaRPr>
          </a:p>
        </p:txBody>
      </p:sp>
      <p:sp>
        <p:nvSpPr>
          <p:cNvPr id="151" name="Google Shape;151;p11"/>
          <p:cNvSpPr/>
          <p:nvPr/>
        </p:nvSpPr>
        <p:spPr>
          <a:xfrm>
            <a:off x="2067986" y="2774581"/>
            <a:ext cx="1698000" cy="471000"/>
          </a:xfrm>
          <a:prstGeom prst="rightArrow">
            <a:avLst>
              <a:gd fmla="val 50000" name="adj1"/>
              <a:gd fmla="val 50000" name="adj2"/>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 Pipeline</a:t>
            </a:r>
            <a:endParaRPr b="0" i="0" sz="1400" u="none" cap="none" strike="noStrike">
              <a:solidFill>
                <a:srgbClr val="000000"/>
              </a:solidFill>
              <a:latin typeface="Arial"/>
              <a:ea typeface="Arial"/>
              <a:cs typeface="Arial"/>
              <a:sym typeface="Arial"/>
            </a:endParaRPr>
          </a:p>
        </p:txBody>
      </p:sp>
      <p:sp>
        <p:nvSpPr>
          <p:cNvPr id="152" name="Google Shape;152;p11"/>
          <p:cNvSpPr/>
          <p:nvPr/>
        </p:nvSpPr>
        <p:spPr>
          <a:xfrm>
            <a:off x="3805035" y="2462873"/>
            <a:ext cx="1028700" cy="1094400"/>
          </a:xfrm>
          <a:prstGeom prst="rect">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 CSV file of orders</a:t>
            </a:r>
            <a:endParaRPr b="0" i="0" sz="1400" u="none" cap="none" strike="noStrike">
              <a:solidFill>
                <a:srgbClr val="000000"/>
              </a:solidFill>
              <a:latin typeface="Arial"/>
              <a:ea typeface="Arial"/>
              <a:cs typeface="Arial"/>
              <a:sym typeface="Arial"/>
            </a:endParaRPr>
          </a:p>
        </p:txBody>
      </p:sp>
      <p:pic>
        <p:nvPicPr>
          <p:cNvPr id="153" name="Google Shape;153;p11"/>
          <p:cNvPicPr preferRelativeResize="0"/>
          <p:nvPr/>
        </p:nvPicPr>
        <p:blipFill rotWithShape="1">
          <a:blip r:embed="rId3">
            <a:alphaModFix/>
          </a:blip>
          <a:srcRect b="0" l="0" r="0" t="0"/>
          <a:stretch/>
        </p:blipFill>
        <p:spPr>
          <a:xfrm>
            <a:off x="6735046" y="2356663"/>
            <a:ext cx="1306825" cy="1306825"/>
          </a:xfrm>
          <a:prstGeom prst="rect">
            <a:avLst/>
          </a:prstGeom>
          <a:noFill/>
          <a:ln>
            <a:noFill/>
          </a:ln>
        </p:spPr>
      </p:pic>
      <p:sp>
        <p:nvSpPr>
          <p:cNvPr id="154" name="Google Shape;154;p11"/>
          <p:cNvSpPr/>
          <p:nvPr/>
        </p:nvSpPr>
        <p:spPr>
          <a:xfrm>
            <a:off x="4999275" y="2732575"/>
            <a:ext cx="1584300" cy="555000"/>
          </a:xfrm>
          <a:prstGeom prst="rightArrow">
            <a:avLst>
              <a:gd fmla="val 50000" name="adj1"/>
              <a:gd fmla="val 50000" name="adj2"/>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Model Reads</a:t>
            </a:r>
            <a:endParaRPr b="0" i="0" sz="1100" u="none" cap="none" strike="noStrike">
              <a:solidFill>
                <a:srgbClr val="000000"/>
              </a:solidFill>
              <a:latin typeface="Arial"/>
              <a:ea typeface="Arial"/>
              <a:cs typeface="Arial"/>
              <a:sym typeface="Arial"/>
            </a:endParaRPr>
          </a:p>
        </p:txBody>
      </p:sp>
      <p:sp>
        <p:nvSpPr>
          <p:cNvPr id="155" name="Google Shape;155;p11"/>
          <p:cNvSpPr/>
          <p:nvPr/>
        </p:nvSpPr>
        <p:spPr>
          <a:xfrm>
            <a:off x="8392428" y="1788935"/>
            <a:ext cx="457800" cy="471000"/>
          </a:xfrm>
          <a:prstGeom prst="smileyFace">
            <a:avLst>
              <a:gd fmla="val 4653" name="adj"/>
            </a:avLst>
          </a:prstGeom>
          <a:solidFill>
            <a:srgbClr val="C9DAF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1"/>
          <p:cNvSpPr/>
          <p:nvPr/>
        </p:nvSpPr>
        <p:spPr>
          <a:xfrm>
            <a:off x="4572001" y="1425663"/>
            <a:ext cx="3691800" cy="6282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 Scientist: I’m back to my nature. I see a CSV file as the input.</a:t>
            </a:r>
            <a:endParaRPr b="0" i="0" sz="1400" u="none" cap="none" strike="noStrike">
              <a:solidFill>
                <a:srgbClr val="000000"/>
              </a:solidFill>
              <a:latin typeface="Arial"/>
              <a:ea typeface="Arial"/>
              <a:cs typeface="Arial"/>
              <a:sym typeface="Arial"/>
            </a:endParaRPr>
          </a:p>
        </p:txBody>
      </p:sp>
      <p:sp>
        <p:nvSpPr>
          <p:cNvPr id="157" name="Google Shape;157;p11"/>
          <p:cNvSpPr/>
          <p:nvPr/>
        </p:nvSpPr>
        <p:spPr>
          <a:xfrm>
            <a:off x="4700626" y="3966263"/>
            <a:ext cx="3691800" cy="6282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CSV files are a sample of usable format to most ML models.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Engineering - Example 3</a:t>
            </a:r>
            <a:endParaRPr/>
          </a:p>
        </p:txBody>
      </p:sp>
      <p:sp>
        <p:nvSpPr>
          <p:cNvPr id="163" name="Google Shape;163;p12"/>
          <p:cNvSpPr/>
          <p:nvPr/>
        </p:nvSpPr>
        <p:spPr>
          <a:xfrm>
            <a:off x="130538" y="1026347"/>
            <a:ext cx="1306830" cy="2203753"/>
          </a:xfrm>
          <a:prstGeom prst="flowChartMagneticDisk">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Deliveries</a:t>
            </a:r>
            <a:endParaRPr b="0" i="0" sz="1400" u="none" cap="none" strike="noStrike">
              <a:solidFill>
                <a:srgbClr val="000000"/>
              </a:solidFill>
              <a:latin typeface="Arial"/>
              <a:ea typeface="Arial"/>
              <a:cs typeface="Arial"/>
              <a:sym typeface="Arial"/>
            </a:endParaRPr>
          </a:p>
        </p:txBody>
      </p:sp>
      <p:sp>
        <p:nvSpPr>
          <p:cNvPr id="164" name="Google Shape;164;p12"/>
          <p:cNvSpPr/>
          <p:nvPr/>
        </p:nvSpPr>
        <p:spPr>
          <a:xfrm>
            <a:off x="5091803" y="1972997"/>
            <a:ext cx="457800" cy="471000"/>
          </a:xfrm>
          <a:prstGeom prst="smileyFace">
            <a:avLst>
              <a:gd fmla="val 4653" name="adj"/>
            </a:avLst>
          </a:prstGeom>
          <a:solidFill>
            <a:srgbClr val="C9DAF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2"/>
          <p:cNvSpPr/>
          <p:nvPr/>
        </p:nvSpPr>
        <p:spPr>
          <a:xfrm>
            <a:off x="2237825" y="980425"/>
            <a:ext cx="3695400" cy="7749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Data Scientist: I want to develop a model that predicts whether or not the customer will receive its order faster if he gives more tips.</a:t>
            </a:r>
            <a:endParaRPr b="0" i="0" sz="1300" u="none" cap="none" strike="noStrike">
              <a:solidFill>
                <a:srgbClr val="000000"/>
              </a:solidFill>
              <a:latin typeface="Arial"/>
              <a:ea typeface="Arial"/>
              <a:cs typeface="Arial"/>
              <a:sym typeface="Arial"/>
            </a:endParaRPr>
          </a:p>
        </p:txBody>
      </p:sp>
      <p:sp>
        <p:nvSpPr>
          <p:cNvPr id="166" name="Google Shape;166;p12"/>
          <p:cNvSpPr/>
          <p:nvPr/>
        </p:nvSpPr>
        <p:spPr>
          <a:xfrm rot="-592">
            <a:off x="1485600" y="2066071"/>
            <a:ext cx="1743000" cy="471000"/>
          </a:xfrm>
          <a:prstGeom prst="rightArrow">
            <a:avLst>
              <a:gd fmla="val 50000" name="adj1"/>
              <a:gd fmla="val 50000" name="adj2"/>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Data Pipeline</a:t>
            </a:r>
            <a:endParaRPr b="0" i="0" sz="1100" u="none" cap="none" strike="noStrike">
              <a:solidFill>
                <a:srgbClr val="000000"/>
              </a:solidFill>
              <a:latin typeface="Arial"/>
              <a:ea typeface="Arial"/>
              <a:cs typeface="Arial"/>
              <a:sym typeface="Arial"/>
            </a:endParaRPr>
          </a:p>
        </p:txBody>
      </p:sp>
      <p:sp>
        <p:nvSpPr>
          <p:cNvPr id="167" name="Google Shape;167;p12"/>
          <p:cNvSpPr/>
          <p:nvPr/>
        </p:nvSpPr>
        <p:spPr>
          <a:xfrm>
            <a:off x="5883100" y="1594713"/>
            <a:ext cx="3291600" cy="7749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I need to use historical data of past deliveries and tips but they are stored in separate databases or tables.</a:t>
            </a:r>
            <a:endParaRPr b="0" i="0" sz="1300" u="none" cap="none" strike="noStrike">
              <a:solidFill>
                <a:srgbClr val="000000"/>
              </a:solidFill>
              <a:latin typeface="Arial"/>
              <a:ea typeface="Arial"/>
              <a:cs typeface="Arial"/>
              <a:sym typeface="Arial"/>
            </a:endParaRPr>
          </a:p>
        </p:txBody>
      </p:sp>
      <p:sp>
        <p:nvSpPr>
          <p:cNvPr id="168" name="Google Shape;168;p12"/>
          <p:cNvSpPr/>
          <p:nvPr/>
        </p:nvSpPr>
        <p:spPr>
          <a:xfrm>
            <a:off x="5100000" y="2918850"/>
            <a:ext cx="1401300" cy="400200"/>
          </a:xfrm>
          <a:prstGeom prst="rect">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deliveries_tips.csv</a:t>
            </a:r>
            <a:endParaRPr b="0" i="0" sz="1100" u="none" cap="none" strike="noStrike">
              <a:solidFill>
                <a:srgbClr val="000000"/>
              </a:solidFill>
              <a:latin typeface="Arial"/>
              <a:ea typeface="Arial"/>
              <a:cs typeface="Arial"/>
              <a:sym typeface="Arial"/>
            </a:endParaRPr>
          </a:p>
        </p:txBody>
      </p:sp>
      <p:sp>
        <p:nvSpPr>
          <p:cNvPr id="169" name="Google Shape;169;p12"/>
          <p:cNvSpPr/>
          <p:nvPr/>
        </p:nvSpPr>
        <p:spPr>
          <a:xfrm>
            <a:off x="580588" y="2571747"/>
            <a:ext cx="1306830" cy="2203753"/>
          </a:xfrm>
          <a:prstGeom prst="flowChartMagneticDisk">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Tips</a:t>
            </a:r>
            <a:endParaRPr b="0" i="0" sz="1400" u="none" cap="none" strike="noStrike">
              <a:solidFill>
                <a:srgbClr val="000000"/>
              </a:solidFill>
              <a:latin typeface="Arial"/>
              <a:ea typeface="Arial"/>
              <a:cs typeface="Arial"/>
              <a:sym typeface="Arial"/>
            </a:endParaRPr>
          </a:p>
        </p:txBody>
      </p:sp>
      <p:sp>
        <p:nvSpPr>
          <p:cNvPr id="170" name="Google Shape;170;p12"/>
          <p:cNvSpPr/>
          <p:nvPr/>
        </p:nvSpPr>
        <p:spPr>
          <a:xfrm rot="-1365">
            <a:off x="1932374" y="3580177"/>
            <a:ext cx="1510800" cy="471300"/>
          </a:xfrm>
          <a:prstGeom prst="rightArrow">
            <a:avLst>
              <a:gd fmla="val 50000" name="adj1"/>
              <a:gd fmla="val 50000" name="adj2"/>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Data Pipeline</a:t>
            </a:r>
            <a:endParaRPr b="0" i="0" sz="1100" u="none" cap="none" strike="noStrike">
              <a:solidFill>
                <a:srgbClr val="000000"/>
              </a:solidFill>
              <a:latin typeface="Arial"/>
              <a:ea typeface="Arial"/>
              <a:cs typeface="Arial"/>
              <a:sym typeface="Arial"/>
            </a:endParaRPr>
          </a:p>
        </p:txBody>
      </p:sp>
      <p:sp>
        <p:nvSpPr>
          <p:cNvPr id="171" name="Google Shape;171;p12"/>
          <p:cNvSpPr/>
          <p:nvPr/>
        </p:nvSpPr>
        <p:spPr>
          <a:xfrm rot="938">
            <a:off x="3900075" y="2919000"/>
            <a:ext cx="1099200" cy="399900"/>
          </a:xfrm>
          <a:prstGeom prst="rightArrow">
            <a:avLst>
              <a:gd fmla="val 50000" name="adj1"/>
              <a:gd fmla="val 50000" name="adj2"/>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Merge</a:t>
            </a:r>
            <a:endParaRPr b="0" i="0" sz="1400" u="none" cap="none" strike="noStrike">
              <a:solidFill>
                <a:srgbClr val="000000"/>
              </a:solidFill>
              <a:latin typeface="Arial"/>
              <a:ea typeface="Arial"/>
              <a:cs typeface="Arial"/>
              <a:sym typeface="Arial"/>
            </a:endParaRPr>
          </a:p>
        </p:txBody>
      </p:sp>
      <p:sp>
        <p:nvSpPr>
          <p:cNvPr id="172" name="Google Shape;172;p12"/>
          <p:cNvSpPr/>
          <p:nvPr/>
        </p:nvSpPr>
        <p:spPr>
          <a:xfrm>
            <a:off x="3440238" y="2264550"/>
            <a:ext cx="359100" cy="1708800"/>
          </a:xfrm>
          <a:prstGeom prst="rightBrace">
            <a:avLst>
              <a:gd fmla="val 50000" name="adj1"/>
              <a:gd fmla="val 50000" name="adj2"/>
            </a:avLst>
          </a:prstGeom>
          <a:noFill/>
          <a:ln cap="flat" cmpd="sng" w="38100">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3" name="Google Shape;173;p12"/>
          <p:cNvPicPr preferRelativeResize="0"/>
          <p:nvPr/>
        </p:nvPicPr>
        <p:blipFill rotWithShape="1">
          <a:blip r:embed="rId3">
            <a:alphaModFix/>
          </a:blip>
          <a:srcRect b="0" l="0" r="0" t="0"/>
          <a:stretch/>
        </p:blipFill>
        <p:spPr>
          <a:xfrm>
            <a:off x="7801946" y="2366588"/>
            <a:ext cx="1306825" cy="1306825"/>
          </a:xfrm>
          <a:prstGeom prst="rect">
            <a:avLst/>
          </a:prstGeom>
          <a:noFill/>
          <a:ln>
            <a:noFill/>
          </a:ln>
        </p:spPr>
      </p:pic>
      <p:sp>
        <p:nvSpPr>
          <p:cNvPr id="174" name="Google Shape;174;p12"/>
          <p:cNvSpPr/>
          <p:nvPr/>
        </p:nvSpPr>
        <p:spPr>
          <a:xfrm>
            <a:off x="6602025" y="2841450"/>
            <a:ext cx="1214100" cy="555000"/>
          </a:xfrm>
          <a:prstGeom prst="rightArrow">
            <a:avLst>
              <a:gd fmla="val 50000" name="adj1"/>
              <a:gd fmla="val 50000" name="adj2"/>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Model Reads</a:t>
            </a:r>
            <a:endParaRPr b="0" i="0" sz="1100" u="none" cap="none" strike="noStrike">
              <a:solidFill>
                <a:srgbClr val="000000"/>
              </a:solidFill>
              <a:latin typeface="Arial"/>
              <a:ea typeface="Arial"/>
              <a:cs typeface="Arial"/>
              <a:sym typeface="Arial"/>
            </a:endParaRPr>
          </a:p>
        </p:txBody>
      </p:sp>
      <p:sp>
        <p:nvSpPr>
          <p:cNvPr id="175" name="Google Shape;175;p12"/>
          <p:cNvSpPr txBox="1"/>
          <p:nvPr/>
        </p:nvSpPr>
        <p:spPr>
          <a:xfrm>
            <a:off x="5883100" y="3179675"/>
            <a:ext cx="3291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3"/>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Engineering - Example 4</a:t>
            </a:r>
            <a:endParaRPr/>
          </a:p>
        </p:txBody>
      </p:sp>
      <p:sp>
        <p:nvSpPr>
          <p:cNvPr id="181" name="Google Shape;181;p13"/>
          <p:cNvSpPr/>
          <p:nvPr/>
        </p:nvSpPr>
        <p:spPr>
          <a:xfrm>
            <a:off x="145638" y="1706922"/>
            <a:ext cx="1306830" cy="2203753"/>
          </a:xfrm>
          <a:prstGeom prst="flowChartMagneticDisk">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p:txBody>
      </p:sp>
      <p:sp>
        <p:nvSpPr>
          <p:cNvPr id="182" name="Google Shape;182;p13"/>
          <p:cNvSpPr/>
          <p:nvPr/>
        </p:nvSpPr>
        <p:spPr>
          <a:xfrm>
            <a:off x="6703378" y="1778347"/>
            <a:ext cx="457800" cy="471000"/>
          </a:xfrm>
          <a:prstGeom prst="smileyFace">
            <a:avLst>
              <a:gd fmla="val 4653" name="adj"/>
            </a:avLst>
          </a:prstGeom>
          <a:solidFill>
            <a:srgbClr val="D0E0E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3"/>
          <p:cNvSpPr/>
          <p:nvPr/>
        </p:nvSpPr>
        <p:spPr>
          <a:xfrm>
            <a:off x="5027725" y="932025"/>
            <a:ext cx="3809100" cy="7749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 Scientist: CSV files are too big. My Pandas + Scikit-learn library doesn’t work…</a:t>
            </a:r>
            <a:endParaRPr b="0" i="0" sz="1400" u="none" cap="none" strike="noStrike">
              <a:solidFill>
                <a:srgbClr val="000000"/>
              </a:solidFill>
              <a:latin typeface="Arial"/>
              <a:ea typeface="Arial"/>
              <a:cs typeface="Arial"/>
              <a:sym typeface="Arial"/>
            </a:endParaRPr>
          </a:p>
        </p:txBody>
      </p:sp>
      <p:sp>
        <p:nvSpPr>
          <p:cNvPr id="184" name="Google Shape;184;p13"/>
          <p:cNvSpPr/>
          <p:nvPr/>
        </p:nvSpPr>
        <p:spPr>
          <a:xfrm rot="-823">
            <a:off x="1510250" y="2627051"/>
            <a:ext cx="1253100" cy="551400"/>
          </a:xfrm>
          <a:prstGeom prst="rightArrow">
            <a:avLst>
              <a:gd fmla="val 50000" name="adj1"/>
              <a:gd fmla="val 50000" name="adj2"/>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Data Pipeline</a:t>
            </a:r>
            <a:endParaRPr b="0" i="0" sz="1200" u="none" cap="none" strike="noStrike">
              <a:solidFill>
                <a:srgbClr val="000000"/>
              </a:solidFill>
              <a:latin typeface="Arial"/>
              <a:ea typeface="Arial"/>
              <a:cs typeface="Arial"/>
              <a:sym typeface="Arial"/>
            </a:endParaRPr>
          </a:p>
        </p:txBody>
      </p:sp>
      <p:sp>
        <p:nvSpPr>
          <p:cNvPr id="185" name="Google Shape;185;p13"/>
          <p:cNvSpPr/>
          <p:nvPr/>
        </p:nvSpPr>
        <p:spPr>
          <a:xfrm rot="614">
            <a:off x="5189150" y="2624200"/>
            <a:ext cx="1678800" cy="557100"/>
          </a:xfrm>
          <a:prstGeom prst="rightArrow">
            <a:avLst>
              <a:gd fmla="val 50000" name="adj1"/>
              <a:gd fmla="val 50000" name="adj2"/>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Distributed ML Cluster</a:t>
            </a:r>
            <a:endParaRPr b="0" i="0" sz="1000" u="none" cap="none" strike="noStrike">
              <a:solidFill>
                <a:srgbClr val="000000"/>
              </a:solidFill>
              <a:latin typeface="Arial"/>
              <a:ea typeface="Arial"/>
              <a:cs typeface="Arial"/>
              <a:sym typeface="Arial"/>
            </a:endParaRPr>
          </a:p>
        </p:txBody>
      </p:sp>
      <p:sp>
        <p:nvSpPr>
          <p:cNvPr id="186" name="Google Shape;186;p13"/>
          <p:cNvSpPr/>
          <p:nvPr/>
        </p:nvSpPr>
        <p:spPr>
          <a:xfrm>
            <a:off x="2821125" y="2220113"/>
            <a:ext cx="1042500" cy="465300"/>
          </a:xfrm>
          <a:prstGeom prst="bevel">
            <a:avLst>
              <a:gd fmla="val 12500" name="adj"/>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Distributed Machines</a:t>
            </a:r>
            <a:endParaRPr b="0" i="0" sz="1100" u="none" cap="none" strike="noStrike">
              <a:solidFill>
                <a:srgbClr val="000000"/>
              </a:solidFill>
              <a:latin typeface="Arial"/>
              <a:ea typeface="Arial"/>
              <a:cs typeface="Arial"/>
              <a:sym typeface="Arial"/>
            </a:endParaRPr>
          </a:p>
        </p:txBody>
      </p:sp>
      <p:sp>
        <p:nvSpPr>
          <p:cNvPr id="187" name="Google Shape;187;p13"/>
          <p:cNvSpPr/>
          <p:nvPr/>
        </p:nvSpPr>
        <p:spPr>
          <a:xfrm>
            <a:off x="3818375" y="2476563"/>
            <a:ext cx="1042500" cy="465300"/>
          </a:xfrm>
          <a:prstGeom prst="bevel">
            <a:avLst>
              <a:gd fmla="val 12500" name="adj"/>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Distributed Machines</a:t>
            </a:r>
            <a:endParaRPr b="0" i="0" sz="1100" u="none" cap="none" strike="noStrike">
              <a:solidFill>
                <a:srgbClr val="000000"/>
              </a:solidFill>
              <a:latin typeface="Arial"/>
              <a:ea typeface="Arial"/>
              <a:cs typeface="Arial"/>
              <a:sym typeface="Arial"/>
            </a:endParaRPr>
          </a:p>
        </p:txBody>
      </p:sp>
      <p:sp>
        <p:nvSpPr>
          <p:cNvPr id="188" name="Google Shape;188;p13"/>
          <p:cNvSpPr/>
          <p:nvPr/>
        </p:nvSpPr>
        <p:spPr>
          <a:xfrm>
            <a:off x="2855425" y="2792213"/>
            <a:ext cx="1042500" cy="465300"/>
          </a:xfrm>
          <a:prstGeom prst="bevel">
            <a:avLst>
              <a:gd fmla="val 12500" name="adj"/>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Distributed Machines</a:t>
            </a:r>
            <a:endParaRPr b="0" i="0" sz="1100" u="none" cap="none" strike="noStrike">
              <a:solidFill>
                <a:srgbClr val="000000"/>
              </a:solidFill>
              <a:latin typeface="Arial"/>
              <a:ea typeface="Arial"/>
              <a:cs typeface="Arial"/>
              <a:sym typeface="Arial"/>
            </a:endParaRPr>
          </a:p>
        </p:txBody>
      </p:sp>
      <p:sp>
        <p:nvSpPr>
          <p:cNvPr id="189" name="Google Shape;189;p13"/>
          <p:cNvSpPr/>
          <p:nvPr/>
        </p:nvSpPr>
        <p:spPr>
          <a:xfrm>
            <a:off x="3968925" y="2982788"/>
            <a:ext cx="1042500" cy="465300"/>
          </a:xfrm>
          <a:prstGeom prst="bevel">
            <a:avLst>
              <a:gd fmla="val 12500" name="adj"/>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Distributed Machines</a:t>
            </a:r>
            <a:endParaRPr b="0" i="0" sz="1100" u="none" cap="none" strike="noStrike">
              <a:solidFill>
                <a:srgbClr val="000000"/>
              </a:solidFill>
              <a:latin typeface="Arial"/>
              <a:ea typeface="Arial"/>
              <a:cs typeface="Arial"/>
              <a:sym typeface="Arial"/>
            </a:endParaRPr>
          </a:p>
        </p:txBody>
      </p:sp>
      <p:sp>
        <p:nvSpPr>
          <p:cNvPr id="190" name="Google Shape;190;p13"/>
          <p:cNvSpPr/>
          <p:nvPr/>
        </p:nvSpPr>
        <p:spPr>
          <a:xfrm>
            <a:off x="3162825" y="3307113"/>
            <a:ext cx="1042500" cy="465300"/>
          </a:xfrm>
          <a:prstGeom prst="bevel">
            <a:avLst>
              <a:gd fmla="val 12500" name="adj"/>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Distributed Machines</a:t>
            </a:r>
            <a:endParaRPr b="0" i="0" sz="1100" u="none" cap="none" strike="noStrike">
              <a:solidFill>
                <a:srgbClr val="000000"/>
              </a:solidFill>
              <a:latin typeface="Arial"/>
              <a:ea typeface="Arial"/>
              <a:cs typeface="Arial"/>
              <a:sym typeface="Arial"/>
            </a:endParaRPr>
          </a:p>
        </p:txBody>
      </p:sp>
      <p:pic>
        <p:nvPicPr>
          <p:cNvPr id="191" name="Google Shape;191;p13"/>
          <p:cNvPicPr preferRelativeResize="0"/>
          <p:nvPr/>
        </p:nvPicPr>
        <p:blipFill rotWithShape="1">
          <a:blip r:embed="rId3">
            <a:alphaModFix/>
          </a:blip>
          <a:srcRect b="0" l="0" r="0" t="0"/>
          <a:stretch/>
        </p:blipFill>
        <p:spPr>
          <a:xfrm>
            <a:off x="6908971" y="2249338"/>
            <a:ext cx="1306825" cy="1306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Engineering - Example 5</a:t>
            </a:r>
            <a:endParaRPr/>
          </a:p>
        </p:txBody>
      </p:sp>
      <p:sp>
        <p:nvSpPr>
          <p:cNvPr id="197" name="Google Shape;197;p14"/>
          <p:cNvSpPr/>
          <p:nvPr/>
        </p:nvSpPr>
        <p:spPr>
          <a:xfrm>
            <a:off x="147988" y="1440697"/>
            <a:ext cx="1306830" cy="2203753"/>
          </a:xfrm>
          <a:prstGeom prst="flowChartMagneticDisk">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p:txBody>
      </p:sp>
      <p:sp>
        <p:nvSpPr>
          <p:cNvPr id="198" name="Google Shape;198;p14"/>
          <p:cNvSpPr/>
          <p:nvPr/>
        </p:nvSpPr>
        <p:spPr>
          <a:xfrm>
            <a:off x="8522353" y="3582147"/>
            <a:ext cx="457800" cy="471000"/>
          </a:xfrm>
          <a:prstGeom prst="smileyFace">
            <a:avLst>
              <a:gd fmla="val -4653" name="adj"/>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4"/>
          <p:cNvSpPr/>
          <p:nvPr/>
        </p:nvSpPr>
        <p:spPr>
          <a:xfrm>
            <a:off x="4650750" y="2807250"/>
            <a:ext cx="4135500" cy="736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BI: I have the same issues and even more. I see “</a:t>
            </a:r>
            <a:r>
              <a:rPr lang="en" sz="1100">
                <a:solidFill>
                  <a:schemeClr val="dk1"/>
                </a:solidFill>
              </a:rPr>
              <a:t>$</a:t>
            </a:r>
            <a:r>
              <a:rPr b="0" i="0" lang="en" sz="1100" u="none" cap="none" strike="noStrike">
                <a:solidFill>
                  <a:srgbClr val="000000"/>
                </a:solidFill>
                <a:latin typeface="Arial"/>
                <a:ea typeface="Arial"/>
                <a:cs typeface="Arial"/>
                <a:sym typeface="Arial"/>
              </a:rPr>
              <a:t>12” in tip column, and I need to remove ‘$’ and convert it into the number 12 for my mathematical expressions. I need to do this everywhere in every table.</a:t>
            </a:r>
            <a:endParaRPr b="0" i="0" sz="1100" u="none" cap="none" strike="noStrike">
              <a:solidFill>
                <a:srgbClr val="000000"/>
              </a:solidFill>
              <a:latin typeface="Arial"/>
              <a:ea typeface="Arial"/>
              <a:cs typeface="Arial"/>
              <a:sym typeface="Arial"/>
            </a:endParaRPr>
          </a:p>
        </p:txBody>
      </p:sp>
      <p:sp>
        <p:nvSpPr>
          <p:cNvPr id="200" name="Google Shape;200;p14"/>
          <p:cNvSpPr/>
          <p:nvPr/>
        </p:nvSpPr>
        <p:spPr>
          <a:xfrm>
            <a:off x="8502153" y="1865247"/>
            <a:ext cx="457800" cy="471000"/>
          </a:xfrm>
          <a:prstGeom prst="smileyFace">
            <a:avLst>
              <a:gd fmla="val -4653" name="adj"/>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4"/>
          <p:cNvSpPr/>
          <p:nvPr/>
        </p:nvSpPr>
        <p:spPr>
          <a:xfrm>
            <a:off x="4572000" y="1090350"/>
            <a:ext cx="4330500" cy="7368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Data Scientist: Some fields have null values that I need to replace with 0. Some fields have trailing whitespaces that impact my models. I need to pre-process those fields everytime I run a model.</a:t>
            </a:r>
            <a:endParaRPr b="0" i="0" sz="1100" u="none" cap="none" strike="noStrike">
              <a:solidFill>
                <a:srgbClr val="000000"/>
              </a:solidFill>
              <a:latin typeface="Arial"/>
              <a:ea typeface="Arial"/>
              <a:cs typeface="Arial"/>
              <a:sym typeface="Arial"/>
            </a:endParaRPr>
          </a:p>
        </p:txBody>
      </p:sp>
      <p:sp>
        <p:nvSpPr>
          <p:cNvPr id="202" name="Google Shape;202;p14"/>
          <p:cNvSpPr/>
          <p:nvPr/>
        </p:nvSpPr>
        <p:spPr>
          <a:xfrm>
            <a:off x="1504435" y="2336246"/>
            <a:ext cx="1698000" cy="471000"/>
          </a:xfrm>
          <a:prstGeom prst="rightArrow">
            <a:avLst>
              <a:gd fmla="val 50000" name="adj1"/>
              <a:gd fmla="val 50000" name="adj2"/>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 Pipeline</a:t>
            </a:r>
            <a:endParaRPr b="0" i="0" sz="1400" u="none" cap="none" strike="noStrike">
              <a:solidFill>
                <a:srgbClr val="000000"/>
              </a:solidFill>
              <a:latin typeface="Arial"/>
              <a:ea typeface="Arial"/>
              <a:cs typeface="Arial"/>
              <a:sym typeface="Arial"/>
            </a:endParaRPr>
          </a:p>
        </p:txBody>
      </p:sp>
      <p:sp>
        <p:nvSpPr>
          <p:cNvPr id="203" name="Google Shape;203;p14"/>
          <p:cNvSpPr/>
          <p:nvPr/>
        </p:nvSpPr>
        <p:spPr>
          <a:xfrm>
            <a:off x="3233788" y="1469872"/>
            <a:ext cx="1306830" cy="2203753"/>
          </a:xfrm>
          <a:prstGeom prst="flowChartMagneticDisk">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Curated Data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457aa6d387_0_0"/>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Engineering </a:t>
            </a:r>
            <a:endParaRPr/>
          </a:p>
        </p:txBody>
      </p:sp>
      <p:sp>
        <p:nvSpPr>
          <p:cNvPr id="209" name="Google Shape;209;g3457aa6d387_0_0"/>
          <p:cNvSpPr txBox="1"/>
          <p:nvPr>
            <p:ph idx="1" type="body"/>
          </p:nvPr>
        </p:nvSpPr>
        <p:spPr>
          <a:xfrm>
            <a:off x="421971" y="1101296"/>
            <a:ext cx="7293300" cy="3086700"/>
          </a:xfrm>
          <a:prstGeom prst="rect">
            <a:avLst/>
          </a:prstGeom>
          <a:noFill/>
          <a:ln>
            <a:noFill/>
          </a:ln>
        </p:spPr>
        <p:txBody>
          <a:bodyPr anchorCtr="0" anchor="t" bIns="34275" lIns="68575" spcFirstLastPara="1" rIns="68575" wrap="square" tIns="34275">
            <a:noAutofit/>
          </a:bodyPr>
          <a:lstStyle/>
          <a:p>
            <a:pPr indent="-342900" lvl="0" marL="457200" rtl="0" algn="l">
              <a:spcBef>
                <a:spcPts val="800"/>
              </a:spcBef>
              <a:spcAft>
                <a:spcPts val="0"/>
              </a:spcAft>
              <a:buSzPts val="1800"/>
              <a:buChar char="●"/>
            </a:pPr>
            <a:r>
              <a:rPr lang="en" sz="1800"/>
              <a:t>These examples are part of what we call Data Engineering in today’s industry.</a:t>
            </a:r>
            <a:endParaRPr sz="1800"/>
          </a:p>
          <a:p>
            <a:pPr indent="0" lvl="0" marL="457200" rtl="0" algn="l">
              <a:spcBef>
                <a:spcPts val="800"/>
              </a:spcBef>
              <a:spcAft>
                <a:spcPts val="0"/>
              </a:spcAft>
              <a:buNone/>
            </a:pPr>
            <a:r>
              <a:t/>
            </a:r>
            <a:endParaRPr sz="1800"/>
          </a:p>
          <a:p>
            <a:pPr indent="-342900" lvl="0" marL="457200" rtl="0" algn="l">
              <a:lnSpc>
                <a:spcPct val="90000"/>
              </a:lnSpc>
              <a:spcBef>
                <a:spcPts val="800"/>
              </a:spcBef>
              <a:spcAft>
                <a:spcPts val="0"/>
              </a:spcAft>
              <a:buSzPts val="1800"/>
              <a:buChar char="●"/>
            </a:pPr>
            <a:r>
              <a:rPr b="1" lang="en" sz="1800"/>
              <a:t>Data engineering </a:t>
            </a:r>
            <a:r>
              <a:rPr lang="en" sz="1800"/>
              <a:t>is the field of designing and building systems that collect, store, process, and manage large volumes of data to make it accessible and usable for data scientists, analysts, and other users.</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1"/>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SzPts val="2700"/>
              <a:buNone/>
            </a:pPr>
            <a:r>
              <a:rPr lang="en"/>
              <a:t>Data Engineering </a:t>
            </a:r>
            <a:endParaRPr/>
          </a:p>
        </p:txBody>
      </p:sp>
      <p:sp>
        <p:nvSpPr>
          <p:cNvPr id="215" name="Google Shape;215;p21"/>
          <p:cNvSpPr txBox="1"/>
          <p:nvPr>
            <p:ph idx="1" type="body"/>
          </p:nvPr>
        </p:nvSpPr>
        <p:spPr>
          <a:xfrm>
            <a:off x="421975" y="1329900"/>
            <a:ext cx="7733700" cy="3086700"/>
          </a:xfrm>
          <a:prstGeom prst="rect">
            <a:avLst/>
          </a:prstGeom>
          <a:noFill/>
          <a:ln>
            <a:noFill/>
          </a:ln>
        </p:spPr>
        <p:txBody>
          <a:bodyPr anchorCtr="0" anchor="t" bIns="34275" lIns="68575" spcFirstLastPara="1" rIns="68575" wrap="square" tIns="34275">
            <a:noAutofit/>
          </a:bodyPr>
          <a:lstStyle/>
          <a:p>
            <a:pPr indent="-330200" lvl="0" marL="457200" rtl="0" algn="l">
              <a:lnSpc>
                <a:spcPct val="90000"/>
              </a:lnSpc>
              <a:spcBef>
                <a:spcPts val="800"/>
              </a:spcBef>
              <a:spcAft>
                <a:spcPts val="0"/>
              </a:spcAft>
              <a:buSzPts val="1600"/>
              <a:buChar char="●"/>
            </a:pPr>
            <a:r>
              <a:rPr lang="en" sz="1600"/>
              <a:t>A data engineer’s main skill is understanding business needs (e.g., data size, downstream use cases) and picking the right tools.</a:t>
            </a:r>
            <a:endParaRPr sz="1600"/>
          </a:p>
          <a:p>
            <a:pPr indent="0" lvl="0" marL="457200" rtl="0" algn="l">
              <a:lnSpc>
                <a:spcPct val="90000"/>
              </a:lnSpc>
              <a:spcBef>
                <a:spcPts val="800"/>
              </a:spcBef>
              <a:spcAft>
                <a:spcPts val="0"/>
              </a:spcAft>
              <a:buSzPts val="2100"/>
              <a:buNone/>
            </a:pPr>
            <a:r>
              <a:t/>
            </a:r>
            <a:endParaRPr sz="1600"/>
          </a:p>
          <a:p>
            <a:pPr indent="-330200" lvl="0" marL="457200" rtl="0" algn="l">
              <a:lnSpc>
                <a:spcPct val="90000"/>
              </a:lnSpc>
              <a:spcBef>
                <a:spcPts val="800"/>
              </a:spcBef>
              <a:spcAft>
                <a:spcPts val="0"/>
              </a:spcAft>
              <a:buSzPts val="1600"/>
              <a:buChar char="●"/>
            </a:pPr>
            <a:r>
              <a:rPr lang="en" sz="1600"/>
              <a:t>Most tools are offered by major tech companies like Google Cloud Platform, Amazon Web Services, and Microsoft Azure. However, many smaller businesses and startups are also introducing new tools regularly.</a:t>
            </a:r>
            <a:endParaRPr sz="1600"/>
          </a:p>
          <a:p>
            <a:pPr indent="0" lvl="0" marL="457200" rtl="0" algn="l">
              <a:lnSpc>
                <a:spcPct val="90000"/>
              </a:lnSpc>
              <a:spcBef>
                <a:spcPts val="800"/>
              </a:spcBef>
              <a:spcAft>
                <a:spcPts val="0"/>
              </a:spcAft>
              <a:buSzPts val="2100"/>
              <a:buNone/>
            </a:pPr>
            <a:r>
              <a:t/>
            </a:r>
            <a:endParaRPr sz="1600"/>
          </a:p>
          <a:p>
            <a:pPr indent="-330200" lvl="0" marL="457200" rtl="0" algn="l">
              <a:lnSpc>
                <a:spcPct val="90000"/>
              </a:lnSpc>
              <a:spcBef>
                <a:spcPts val="800"/>
              </a:spcBef>
              <a:spcAft>
                <a:spcPts val="0"/>
              </a:spcAft>
              <a:buSzPts val="1600"/>
              <a:buChar char="●"/>
            </a:pPr>
            <a:r>
              <a:rPr lang="en" sz="1600"/>
              <a:t>Most tools are based on similar concepts, so learning the concepts helps you adapt to new tools faster.</a:t>
            </a:r>
            <a:endParaRPr sz="1600"/>
          </a:p>
          <a:p>
            <a:pPr indent="0" lvl="0" marL="457200" rtl="0" algn="l">
              <a:lnSpc>
                <a:spcPct val="90000"/>
              </a:lnSpc>
              <a:spcBef>
                <a:spcPts val="800"/>
              </a:spcBef>
              <a:spcAft>
                <a:spcPts val="0"/>
              </a:spcAft>
              <a:buSzPts val="2100"/>
              <a:buNone/>
            </a:pPr>
            <a:r>
              <a:t/>
            </a:r>
            <a:endParaRPr sz="1600"/>
          </a:p>
          <a:p>
            <a:pPr indent="-330200" lvl="0" marL="457200" rtl="0" algn="l">
              <a:lnSpc>
                <a:spcPct val="90000"/>
              </a:lnSpc>
              <a:spcBef>
                <a:spcPts val="800"/>
              </a:spcBef>
              <a:spcAft>
                <a:spcPts val="0"/>
              </a:spcAft>
              <a:buSzPts val="1600"/>
              <a:buChar char="●"/>
            </a:pPr>
            <a:r>
              <a:rPr lang="en" sz="1600"/>
              <a:t>In this course, we will focus on these core concepts and use a few tools like Spark as examples.</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0"/>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Big Picture</a:t>
            </a:r>
            <a:endParaRPr/>
          </a:p>
        </p:txBody>
      </p:sp>
      <p:pic>
        <p:nvPicPr>
          <p:cNvPr id="221" name="Google Shape;221;p20"/>
          <p:cNvPicPr preferRelativeResize="0"/>
          <p:nvPr/>
        </p:nvPicPr>
        <p:blipFill rotWithShape="1">
          <a:blip r:embed="rId3">
            <a:alphaModFix/>
          </a:blip>
          <a:srcRect b="0" l="0" r="0" t="0"/>
          <a:stretch/>
        </p:blipFill>
        <p:spPr>
          <a:xfrm>
            <a:off x="152400" y="1007376"/>
            <a:ext cx="8839201" cy="3540308"/>
          </a:xfrm>
          <a:prstGeom prst="rect">
            <a:avLst/>
          </a:prstGeom>
          <a:noFill/>
          <a:ln>
            <a:noFill/>
          </a:ln>
        </p:spPr>
      </p:pic>
      <p:sp>
        <p:nvSpPr>
          <p:cNvPr id="222" name="Google Shape;222;p20"/>
          <p:cNvSpPr/>
          <p:nvPr/>
        </p:nvSpPr>
        <p:spPr>
          <a:xfrm>
            <a:off x="4889500" y="4420800"/>
            <a:ext cx="3989100" cy="516300"/>
          </a:xfrm>
          <a:prstGeom prst="rect">
            <a:avLst/>
          </a:prstGeom>
          <a:solidFill>
            <a:srgbClr val="F3F3F3"/>
          </a:solidFill>
          <a:ln cap="flat" cmpd="sng" w="19050">
            <a:solidFill>
              <a:srgbClr val="EE2C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It’s fine if you don’t understand this picture.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6" name="Shape 226"/>
        <p:cNvGrpSpPr/>
        <p:nvPr/>
      </p:nvGrpSpPr>
      <p:grpSpPr>
        <a:xfrm>
          <a:off x="0" y="0"/>
          <a:ext cx="0" cy="0"/>
          <a:chOff x="0" y="0"/>
          <a:chExt cx="0" cy="0"/>
        </a:xfrm>
      </p:grpSpPr>
      <p:sp>
        <p:nvSpPr>
          <p:cNvPr id="227" name="Google Shape;227;p16"/>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Sources</a:t>
            </a:r>
            <a:endParaRPr/>
          </a:p>
        </p:txBody>
      </p:sp>
      <p:pic>
        <p:nvPicPr>
          <p:cNvPr id="228" name="Google Shape;228;p16"/>
          <p:cNvPicPr preferRelativeResize="0"/>
          <p:nvPr/>
        </p:nvPicPr>
        <p:blipFill rotWithShape="1">
          <a:blip r:embed="rId3">
            <a:alphaModFix/>
          </a:blip>
          <a:srcRect b="0" l="0" r="0" t="0"/>
          <a:stretch/>
        </p:blipFill>
        <p:spPr>
          <a:xfrm>
            <a:off x="1524000" y="1122876"/>
            <a:ext cx="6096000" cy="3429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2"/>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Separation of Software and Analytics</a:t>
            </a:r>
            <a:endParaRPr/>
          </a:p>
        </p:txBody>
      </p:sp>
      <p:sp>
        <p:nvSpPr>
          <p:cNvPr id="234" name="Google Shape;234;p22"/>
          <p:cNvSpPr txBox="1"/>
          <p:nvPr>
            <p:ph idx="1" type="body"/>
          </p:nvPr>
        </p:nvSpPr>
        <p:spPr>
          <a:xfrm>
            <a:off x="446296" y="1028396"/>
            <a:ext cx="7293300" cy="30867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800"/>
              </a:spcBef>
              <a:spcAft>
                <a:spcPts val="0"/>
              </a:spcAft>
              <a:buSzPts val="2100"/>
              <a:buNone/>
            </a:pPr>
            <a:r>
              <a:rPr lang="en"/>
              <a:t>We discussed primarily there is a separation between Software and analytics zone. Let’s dive deeper.</a:t>
            </a:r>
            <a:endParaRPr/>
          </a:p>
        </p:txBody>
      </p:sp>
      <p:sp>
        <p:nvSpPr>
          <p:cNvPr id="235" name="Google Shape;235;p22"/>
          <p:cNvSpPr/>
          <p:nvPr/>
        </p:nvSpPr>
        <p:spPr>
          <a:xfrm>
            <a:off x="2256875" y="1980138"/>
            <a:ext cx="1584400" cy="2596325"/>
          </a:xfrm>
          <a:prstGeom prst="flowChartMagneticDisk">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Database</a:t>
            </a:r>
            <a:endParaRPr b="0" i="0" sz="1400" u="none" cap="none" strike="noStrike">
              <a:solidFill>
                <a:srgbClr val="000000"/>
              </a:solidFill>
              <a:latin typeface="Arial"/>
              <a:ea typeface="Arial"/>
              <a:cs typeface="Arial"/>
              <a:sym typeface="Arial"/>
            </a:endParaRPr>
          </a:p>
        </p:txBody>
      </p:sp>
      <p:sp>
        <p:nvSpPr>
          <p:cNvPr id="236" name="Google Shape;236;p22"/>
          <p:cNvSpPr/>
          <p:nvPr/>
        </p:nvSpPr>
        <p:spPr>
          <a:xfrm>
            <a:off x="893675" y="2811800"/>
            <a:ext cx="1363200" cy="9330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Software</a:t>
            </a:r>
            <a:endParaRPr b="0" i="0" sz="1400" u="none" cap="none" strike="noStrike">
              <a:solidFill>
                <a:srgbClr val="000000"/>
              </a:solidFill>
              <a:latin typeface="Arial"/>
              <a:ea typeface="Arial"/>
              <a:cs typeface="Arial"/>
              <a:sym typeface="Arial"/>
            </a:endParaRPr>
          </a:p>
        </p:txBody>
      </p:sp>
      <p:cxnSp>
        <p:nvCxnSpPr>
          <p:cNvPr id="237" name="Google Shape;237;p22"/>
          <p:cNvCxnSpPr/>
          <p:nvPr/>
        </p:nvCxnSpPr>
        <p:spPr>
          <a:xfrm>
            <a:off x="4544225" y="1885150"/>
            <a:ext cx="39600" cy="2887200"/>
          </a:xfrm>
          <a:prstGeom prst="straightConnector1">
            <a:avLst/>
          </a:prstGeom>
          <a:noFill/>
          <a:ln cap="flat" cmpd="sng" w="38100">
            <a:solidFill>
              <a:schemeClr val="dk2"/>
            </a:solidFill>
            <a:prstDash val="solid"/>
            <a:round/>
            <a:headEnd len="sm" w="sm" type="none"/>
            <a:tailEnd len="sm" w="sm" type="none"/>
          </a:ln>
        </p:spPr>
      </p:cxnSp>
      <p:sp>
        <p:nvSpPr>
          <p:cNvPr id="238" name="Google Shape;238;p22"/>
          <p:cNvSpPr/>
          <p:nvPr/>
        </p:nvSpPr>
        <p:spPr>
          <a:xfrm>
            <a:off x="5053450" y="1899438"/>
            <a:ext cx="1584400" cy="2596325"/>
          </a:xfrm>
          <a:prstGeom prst="flowChartMagneticDisk">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Database</a:t>
            </a:r>
            <a:endParaRPr b="0" i="0" sz="1400" u="none" cap="none" strike="noStrike">
              <a:solidFill>
                <a:srgbClr val="000000"/>
              </a:solidFill>
              <a:latin typeface="Arial"/>
              <a:ea typeface="Arial"/>
              <a:cs typeface="Arial"/>
              <a:sym typeface="Arial"/>
            </a:endParaRPr>
          </a:p>
        </p:txBody>
      </p:sp>
      <p:sp>
        <p:nvSpPr>
          <p:cNvPr id="239" name="Google Shape;239;p22"/>
          <p:cNvSpPr/>
          <p:nvPr/>
        </p:nvSpPr>
        <p:spPr>
          <a:xfrm>
            <a:off x="6637850" y="2322475"/>
            <a:ext cx="1800600" cy="498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 Science (AI)</a:t>
            </a:r>
            <a:endParaRPr b="0" i="0" sz="1400" u="none" cap="none" strike="noStrike">
              <a:solidFill>
                <a:srgbClr val="000000"/>
              </a:solidFill>
              <a:latin typeface="Arial"/>
              <a:ea typeface="Arial"/>
              <a:cs typeface="Arial"/>
              <a:sym typeface="Arial"/>
            </a:endParaRPr>
          </a:p>
        </p:txBody>
      </p:sp>
      <p:sp>
        <p:nvSpPr>
          <p:cNvPr id="240" name="Google Shape;240;p22"/>
          <p:cNvSpPr/>
          <p:nvPr/>
        </p:nvSpPr>
        <p:spPr>
          <a:xfrm>
            <a:off x="6637850" y="2948288"/>
            <a:ext cx="1800600" cy="498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Business Intelligence</a:t>
            </a:r>
            <a:endParaRPr b="0" i="0" sz="1300" u="none" cap="none" strike="noStrike">
              <a:solidFill>
                <a:srgbClr val="000000"/>
              </a:solidFill>
              <a:latin typeface="Arial"/>
              <a:ea typeface="Arial"/>
              <a:cs typeface="Arial"/>
              <a:sym typeface="Arial"/>
            </a:endParaRPr>
          </a:p>
        </p:txBody>
      </p:sp>
      <p:sp>
        <p:nvSpPr>
          <p:cNvPr id="241" name="Google Shape;241;p22"/>
          <p:cNvSpPr/>
          <p:nvPr/>
        </p:nvSpPr>
        <p:spPr>
          <a:xfrm>
            <a:off x="6637850" y="3581250"/>
            <a:ext cx="1800600" cy="498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Data Analytics</a:t>
            </a:r>
            <a:endParaRPr b="0" i="0" sz="1300" u="none" cap="none" strike="noStrike">
              <a:solidFill>
                <a:srgbClr val="000000"/>
              </a:solidFill>
              <a:latin typeface="Arial"/>
              <a:ea typeface="Arial"/>
              <a:cs typeface="Arial"/>
              <a:sym typeface="Arial"/>
            </a:endParaRPr>
          </a:p>
        </p:txBody>
      </p:sp>
      <p:sp>
        <p:nvSpPr>
          <p:cNvPr id="242" name="Google Shape;242;p22"/>
          <p:cNvSpPr/>
          <p:nvPr/>
        </p:nvSpPr>
        <p:spPr>
          <a:xfrm>
            <a:off x="297525" y="4077850"/>
            <a:ext cx="1256400" cy="4986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Software Zone</a:t>
            </a:r>
            <a:endParaRPr b="0" i="0" sz="1400" u="none" cap="none" strike="noStrike">
              <a:solidFill>
                <a:srgbClr val="000000"/>
              </a:solidFill>
              <a:latin typeface="Arial"/>
              <a:ea typeface="Arial"/>
              <a:cs typeface="Arial"/>
              <a:sym typeface="Arial"/>
            </a:endParaRPr>
          </a:p>
        </p:txBody>
      </p:sp>
      <p:sp>
        <p:nvSpPr>
          <p:cNvPr id="243" name="Google Shape;243;p22"/>
          <p:cNvSpPr/>
          <p:nvPr/>
        </p:nvSpPr>
        <p:spPr>
          <a:xfrm>
            <a:off x="7107475" y="4214225"/>
            <a:ext cx="1256400" cy="4986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Analytics Zone</a:t>
            </a:r>
            <a:endParaRPr b="0" i="0" sz="1400" u="none" cap="none" strike="noStrike">
              <a:solidFill>
                <a:srgbClr val="000000"/>
              </a:solidFill>
              <a:latin typeface="Arial"/>
              <a:ea typeface="Arial"/>
              <a:cs typeface="Arial"/>
              <a:sym typeface="Arial"/>
            </a:endParaRPr>
          </a:p>
        </p:txBody>
      </p:sp>
      <p:sp>
        <p:nvSpPr>
          <p:cNvPr id="244" name="Google Shape;244;p22"/>
          <p:cNvSpPr/>
          <p:nvPr/>
        </p:nvSpPr>
        <p:spPr>
          <a:xfrm>
            <a:off x="4018350" y="3046025"/>
            <a:ext cx="821700" cy="267900"/>
          </a:xfrm>
          <a:prstGeom prst="rightArrow">
            <a:avLst>
              <a:gd fmla="val 50000" name="adj1"/>
              <a:gd fmla="val 5000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3"/>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Separation of Software and Analytics</a:t>
            </a:r>
            <a:endParaRPr/>
          </a:p>
        </p:txBody>
      </p:sp>
      <p:sp>
        <p:nvSpPr>
          <p:cNvPr id="250" name="Google Shape;250;p23"/>
          <p:cNvSpPr txBox="1"/>
          <p:nvPr>
            <p:ph idx="1" type="body"/>
          </p:nvPr>
        </p:nvSpPr>
        <p:spPr>
          <a:xfrm>
            <a:off x="421971" y="1329896"/>
            <a:ext cx="7293300" cy="30867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800"/>
              </a:spcBef>
              <a:spcAft>
                <a:spcPts val="0"/>
              </a:spcAft>
              <a:buSzPts val="2100"/>
              <a:buNone/>
            </a:pPr>
            <a:r>
              <a:rPr lang="en"/>
              <a:t>It’s important to have a distinct zone for analytics.</a:t>
            </a:r>
            <a:endParaRPr/>
          </a:p>
          <a:p>
            <a:pPr indent="-361950" lvl="0" marL="457200" rtl="0" algn="l">
              <a:lnSpc>
                <a:spcPct val="90000"/>
              </a:lnSpc>
              <a:spcBef>
                <a:spcPts val="800"/>
              </a:spcBef>
              <a:spcAft>
                <a:spcPts val="0"/>
              </a:spcAft>
              <a:buSzPts val="2100"/>
              <a:buAutoNum type="arabicPeriod"/>
            </a:pPr>
            <a:r>
              <a:rPr lang="en"/>
              <a:t>It protects the main software system from potential issues caused by data scientists, BI developers, etc.</a:t>
            </a:r>
            <a:endParaRPr/>
          </a:p>
          <a:p>
            <a:pPr indent="0" lvl="0" marL="0" rtl="0" algn="l">
              <a:lnSpc>
                <a:spcPct val="90000"/>
              </a:lnSpc>
              <a:spcBef>
                <a:spcPts val="800"/>
              </a:spcBef>
              <a:spcAft>
                <a:spcPts val="0"/>
              </a:spcAft>
              <a:buSzPts val="2100"/>
              <a:buNone/>
            </a:pPr>
            <a:r>
              <a:t/>
            </a:r>
            <a:endParaRPr/>
          </a:p>
          <a:p>
            <a:pPr indent="-361950" lvl="0" marL="457200" rtl="0" algn="l">
              <a:lnSpc>
                <a:spcPct val="90000"/>
              </a:lnSpc>
              <a:spcBef>
                <a:spcPts val="800"/>
              </a:spcBef>
              <a:spcAft>
                <a:spcPts val="0"/>
              </a:spcAft>
              <a:buSzPts val="2100"/>
              <a:buAutoNum type="arabicPeriod"/>
            </a:pPr>
            <a:r>
              <a:rPr lang="en"/>
              <a:t>While the software zone or databases are managed by software engineers, data engineers control the analytics zone.</a:t>
            </a:r>
            <a:endParaRPr/>
          </a:p>
          <a:p>
            <a:pPr indent="0" lvl="0" marL="457200" rtl="0" algn="l">
              <a:lnSpc>
                <a:spcPct val="90000"/>
              </a:lnSpc>
              <a:spcBef>
                <a:spcPts val="800"/>
              </a:spcBef>
              <a:spcAft>
                <a:spcPts val="0"/>
              </a:spcAft>
              <a:buSzPts val="2100"/>
              <a:buNone/>
            </a:pPr>
            <a:r>
              <a:t/>
            </a:r>
            <a:endParaRPr/>
          </a:p>
          <a:p>
            <a:pPr indent="-361950" lvl="0" marL="457200" rtl="0" algn="l">
              <a:lnSpc>
                <a:spcPct val="90000"/>
              </a:lnSpc>
              <a:spcBef>
                <a:spcPts val="800"/>
              </a:spcBef>
              <a:spcAft>
                <a:spcPts val="0"/>
              </a:spcAft>
              <a:buSzPts val="2100"/>
              <a:buAutoNum type="arabicPeriod"/>
            </a:pPr>
            <a:r>
              <a:rPr lang="en" u="sng"/>
              <a:t>The two zones have different characteristics. </a:t>
            </a:r>
            <a:r>
              <a:rPr lang="en"/>
              <a:t>-&gt; Next Slide</a:t>
            </a:r>
            <a:endParaRPr/>
          </a:p>
          <a:p>
            <a:pPr indent="0" lvl="0" marL="0" rtl="0" algn="l">
              <a:lnSpc>
                <a:spcPct val="90000"/>
              </a:lnSpc>
              <a:spcBef>
                <a:spcPts val="800"/>
              </a:spcBef>
              <a:spcAft>
                <a:spcPts val="0"/>
              </a:spcAft>
              <a:buSzPts val="21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4"/>
          <p:cNvSpPr txBox="1"/>
          <p:nvPr>
            <p:ph idx="1" type="body"/>
          </p:nvPr>
        </p:nvSpPr>
        <p:spPr>
          <a:xfrm>
            <a:off x="119100" y="983925"/>
            <a:ext cx="4452900" cy="3818400"/>
          </a:xfrm>
          <a:prstGeom prst="rect">
            <a:avLst/>
          </a:prstGeom>
          <a:noFill/>
          <a:ln>
            <a:noFill/>
          </a:ln>
        </p:spPr>
        <p:txBody>
          <a:bodyPr anchorCtr="0" anchor="t" bIns="34275" lIns="68575" spcFirstLastPara="1" rIns="68575" wrap="square" tIns="34275">
            <a:noAutofit/>
          </a:bodyPr>
          <a:lstStyle/>
          <a:p>
            <a:pPr indent="-323850" lvl="0" marL="457200" rtl="0" algn="l">
              <a:lnSpc>
                <a:spcPct val="90000"/>
              </a:lnSpc>
              <a:spcBef>
                <a:spcPts val="800"/>
              </a:spcBef>
              <a:spcAft>
                <a:spcPts val="0"/>
              </a:spcAft>
              <a:buSzPts val="1500"/>
              <a:buChar char="●"/>
            </a:pPr>
            <a:r>
              <a:rPr lang="en"/>
              <a:t>Smaller data</a:t>
            </a:r>
            <a:endParaRPr/>
          </a:p>
          <a:p>
            <a:pPr indent="-317500" lvl="1" marL="914400" rtl="0" algn="l">
              <a:lnSpc>
                <a:spcPct val="90000"/>
              </a:lnSpc>
              <a:spcBef>
                <a:spcPts val="0"/>
              </a:spcBef>
              <a:spcAft>
                <a:spcPts val="0"/>
              </a:spcAft>
              <a:buSzPts val="1400"/>
              <a:buChar char="○"/>
            </a:pPr>
            <a:r>
              <a:rPr lang="en"/>
              <a:t>Software doesn’t need to store all data. E.g., details of user activities. Orders could be removed after some time.</a:t>
            </a:r>
            <a:endParaRPr/>
          </a:p>
          <a:p>
            <a:pPr indent="-323850" lvl="0" marL="457200" rtl="0" algn="l">
              <a:lnSpc>
                <a:spcPct val="90000"/>
              </a:lnSpc>
              <a:spcBef>
                <a:spcPts val="0"/>
              </a:spcBef>
              <a:spcAft>
                <a:spcPts val="0"/>
              </a:spcAft>
              <a:buSzPts val="1500"/>
              <a:buChar char="●"/>
            </a:pPr>
            <a:r>
              <a:rPr lang="en"/>
              <a:t>Availability</a:t>
            </a:r>
            <a:endParaRPr/>
          </a:p>
          <a:p>
            <a:pPr indent="-317500" lvl="1" marL="914400" rtl="0" algn="l">
              <a:lnSpc>
                <a:spcPct val="90000"/>
              </a:lnSpc>
              <a:spcBef>
                <a:spcPts val="0"/>
              </a:spcBef>
              <a:spcAft>
                <a:spcPts val="0"/>
              </a:spcAft>
              <a:buSzPts val="1400"/>
              <a:buChar char="○"/>
            </a:pPr>
            <a:r>
              <a:rPr lang="en"/>
              <a:t>Availability is crucial</a:t>
            </a:r>
            <a:endParaRPr/>
          </a:p>
          <a:p>
            <a:pPr indent="-323850" lvl="0" marL="457200" rtl="0" algn="l">
              <a:lnSpc>
                <a:spcPct val="90000"/>
              </a:lnSpc>
              <a:spcBef>
                <a:spcPts val="0"/>
              </a:spcBef>
              <a:spcAft>
                <a:spcPts val="0"/>
              </a:spcAft>
              <a:buSzPts val="1500"/>
              <a:buChar char="●"/>
            </a:pPr>
            <a:r>
              <a:rPr lang="en"/>
              <a:t>Real-time</a:t>
            </a:r>
            <a:endParaRPr/>
          </a:p>
          <a:p>
            <a:pPr indent="-317500" lvl="1" marL="914400" rtl="0" algn="l">
              <a:lnSpc>
                <a:spcPct val="90000"/>
              </a:lnSpc>
              <a:spcBef>
                <a:spcPts val="0"/>
              </a:spcBef>
              <a:spcAft>
                <a:spcPts val="0"/>
              </a:spcAft>
              <a:buSzPts val="1400"/>
              <a:buChar char="○"/>
            </a:pPr>
            <a:r>
              <a:rPr lang="en"/>
              <a:t>Continuous availability is critical, and data must be highly accurate.</a:t>
            </a:r>
            <a:endParaRPr/>
          </a:p>
          <a:p>
            <a:pPr indent="-317500" lvl="0" marL="457200" rtl="0" algn="l">
              <a:lnSpc>
                <a:spcPct val="90000"/>
              </a:lnSpc>
              <a:spcBef>
                <a:spcPts val="0"/>
              </a:spcBef>
              <a:spcAft>
                <a:spcPts val="0"/>
              </a:spcAft>
              <a:buSzPts val="1400"/>
              <a:buChar char="●"/>
            </a:pPr>
            <a:r>
              <a:rPr lang="en"/>
              <a:t>Data has to be most accurate.</a:t>
            </a:r>
            <a:endParaRPr sz="1400"/>
          </a:p>
          <a:p>
            <a:pPr indent="-323850" lvl="0" marL="457200" rtl="0" algn="l">
              <a:lnSpc>
                <a:spcPct val="90000"/>
              </a:lnSpc>
              <a:spcBef>
                <a:spcPts val="0"/>
              </a:spcBef>
              <a:spcAft>
                <a:spcPts val="0"/>
              </a:spcAft>
              <a:buSzPts val="1500"/>
              <a:buChar char="●"/>
            </a:pPr>
            <a:r>
              <a:rPr lang="en"/>
              <a:t>OLTP (Online Transaction Processing) Queries</a:t>
            </a:r>
            <a:endParaRPr sz="1400"/>
          </a:p>
          <a:p>
            <a:pPr indent="-304800" lvl="1" marL="914400" rtl="0" algn="l">
              <a:lnSpc>
                <a:spcPct val="90000"/>
              </a:lnSpc>
              <a:spcBef>
                <a:spcPts val="0"/>
              </a:spcBef>
              <a:spcAft>
                <a:spcPts val="0"/>
              </a:spcAft>
              <a:buSzPts val="1200"/>
              <a:buChar char="○"/>
            </a:pPr>
            <a:r>
              <a:rPr lang="en" sz="1200"/>
              <a:t>select * from orders where id = '1';</a:t>
            </a:r>
            <a:endParaRPr sz="1200"/>
          </a:p>
          <a:p>
            <a:pPr indent="-304800" lvl="1" marL="914400" rtl="0" algn="l">
              <a:lnSpc>
                <a:spcPct val="90000"/>
              </a:lnSpc>
              <a:spcBef>
                <a:spcPts val="0"/>
              </a:spcBef>
              <a:spcAft>
                <a:spcPts val="0"/>
              </a:spcAft>
              <a:buSzPts val="1200"/>
              <a:buChar char="○"/>
            </a:pPr>
            <a:r>
              <a:rPr lang="en" sz="1200"/>
              <a:t>select * from customers where id = '1';</a:t>
            </a:r>
            <a:endParaRPr sz="1200"/>
          </a:p>
          <a:p>
            <a:pPr indent="-304800" lvl="1" marL="914400" rtl="0" algn="l">
              <a:lnSpc>
                <a:spcPct val="90000"/>
              </a:lnSpc>
              <a:spcBef>
                <a:spcPts val="0"/>
              </a:spcBef>
              <a:spcAft>
                <a:spcPts val="0"/>
              </a:spcAft>
              <a:buSzPts val="1200"/>
              <a:buChar char="○"/>
            </a:pPr>
            <a:r>
              <a:rPr lang="en" sz="1200"/>
              <a:t>Update customers set address = new_address;</a:t>
            </a:r>
            <a:endParaRPr/>
          </a:p>
          <a:p>
            <a:pPr indent="-323850" lvl="0" marL="457200" rtl="0" algn="l">
              <a:lnSpc>
                <a:spcPct val="90000"/>
              </a:lnSpc>
              <a:spcBef>
                <a:spcPts val="0"/>
              </a:spcBef>
              <a:spcAft>
                <a:spcPts val="0"/>
              </a:spcAft>
              <a:buSzPts val="1500"/>
              <a:buChar char="●"/>
            </a:pPr>
            <a:r>
              <a:rPr lang="en"/>
              <a:t>Updates are common.</a:t>
            </a:r>
            <a:endParaRPr/>
          </a:p>
          <a:p>
            <a:pPr indent="-323850" lvl="0" marL="457200" rtl="0" algn="l">
              <a:lnSpc>
                <a:spcPct val="90000"/>
              </a:lnSpc>
              <a:spcBef>
                <a:spcPts val="0"/>
              </a:spcBef>
              <a:spcAft>
                <a:spcPts val="0"/>
              </a:spcAft>
              <a:buSzPts val="1500"/>
              <a:buChar char="●"/>
            </a:pPr>
            <a:r>
              <a:rPr lang="en"/>
              <a:t>The system needs to respond quickly.</a:t>
            </a:r>
            <a:endParaRPr/>
          </a:p>
        </p:txBody>
      </p:sp>
      <p:sp>
        <p:nvSpPr>
          <p:cNvPr id="256" name="Google Shape;256;p24"/>
          <p:cNvSpPr txBox="1"/>
          <p:nvPr>
            <p:ph idx="4" type="body"/>
          </p:nvPr>
        </p:nvSpPr>
        <p:spPr>
          <a:xfrm>
            <a:off x="4636650" y="983925"/>
            <a:ext cx="4350300" cy="3425400"/>
          </a:xfrm>
          <a:prstGeom prst="rect">
            <a:avLst/>
          </a:prstGeom>
          <a:noFill/>
          <a:ln>
            <a:noFill/>
          </a:ln>
        </p:spPr>
        <p:txBody>
          <a:bodyPr anchorCtr="0" anchor="t" bIns="34275" lIns="68575" spcFirstLastPara="1" rIns="68575" wrap="square" tIns="34275">
            <a:noAutofit/>
          </a:bodyPr>
          <a:lstStyle/>
          <a:p>
            <a:pPr indent="-317500" lvl="0" marL="457200" rtl="0" algn="l">
              <a:lnSpc>
                <a:spcPct val="90000"/>
              </a:lnSpc>
              <a:spcBef>
                <a:spcPts val="800"/>
              </a:spcBef>
              <a:spcAft>
                <a:spcPts val="0"/>
              </a:spcAft>
              <a:buSzPts val="1400"/>
              <a:buChar char="●"/>
            </a:pPr>
            <a:r>
              <a:rPr lang="en" sz="1400"/>
              <a:t>Data is large</a:t>
            </a:r>
            <a:endParaRPr sz="1400"/>
          </a:p>
          <a:p>
            <a:pPr indent="-311150" lvl="1" marL="914400" rtl="0" algn="l">
              <a:lnSpc>
                <a:spcPct val="90000"/>
              </a:lnSpc>
              <a:spcBef>
                <a:spcPts val="0"/>
              </a:spcBef>
              <a:spcAft>
                <a:spcPts val="0"/>
              </a:spcAft>
              <a:buSzPts val="1300"/>
              <a:buChar char="○"/>
            </a:pPr>
            <a:r>
              <a:rPr lang="en" sz="1300"/>
              <a:t>History of orders could be needed for last three years.</a:t>
            </a:r>
            <a:endParaRPr sz="1300"/>
          </a:p>
          <a:p>
            <a:pPr indent="-311150" lvl="0" marL="457200" rtl="0" algn="l">
              <a:lnSpc>
                <a:spcPct val="90000"/>
              </a:lnSpc>
              <a:spcBef>
                <a:spcPts val="0"/>
              </a:spcBef>
              <a:spcAft>
                <a:spcPts val="0"/>
              </a:spcAft>
              <a:buSzPts val="1300"/>
              <a:buChar char="●"/>
            </a:pPr>
            <a:r>
              <a:rPr lang="en" sz="1400"/>
              <a:t>Downtime is tolerable to some extent.</a:t>
            </a:r>
            <a:endParaRPr sz="1300"/>
          </a:p>
          <a:p>
            <a:pPr indent="-317500" lvl="0" marL="457200" rtl="0" algn="l">
              <a:lnSpc>
                <a:spcPct val="90000"/>
              </a:lnSpc>
              <a:spcBef>
                <a:spcPts val="0"/>
              </a:spcBef>
              <a:spcAft>
                <a:spcPts val="0"/>
              </a:spcAft>
              <a:buSzPts val="1400"/>
              <a:buChar char="●"/>
            </a:pPr>
            <a:r>
              <a:rPr lang="en" sz="1400"/>
              <a:t>Delay is acceptable</a:t>
            </a:r>
            <a:endParaRPr sz="1400"/>
          </a:p>
          <a:p>
            <a:pPr indent="-311150" lvl="1" marL="914400" rtl="0" algn="l">
              <a:lnSpc>
                <a:spcPct val="90000"/>
              </a:lnSpc>
              <a:spcBef>
                <a:spcPts val="0"/>
              </a:spcBef>
              <a:spcAft>
                <a:spcPts val="0"/>
              </a:spcAft>
              <a:buSzPts val="1300"/>
              <a:buChar char="○"/>
            </a:pPr>
            <a:r>
              <a:rPr lang="en" sz="1300"/>
              <a:t>Data scientists can tolerate receiving data with a delay, such as one hour later.</a:t>
            </a:r>
            <a:endParaRPr sz="1400"/>
          </a:p>
          <a:p>
            <a:pPr indent="-317500" lvl="0" marL="457200" rtl="0" algn="l">
              <a:lnSpc>
                <a:spcPct val="90000"/>
              </a:lnSpc>
              <a:spcBef>
                <a:spcPts val="0"/>
              </a:spcBef>
              <a:spcAft>
                <a:spcPts val="0"/>
              </a:spcAft>
              <a:buSzPts val="1400"/>
              <a:buChar char="●"/>
            </a:pPr>
            <a:r>
              <a:rPr lang="en" sz="1400"/>
              <a:t>Data quality can be compromised</a:t>
            </a:r>
            <a:endParaRPr sz="1400"/>
          </a:p>
          <a:p>
            <a:pPr indent="-317500" lvl="0" marL="457200" rtl="0" algn="l">
              <a:lnSpc>
                <a:spcPct val="90000"/>
              </a:lnSpc>
              <a:spcBef>
                <a:spcPts val="0"/>
              </a:spcBef>
              <a:spcAft>
                <a:spcPts val="0"/>
              </a:spcAft>
              <a:buSzPts val="1400"/>
              <a:buChar char="●"/>
            </a:pPr>
            <a:r>
              <a:rPr lang="en" sz="1400"/>
              <a:t>OLAP (Online Analytical Processing) Queries</a:t>
            </a:r>
            <a:endParaRPr sz="1400"/>
          </a:p>
          <a:p>
            <a:pPr indent="-311150" lvl="1" marL="914400" rtl="0" algn="l">
              <a:lnSpc>
                <a:spcPct val="90000"/>
              </a:lnSpc>
              <a:spcBef>
                <a:spcPts val="0"/>
              </a:spcBef>
              <a:spcAft>
                <a:spcPts val="0"/>
              </a:spcAft>
              <a:buSzPts val="1300"/>
              <a:buChar char="○"/>
            </a:pPr>
            <a:r>
              <a:rPr lang="en" sz="1300"/>
              <a:t>select average(age) from customers where location = 'calgary';</a:t>
            </a:r>
            <a:endParaRPr sz="1300"/>
          </a:p>
          <a:p>
            <a:pPr indent="-311150" lvl="1" marL="914400" rtl="0" algn="l">
              <a:lnSpc>
                <a:spcPct val="90000"/>
              </a:lnSpc>
              <a:spcBef>
                <a:spcPts val="0"/>
              </a:spcBef>
              <a:spcAft>
                <a:spcPts val="0"/>
              </a:spcAft>
              <a:buSzPts val="1300"/>
              <a:buChar char="○"/>
            </a:pPr>
            <a:r>
              <a:rPr lang="en" sz="1300"/>
              <a:t>Machine learning models normally process a big chunk of data in a subset of columns.</a:t>
            </a:r>
            <a:endParaRPr sz="1300"/>
          </a:p>
          <a:p>
            <a:pPr indent="-317500" lvl="0" marL="457200" rtl="0" algn="l">
              <a:lnSpc>
                <a:spcPct val="90000"/>
              </a:lnSpc>
              <a:spcBef>
                <a:spcPts val="0"/>
              </a:spcBef>
              <a:spcAft>
                <a:spcPts val="0"/>
              </a:spcAft>
              <a:buSzPts val="1400"/>
              <a:buChar char="●"/>
            </a:pPr>
            <a:r>
              <a:rPr lang="en" sz="1400"/>
              <a:t>Updates are rare. (Immutable Data)</a:t>
            </a:r>
            <a:endParaRPr sz="1400"/>
          </a:p>
          <a:p>
            <a:pPr indent="-317500" lvl="0" marL="457200" rtl="0" algn="l">
              <a:lnSpc>
                <a:spcPct val="90000"/>
              </a:lnSpc>
              <a:spcBef>
                <a:spcPts val="0"/>
              </a:spcBef>
              <a:spcAft>
                <a:spcPts val="0"/>
              </a:spcAft>
              <a:buSzPts val="1400"/>
              <a:buChar char="●"/>
            </a:pPr>
            <a:r>
              <a:rPr lang="en" sz="1400"/>
              <a:t>Queries can take time.</a:t>
            </a:r>
            <a:endParaRPr sz="1400"/>
          </a:p>
          <a:p>
            <a:pPr indent="-311150" lvl="1" marL="914400" rtl="0" algn="l">
              <a:lnSpc>
                <a:spcPct val="90000"/>
              </a:lnSpc>
              <a:spcBef>
                <a:spcPts val="0"/>
              </a:spcBef>
              <a:spcAft>
                <a:spcPts val="0"/>
              </a:spcAft>
              <a:buSzPts val="1300"/>
              <a:buChar char="○"/>
            </a:pPr>
            <a:r>
              <a:rPr lang="en" sz="1300"/>
              <a:t>It can take a minute or more to feed data into an ML models.</a:t>
            </a:r>
            <a:endParaRPr sz="1300"/>
          </a:p>
        </p:txBody>
      </p:sp>
      <p:sp>
        <p:nvSpPr>
          <p:cNvPr id="257" name="Google Shape;257;p24"/>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Clr>
                <a:schemeClr val="dk1"/>
              </a:buClr>
              <a:buSzPts val="1100"/>
              <a:buFont typeface="Arial"/>
              <a:buNone/>
            </a:pPr>
            <a:r>
              <a:rPr lang="en"/>
              <a:t>Separation of Software and Analytics</a:t>
            </a:r>
            <a:endParaRPr/>
          </a:p>
        </p:txBody>
      </p:sp>
      <p:sp>
        <p:nvSpPr>
          <p:cNvPr id="258" name="Google Shape;258;p24"/>
          <p:cNvSpPr/>
          <p:nvPr/>
        </p:nvSpPr>
        <p:spPr>
          <a:xfrm>
            <a:off x="3315600" y="4644900"/>
            <a:ext cx="1256400" cy="498600"/>
          </a:xfrm>
          <a:prstGeom prst="roundRect">
            <a:avLst>
              <a:gd fmla="val 16667" name="adj"/>
            </a:avLst>
          </a:prstGeom>
          <a:solidFill>
            <a:srgbClr val="FFF2CC"/>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Software Zone</a:t>
            </a:r>
            <a:endParaRPr b="0" i="0" sz="1400" u="none" cap="none" strike="noStrike">
              <a:solidFill>
                <a:srgbClr val="000000"/>
              </a:solidFill>
              <a:latin typeface="Arial"/>
              <a:ea typeface="Arial"/>
              <a:cs typeface="Arial"/>
              <a:sym typeface="Arial"/>
            </a:endParaRPr>
          </a:p>
        </p:txBody>
      </p:sp>
      <p:sp>
        <p:nvSpPr>
          <p:cNvPr id="259" name="Google Shape;259;p24"/>
          <p:cNvSpPr/>
          <p:nvPr/>
        </p:nvSpPr>
        <p:spPr>
          <a:xfrm>
            <a:off x="4636650" y="4644900"/>
            <a:ext cx="1256400" cy="498600"/>
          </a:xfrm>
          <a:prstGeom prst="roundRect">
            <a:avLst>
              <a:gd fmla="val 16667" name="adj"/>
            </a:avLst>
          </a:prstGeom>
          <a:solidFill>
            <a:srgbClr val="CFE2F3"/>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Analytics Zone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5"/>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Different technologies could be used.</a:t>
            </a:r>
            <a:endParaRPr/>
          </a:p>
        </p:txBody>
      </p:sp>
      <p:sp>
        <p:nvSpPr>
          <p:cNvPr id="265" name="Google Shape;265;p25"/>
          <p:cNvSpPr txBox="1"/>
          <p:nvPr>
            <p:ph idx="1" type="body"/>
          </p:nvPr>
        </p:nvSpPr>
        <p:spPr>
          <a:xfrm>
            <a:off x="421975" y="1329900"/>
            <a:ext cx="7293300" cy="33333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800"/>
              </a:spcBef>
              <a:spcAft>
                <a:spcPts val="0"/>
              </a:spcAft>
              <a:buSzPts val="2100"/>
              <a:buNone/>
            </a:pPr>
            <a:r>
              <a:rPr lang="en" sz="1900"/>
              <a:t>Traditional databases like PostgreSQL and MySQL were designed to meet software needs; newer technologies have been invented to address analytics needs.</a:t>
            </a:r>
            <a:endParaRPr sz="1900"/>
          </a:p>
          <a:p>
            <a:pPr indent="0" lvl="0" marL="0" rtl="0" algn="l">
              <a:lnSpc>
                <a:spcPct val="90000"/>
              </a:lnSpc>
              <a:spcBef>
                <a:spcPts val="800"/>
              </a:spcBef>
              <a:spcAft>
                <a:spcPts val="0"/>
              </a:spcAft>
              <a:buSzPts val="2100"/>
              <a:buNone/>
            </a:pPr>
            <a:r>
              <a:rPr lang="en"/>
              <a:t>They are called </a:t>
            </a:r>
            <a:r>
              <a:rPr b="1" lang="en"/>
              <a:t>Data Warehouses.</a:t>
            </a:r>
            <a:endParaRPr b="1"/>
          </a:p>
          <a:p>
            <a:pPr indent="-342900" lvl="1" marL="914400" rtl="0" algn="l">
              <a:lnSpc>
                <a:spcPct val="90000"/>
              </a:lnSpc>
              <a:spcBef>
                <a:spcPts val="400"/>
              </a:spcBef>
              <a:spcAft>
                <a:spcPts val="0"/>
              </a:spcAft>
              <a:buSzPts val="1800"/>
              <a:buChar char="○"/>
            </a:pPr>
            <a:r>
              <a:rPr lang="en"/>
              <a:t>Snowflake</a:t>
            </a:r>
            <a:endParaRPr/>
          </a:p>
          <a:p>
            <a:pPr indent="-342900" lvl="1" marL="914400" rtl="0" algn="l">
              <a:lnSpc>
                <a:spcPct val="90000"/>
              </a:lnSpc>
              <a:spcBef>
                <a:spcPts val="0"/>
              </a:spcBef>
              <a:spcAft>
                <a:spcPts val="0"/>
              </a:spcAft>
              <a:buSzPts val="1800"/>
              <a:buChar char="○"/>
            </a:pPr>
            <a:r>
              <a:rPr lang="en"/>
              <a:t>Google BigQuery</a:t>
            </a:r>
            <a:endParaRPr/>
          </a:p>
          <a:p>
            <a:pPr indent="-342900" lvl="1" marL="914400" rtl="0" algn="l">
              <a:lnSpc>
                <a:spcPct val="90000"/>
              </a:lnSpc>
              <a:spcBef>
                <a:spcPts val="0"/>
              </a:spcBef>
              <a:spcAft>
                <a:spcPts val="0"/>
              </a:spcAft>
              <a:buSzPts val="1800"/>
              <a:buChar char="○"/>
            </a:pPr>
            <a:r>
              <a:rPr lang="en"/>
              <a:t>Amazon Redshift</a:t>
            </a:r>
            <a:endParaRPr/>
          </a:p>
          <a:p>
            <a:pPr indent="-342900" lvl="1" marL="914400" rtl="0" algn="l">
              <a:lnSpc>
                <a:spcPct val="90000"/>
              </a:lnSpc>
              <a:spcBef>
                <a:spcPts val="0"/>
              </a:spcBef>
              <a:spcAft>
                <a:spcPts val="0"/>
              </a:spcAft>
              <a:buSzPts val="1800"/>
              <a:buChar char="○"/>
            </a:pPr>
            <a:r>
              <a:rPr lang="en"/>
              <a:t>Apache Druid (Open-source)</a:t>
            </a:r>
            <a:endParaRPr/>
          </a:p>
          <a:p>
            <a:pPr indent="0" lvl="0" marL="0" rtl="0" algn="l">
              <a:lnSpc>
                <a:spcPct val="90000"/>
              </a:lnSpc>
              <a:spcBef>
                <a:spcPts val="800"/>
              </a:spcBef>
              <a:spcAft>
                <a:spcPts val="0"/>
              </a:spcAft>
              <a:buSzPts val="2100"/>
              <a:buNone/>
            </a:pPr>
            <a:r>
              <a:rPr lang="en"/>
              <a:t>Data warehouses are specialized databases designed to handle analytic workloads more efficiently.</a:t>
            </a:r>
            <a:endParaRPr/>
          </a:p>
          <a:p>
            <a:pPr indent="-361950" lvl="0" marL="457200" rtl="0" algn="l">
              <a:lnSpc>
                <a:spcPct val="90000"/>
              </a:lnSpc>
              <a:spcBef>
                <a:spcPts val="800"/>
              </a:spcBef>
              <a:spcAft>
                <a:spcPts val="0"/>
              </a:spcAft>
              <a:buSzPts val="2100"/>
              <a:buChar char="●"/>
            </a:pPr>
            <a:r>
              <a:rPr lang="en"/>
              <a:t>We will cover more technical details later in the course.</a:t>
            </a:r>
            <a:endParaRPr/>
          </a:p>
          <a:p>
            <a:pPr indent="0" lvl="0" marL="0" rtl="0" algn="l">
              <a:lnSpc>
                <a:spcPct val="90000"/>
              </a:lnSpc>
              <a:spcBef>
                <a:spcPts val="800"/>
              </a:spcBef>
              <a:spcAft>
                <a:spcPts val="0"/>
              </a:spcAft>
              <a:buSzPts val="21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6"/>
          <p:cNvSpPr txBox="1"/>
          <p:nvPr>
            <p:ph idx="1" type="body"/>
          </p:nvPr>
        </p:nvSpPr>
        <p:spPr>
          <a:xfrm>
            <a:off x="1183700" y="1227950"/>
            <a:ext cx="6864900" cy="3466200"/>
          </a:xfrm>
          <a:prstGeom prst="rect">
            <a:avLst/>
          </a:prstGeom>
          <a:noFill/>
          <a:ln>
            <a:noFill/>
          </a:ln>
        </p:spPr>
        <p:txBody>
          <a:bodyPr anchorCtr="0" anchor="ctr" bIns="34275" lIns="68575" spcFirstLastPara="1" rIns="68575" wrap="square" tIns="34275">
            <a:noAutofit/>
          </a:bodyPr>
          <a:lstStyle/>
          <a:p>
            <a:pPr indent="0" lvl="0" marL="0" rtl="0" algn="l">
              <a:lnSpc>
                <a:spcPct val="103333"/>
              </a:lnSpc>
              <a:spcBef>
                <a:spcPts val="0"/>
              </a:spcBef>
              <a:spcAft>
                <a:spcPts val="0"/>
              </a:spcAft>
              <a:buSzPts val="4500"/>
              <a:buNone/>
            </a:pPr>
            <a:r>
              <a:rPr lang="en" sz="3600"/>
              <a:t>Let’s stop technical details here.</a:t>
            </a:r>
            <a:endParaRPr sz="3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7"/>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Big Data</a:t>
            </a:r>
            <a:endParaRPr/>
          </a:p>
        </p:txBody>
      </p:sp>
      <p:sp>
        <p:nvSpPr>
          <p:cNvPr id="276" name="Google Shape;276;p27"/>
          <p:cNvSpPr txBox="1"/>
          <p:nvPr>
            <p:ph idx="1" type="body"/>
          </p:nvPr>
        </p:nvSpPr>
        <p:spPr>
          <a:xfrm>
            <a:off x="421975" y="1329900"/>
            <a:ext cx="6084000" cy="30867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800"/>
              </a:spcBef>
              <a:spcAft>
                <a:spcPts val="0"/>
              </a:spcAft>
              <a:buSzPts val="2100"/>
              <a:buNone/>
            </a:pPr>
            <a:r>
              <a:rPr lang="en" sz="1400"/>
              <a:t>Big Data was traditionally known with 3Vs.</a:t>
            </a:r>
            <a:endParaRPr sz="1400"/>
          </a:p>
          <a:p>
            <a:pPr indent="-317500" lvl="0" marL="457200" rtl="0" algn="l">
              <a:lnSpc>
                <a:spcPct val="90000"/>
              </a:lnSpc>
              <a:spcBef>
                <a:spcPts val="800"/>
              </a:spcBef>
              <a:spcAft>
                <a:spcPts val="0"/>
              </a:spcAft>
              <a:buSzPts val="1400"/>
              <a:buChar char="●"/>
            </a:pPr>
            <a:r>
              <a:rPr lang="en" sz="1400"/>
              <a:t>Volume: The sheer amount of data generated every second.</a:t>
            </a:r>
            <a:endParaRPr sz="1400"/>
          </a:p>
          <a:p>
            <a:pPr indent="457200" lvl="0" marL="0" rtl="0" algn="l">
              <a:lnSpc>
                <a:spcPct val="90000"/>
              </a:lnSpc>
              <a:spcBef>
                <a:spcPts val="800"/>
              </a:spcBef>
              <a:spcAft>
                <a:spcPts val="0"/>
              </a:spcAft>
              <a:buSzPts val="2100"/>
              <a:buNone/>
            </a:pPr>
            <a:r>
              <a:rPr lang="en" sz="1400"/>
              <a:t>Example: Every minute, millions of messages are sent on WhatsApp.</a:t>
            </a:r>
            <a:endParaRPr sz="1400"/>
          </a:p>
          <a:p>
            <a:pPr indent="-317500" lvl="0" marL="457200" rtl="0" algn="l">
              <a:lnSpc>
                <a:spcPct val="90000"/>
              </a:lnSpc>
              <a:spcBef>
                <a:spcPts val="800"/>
              </a:spcBef>
              <a:spcAft>
                <a:spcPts val="0"/>
              </a:spcAft>
              <a:buSzPts val="1400"/>
              <a:buChar char="●"/>
            </a:pPr>
            <a:r>
              <a:rPr lang="en" sz="1400"/>
              <a:t>Velocity: The speed at which data is generated and processed.</a:t>
            </a:r>
            <a:endParaRPr sz="1400"/>
          </a:p>
          <a:p>
            <a:pPr indent="457200" lvl="0" marL="0" rtl="0" algn="l">
              <a:lnSpc>
                <a:spcPct val="90000"/>
              </a:lnSpc>
              <a:spcBef>
                <a:spcPts val="800"/>
              </a:spcBef>
              <a:spcAft>
                <a:spcPts val="0"/>
              </a:spcAft>
              <a:buSzPts val="2100"/>
              <a:buNone/>
            </a:pPr>
            <a:r>
              <a:rPr lang="en" sz="1400"/>
              <a:t>Example: Streaming data from IoT sensors needs real-time processing.</a:t>
            </a:r>
            <a:endParaRPr sz="1400"/>
          </a:p>
          <a:p>
            <a:pPr indent="-317500" lvl="0" marL="457200" rtl="0" algn="l">
              <a:lnSpc>
                <a:spcPct val="90000"/>
              </a:lnSpc>
              <a:spcBef>
                <a:spcPts val="800"/>
              </a:spcBef>
              <a:spcAft>
                <a:spcPts val="0"/>
              </a:spcAft>
              <a:buSzPts val="1400"/>
              <a:buChar char="●"/>
            </a:pPr>
            <a:r>
              <a:rPr lang="en" sz="1400"/>
              <a:t>Variety: Different types of data being generated.</a:t>
            </a:r>
            <a:endParaRPr sz="1400"/>
          </a:p>
          <a:p>
            <a:pPr indent="457200" lvl="0" marL="0" rtl="0" algn="l">
              <a:lnSpc>
                <a:spcPct val="90000"/>
              </a:lnSpc>
              <a:spcBef>
                <a:spcPts val="800"/>
              </a:spcBef>
              <a:spcAft>
                <a:spcPts val="0"/>
              </a:spcAft>
              <a:buSzPts val="2100"/>
              <a:buNone/>
            </a:pPr>
            <a:r>
              <a:rPr lang="en" sz="1400"/>
              <a:t>Example: Tweets (text), photos on Instagram (images), and YouTube videos.</a:t>
            </a:r>
            <a:endParaRPr sz="1400"/>
          </a:p>
          <a:p>
            <a:pPr indent="457200" lvl="0" marL="0" rtl="0" algn="l">
              <a:lnSpc>
                <a:spcPct val="90000"/>
              </a:lnSpc>
              <a:spcBef>
                <a:spcPts val="800"/>
              </a:spcBef>
              <a:spcAft>
                <a:spcPts val="0"/>
              </a:spcAft>
              <a:buSzPts val="2100"/>
              <a:buNone/>
            </a:pPr>
            <a:r>
              <a:t/>
            </a:r>
            <a:endParaRPr sz="1400"/>
          </a:p>
          <a:p>
            <a:pPr indent="0" lvl="0" marL="0" rtl="0" algn="l">
              <a:lnSpc>
                <a:spcPct val="90000"/>
              </a:lnSpc>
              <a:spcBef>
                <a:spcPts val="800"/>
              </a:spcBef>
              <a:spcAft>
                <a:spcPts val="0"/>
              </a:spcAft>
              <a:buSzPts val="2100"/>
              <a:buNone/>
            </a:pPr>
            <a:r>
              <a:rPr lang="en" sz="1400"/>
              <a:t>In today’s world, most data is just big data. </a:t>
            </a:r>
            <a:endParaRPr sz="1400"/>
          </a:p>
          <a:p>
            <a:pPr indent="457200" lvl="0" marL="0" rtl="0" algn="l">
              <a:lnSpc>
                <a:spcPct val="90000"/>
              </a:lnSpc>
              <a:spcBef>
                <a:spcPts val="800"/>
              </a:spcBef>
              <a:spcAft>
                <a:spcPts val="0"/>
              </a:spcAft>
              <a:buSzPts val="2100"/>
              <a:buNone/>
            </a:pPr>
            <a:r>
              <a:t/>
            </a:r>
            <a:endParaRPr sz="1400"/>
          </a:p>
          <a:p>
            <a:pPr indent="457200" lvl="0" marL="0" rtl="0" algn="l">
              <a:lnSpc>
                <a:spcPct val="90000"/>
              </a:lnSpc>
              <a:spcBef>
                <a:spcPts val="800"/>
              </a:spcBef>
              <a:spcAft>
                <a:spcPts val="0"/>
              </a:spcAft>
              <a:buClr>
                <a:schemeClr val="dk1"/>
              </a:buClr>
              <a:buSzPts val="1100"/>
              <a:buFont typeface="Arial"/>
              <a:buNone/>
            </a:pPr>
            <a:r>
              <a:t/>
            </a:r>
            <a:endParaRPr sz="1400"/>
          </a:p>
          <a:p>
            <a:pPr indent="0" lvl="0" marL="0" rtl="0" algn="l">
              <a:lnSpc>
                <a:spcPct val="90000"/>
              </a:lnSpc>
              <a:spcBef>
                <a:spcPts val="800"/>
              </a:spcBef>
              <a:spcAft>
                <a:spcPts val="0"/>
              </a:spcAft>
              <a:buSzPts val="2100"/>
              <a:buNone/>
            </a:pPr>
            <a:r>
              <a:t/>
            </a:r>
            <a:endParaRPr sz="1800"/>
          </a:p>
        </p:txBody>
      </p:sp>
      <p:pic>
        <p:nvPicPr>
          <p:cNvPr id="277" name="Google Shape;277;p27"/>
          <p:cNvPicPr preferRelativeResize="0"/>
          <p:nvPr/>
        </p:nvPicPr>
        <p:blipFill rotWithShape="1">
          <a:blip r:embed="rId3">
            <a:alphaModFix/>
          </a:blip>
          <a:srcRect b="0" l="23798" r="23897" t="0"/>
          <a:stretch/>
        </p:blipFill>
        <p:spPr>
          <a:xfrm>
            <a:off x="6723075" y="1002050"/>
            <a:ext cx="2152150" cy="23149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8"/>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Data Engineering vs Data Science</a:t>
            </a:r>
            <a:endParaRPr/>
          </a:p>
        </p:txBody>
      </p:sp>
      <p:sp>
        <p:nvSpPr>
          <p:cNvPr id="283" name="Google Shape;283;p28"/>
          <p:cNvSpPr txBox="1"/>
          <p:nvPr>
            <p:ph idx="1" type="body"/>
          </p:nvPr>
        </p:nvSpPr>
        <p:spPr>
          <a:xfrm>
            <a:off x="421975" y="982625"/>
            <a:ext cx="7865700" cy="3086700"/>
          </a:xfrm>
          <a:prstGeom prst="rect">
            <a:avLst/>
          </a:prstGeom>
          <a:noFill/>
          <a:ln>
            <a:noFill/>
          </a:ln>
        </p:spPr>
        <p:txBody>
          <a:bodyPr anchorCtr="0" anchor="t" bIns="34275" lIns="68575" spcFirstLastPara="1" rIns="68575" wrap="square" tIns="34275">
            <a:noAutofit/>
          </a:bodyPr>
          <a:lstStyle/>
          <a:p>
            <a:pPr indent="-323850" lvl="0" marL="457200" rtl="0" algn="l">
              <a:lnSpc>
                <a:spcPct val="115000"/>
              </a:lnSpc>
              <a:spcBef>
                <a:spcPts val="800"/>
              </a:spcBef>
              <a:spcAft>
                <a:spcPts val="0"/>
              </a:spcAft>
              <a:buSzPts val="1500"/>
              <a:buAutoNum type="arabicPeriod"/>
            </a:pPr>
            <a:r>
              <a:rPr lang="en" sz="1500"/>
              <a:t>Data engineering is different from data science. The concepts, techniques, and tools are also different. For example, data engineers use tools like Snowflake and SQL for building data pipelines, while data scientists use Scikit-learn and TensorFlow for building AI or ML models. </a:t>
            </a:r>
            <a:endParaRPr sz="1500"/>
          </a:p>
          <a:p>
            <a:pPr indent="-323850" lvl="0" marL="457200" rtl="0" algn="l">
              <a:lnSpc>
                <a:spcPct val="115000"/>
              </a:lnSpc>
              <a:spcBef>
                <a:spcPts val="0"/>
              </a:spcBef>
              <a:spcAft>
                <a:spcPts val="0"/>
              </a:spcAft>
              <a:buSzPts val="1500"/>
              <a:buAutoNum type="arabicPeriod"/>
            </a:pPr>
            <a:r>
              <a:rPr lang="en" sz="1500"/>
              <a:t>Data scientists often use the work of data engineers, but they aren’t the only ones. Many companies had data engineers before data science was common.</a:t>
            </a:r>
            <a:endParaRPr sz="1500"/>
          </a:p>
          <a:p>
            <a:pPr indent="-323850" lvl="0" marL="457200" rtl="0" algn="l">
              <a:lnSpc>
                <a:spcPct val="115000"/>
              </a:lnSpc>
              <a:spcBef>
                <a:spcPts val="0"/>
              </a:spcBef>
              <a:spcAft>
                <a:spcPts val="0"/>
              </a:spcAft>
              <a:buSzPts val="1500"/>
              <a:buAutoNum type="arabicPeriod"/>
            </a:pPr>
            <a:r>
              <a:rPr lang="en" sz="1500"/>
              <a:t>In smaller companies, data scientists might also have to do some data engineering work.</a:t>
            </a:r>
            <a:endParaRPr sz="1500"/>
          </a:p>
          <a:p>
            <a:pPr indent="-323850" lvl="0" marL="457200" rtl="0" algn="l">
              <a:lnSpc>
                <a:spcPct val="115000"/>
              </a:lnSpc>
              <a:spcBef>
                <a:spcPts val="0"/>
              </a:spcBef>
              <a:spcAft>
                <a:spcPts val="0"/>
              </a:spcAft>
              <a:buSzPts val="1500"/>
              <a:buAutoNum type="arabicPeriod"/>
            </a:pPr>
            <a:r>
              <a:rPr lang="en" sz="1500"/>
              <a:t>Both fields are data-aware, and some professionals swap between them.</a:t>
            </a:r>
            <a:endParaRPr sz="1500"/>
          </a:p>
        </p:txBody>
      </p:sp>
      <p:sp>
        <p:nvSpPr>
          <p:cNvPr id="284" name="Google Shape;284;p28"/>
          <p:cNvSpPr/>
          <p:nvPr/>
        </p:nvSpPr>
        <p:spPr>
          <a:xfrm>
            <a:off x="1859988" y="3845700"/>
            <a:ext cx="2058600" cy="555000"/>
          </a:xfrm>
          <a:prstGeom prst="rightArrow">
            <a:avLst>
              <a:gd fmla="val 50000" name="adj1"/>
              <a:gd fmla="val 50000" name="adj2"/>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 Engineering</a:t>
            </a:r>
            <a:endParaRPr b="0" i="0" sz="1400" u="none" cap="none" strike="noStrike">
              <a:solidFill>
                <a:srgbClr val="000000"/>
              </a:solidFill>
              <a:latin typeface="Arial"/>
              <a:ea typeface="Arial"/>
              <a:cs typeface="Arial"/>
              <a:sym typeface="Arial"/>
            </a:endParaRPr>
          </a:p>
        </p:txBody>
      </p:sp>
      <p:sp>
        <p:nvSpPr>
          <p:cNvPr id="285" name="Google Shape;285;p28"/>
          <p:cNvSpPr/>
          <p:nvPr/>
        </p:nvSpPr>
        <p:spPr>
          <a:xfrm>
            <a:off x="5023138" y="3845700"/>
            <a:ext cx="2058600" cy="555000"/>
          </a:xfrm>
          <a:prstGeom prst="rightArrow">
            <a:avLst>
              <a:gd fmla="val 50000" name="adj1"/>
              <a:gd fmla="val 50000" name="adj2"/>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 Science</a:t>
            </a:r>
            <a:endParaRPr b="0" i="0" sz="1400" u="none" cap="none" strike="noStrike">
              <a:solidFill>
                <a:srgbClr val="000000"/>
              </a:solidFill>
              <a:latin typeface="Arial"/>
              <a:ea typeface="Arial"/>
              <a:cs typeface="Arial"/>
              <a:sym typeface="Arial"/>
            </a:endParaRPr>
          </a:p>
        </p:txBody>
      </p:sp>
      <p:sp>
        <p:nvSpPr>
          <p:cNvPr id="286" name="Google Shape;286;p28"/>
          <p:cNvSpPr/>
          <p:nvPr/>
        </p:nvSpPr>
        <p:spPr>
          <a:xfrm>
            <a:off x="755438" y="3113150"/>
            <a:ext cx="1104550" cy="1623250"/>
          </a:xfrm>
          <a:prstGeom prst="flowChartMagneticDisk">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 Sources</a:t>
            </a:r>
            <a:endParaRPr b="0" i="0" sz="1400" u="none" cap="none" strike="noStrike">
              <a:solidFill>
                <a:srgbClr val="000000"/>
              </a:solidFill>
              <a:latin typeface="Arial"/>
              <a:ea typeface="Arial"/>
              <a:cs typeface="Arial"/>
              <a:sym typeface="Arial"/>
            </a:endParaRPr>
          </a:p>
        </p:txBody>
      </p:sp>
      <p:sp>
        <p:nvSpPr>
          <p:cNvPr id="287" name="Google Shape;287;p28"/>
          <p:cNvSpPr/>
          <p:nvPr/>
        </p:nvSpPr>
        <p:spPr>
          <a:xfrm>
            <a:off x="3918588" y="3113150"/>
            <a:ext cx="1104550" cy="1623250"/>
          </a:xfrm>
          <a:prstGeom prst="flowChartMagneticDisk">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Processed Data</a:t>
            </a:r>
            <a:endParaRPr b="0" i="0" sz="1400" u="none" cap="none" strike="noStrike">
              <a:solidFill>
                <a:srgbClr val="000000"/>
              </a:solidFill>
              <a:latin typeface="Arial"/>
              <a:ea typeface="Arial"/>
              <a:cs typeface="Arial"/>
              <a:sym typeface="Arial"/>
            </a:endParaRPr>
          </a:p>
        </p:txBody>
      </p:sp>
      <p:pic>
        <p:nvPicPr>
          <p:cNvPr id="288" name="Google Shape;288;p28"/>
          <p:cNvPicPr preferRelativeResize="0"/>
          <p:nvPr/>
        </p:nvPicPr>
        <p:blipFill rotWithShape="1">
          <a:blip r:embed="rId3">
            <a:alphaModFix/>
          </a:blip>
          <a:srcRect b="0" l="0" r="0" t="0"/>
          <a:stretch/>
        </p:blipFill>
        <p:spPr>
          <a:xfrm>
            <a:off x="7081733" y="3271363"/>
            <a:ext cx="1306825" cy="13068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7d15e3a389_2_0"/>
          <p:cNvSpPr txBox="1"/>
          <p:nvPr>
            <p:ph type="title"/>
          </p:nvPr>
        </p:nvSpPr>
        <p:spPr>
          <a:xfrm>
            <a:off x="421971" y="347976"/>
            <a:ext cx="7293300" cy="774900"/>
          </a:xfrm>
          <a:prstGeom prst="rect">
            <a:avLst/>
          </a:prstGeom>
          <a:noFill/>
          <a:ln>
            <a:noFill/>
          </a:ln>
        </p:spPr>
        <p:txBody>
          <a:bodyPr anchorCtr="0" anchor="ctr" bIns="34275" lIns="68575" spcFirstLastPara="1" rIns="68575" wrap="square" tIns="34275">
            <a:normAutofit/>
          </a:bodyPr>
          <a:lstStyle/>
          <a:p>
            <a:pPr indent="0" lvl="0" marL="0" rtl="0" algn="l">
              <a:lnSpc>
                <a:spcPct val="105555"/>
              </a:lnSpc>
              <a:spcBef>
                <a:spcPts val="0"/>
              </a:spcBef>
              <a:spcAft>
                <a:spcPts val="0"/>
              </a:spcAft>
              <a:buSzPts val="2700"/>
              <a:buNone/>
            </a:pPr>
            <a:r>
              <a:rPr lang="en"/>
              <a:t>Participation Quiz</a:t>
            </a:r>
            <a:endParaRPr/>
          </a:p>
        </p:txBody>
      </p:sp>
      <p:sp>
        <p:nvSpPr>
          <p:cNvPr id="294" name="Google Shape;294;g37d15e3a389_2_0"/>
          <p:cNvSpPr txBox="1"/>
          <p:nvPr>
            <p:ph idx="1" type="body"/>
          </p:nvPr>
        </p:nvSpPr>
        <p:spPr>
          <a:xfrm>
            <a:off x="421975" y="982625"/>
            <a:ext cx="7865700" cy="3086700"/>
          </a:xfrm>
          <a:prstGeom prst="rect">
            <a:avLst/>
          </a:prstGeom>
          <a:noFill/>
          <a:ln>
            <a:noFill/>
          </a:ln>
        </p:spPr>
        <p:txBody>
          <a:bodyPr anchorCtr="0" anchor="t" bIns="34275" lIns="68575" spcFirstLastPara="1" rIns="68575" wrap="square" tIns="34275">
            <a:noAutofit/>
          </a:bodyPr>
          <a:lstStyle/>
          <a:p>
            <a:pPr indent="-368300" lvl="0" marL="457200" rtl="0" algn="l">
              <a:lnSpc>
                <a:spcPct val="115000"/>
              </a:lnSpc>
              <a:spcBef>
                <a:spcPts val="0"/>
              </a:spcBef>
              <a:spcAft>
                <a:spcPts val="0"/>
              </a:spcAft>
              <a:buSzPts val="2200"/>
              <a:buAutoNum type="arabicPeriod"/>
            </a:pPr>
            <a:r>
              <a:rPr lang="en" sz="2200"/>
              <a:t>Describe one difference between analytics and software zone.</a:t>
            </a:r>
            <a:endParaRPr sz="2200"/>
          </a:p>
          <a:p>
            <a:pPr indent="-368300" lvl="1" marL="914400" rtl="0" algn="l">
              <a:lnSpc>
                <a:spcPct val="115000"/>
              </a:lnSpc>
              <a:spcBef>
                <a:spcPts val="0"/>
              </a:spcBef>
              <a:spcAft>
                <a:spcPts val="0"/>
              </a:spcAft>
              <a:buSzPts val="2200"/>
              <a:buChar char="•"/>
            </a:pPr>
            <a:r>
              <a:rPr lang="en" sz="2200"/>
              <a:t>Don’t forget to write down BOTH your name and UCID please!</a:t>
            </a:r>
            <a:endParaRPr sz="22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UCalgary 2">
      <a:dk1>
        <a:srgbClr val="000000"/>
      </a:dk1>
      <a:lt1>
        <a:srgbClr val="FFFFFF"/>
      </a:lt1>
      <a:dk2>
        <a:srgbClr val="8C857B"/>
      </a:dk2>
      <a:lt2>
        <a:srgbClr val="C3BFB6"/>
      </a:lt2>
      <a:accent1>
        <a:srgbClr val="EE2C2A"/>
      </a:accent1>
      <a:accent2>
        <a:srgbClr val="FFA300"/>
      </a:accent2>
      <a:accent3>
        <a:srgbClr val="FF671F"/>
      </a:accent3>
      <a:accent4>
        <a:srgbClr val="46A67B"/>
      </a:accent4>
      <a:accent5>
        <a:srgbClr val="EC0971"/>
      </a:accent5>
      <a:accent6>
        <a:srgbClr val="9C0533"/>
      </a:accent6>
      <a:hlink>
        <a:srgbClr val="D6001C"/>
      </a:hlink>
      <a:folHlink>
        <a:srgbClr val="8C85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