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5143500" cx="9144000"/>
  <p:notesSz cx="6858000" cy="9144000"/>
  <p:embeddedFontLst>
    <p:embeddedFont>
      <p:font typeface="Roboto Mono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3C51440-840C-45B0-8242-D40FFC1250FC}">
  <a:tblStyle styleId="{D3C51440-840C-45B0-8242-D40FFC1250F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RobotoMono-regular.fntdata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RobotoMono-italic.fntdata"/><Relationship Id="rId47" Type="http://schemas.openxmlformats.org/officeDocument/2006/relationships/font" Target="fonts/RobotoMono-bold.fntdata"/><Relationship Id="rId49" Type="http://schemas.openxmlformats.org/officeDocument/2006/relationships/font" Target="fonts/RobotoMon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f7521f063a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2f7521f063a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852cb7d6b4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852cb7d6b4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031454647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031454647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031454647c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031454647c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031454647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031454647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031454647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031454647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031454647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031454647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032e2abe2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032e2abe2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031454647c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031454647c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031454647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031454647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031454647c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031454647c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031454647c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031454647c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031454647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031454647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031454647c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031454647c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032e2abe2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032e2abe2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32e2abe2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32e2abe2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032e2abe2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032e2abe2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031454647c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031454647c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032e2abe2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032e2abe2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032e2abe2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032e2abe2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032e2abe20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032e2abe2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032e2abe20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032e2abe2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032e2abe20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032e2abe2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03d4994b96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03d4994b9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032e2abe20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032e2abe20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f7f0f5a533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f7f0f5a533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03e957a41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03e957a41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031454647c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031454647c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3e957a41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3e957a41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032e2abe20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032e2abe20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032e2abe20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032e2abe20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032e2abe20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032e2abe20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032e2abe20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032e2abe20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032e2abe20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032e2abe20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032e2abe20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032e2abe20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031454647c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031454647c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032e2abe20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032e2abe20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032e2abe20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032e2abe20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7f9480a84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7f9480a84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type="ctrTitle"/>
          </p:nvPr>
        </p:nvSpPr>
        <p:spPr>
          <a:xfrm>
            <a:off x="1183709" y="1339007"/>
            <a:ext cx="5880900" cy="1757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Calibri"/>
              <a:buNone/>
              <a:defRPr b="1" i="0" sz="41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8" name="Google Shape;8;p2"/>
          <p:cNvSpPr txBox="1"/>
          <p:nvPr>
            <p:ph idx="1" type="subTitle"/>
          </p:nvPr>
        </p:nvSpPr>
        <p:spPr>
          <a:xfrm>
            <a:off x="1183709" y="3096024"/>
            <a:ext cx="58809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2" type="body"/>
          </p:nvPr>
        </p:nvSpPr>
        <p:spPr>
          <a:xfrm>
            <a:off x="1183709" y="3636920"/>
            <a:ext cx="5880900" cy="8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3" type="body"/>
          </p:nvPr>
        </p:nvSpPr>
        <p:spPr>
          <a:xfrm>
            <a:off x="1183709" y="4485884"/>
            <a:ext cx="49395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421971" y="1329896"/>
            <a:ext cx="7293300" cy="30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32726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BB03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57B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859820" y="4785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3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photo with text">
  <p:cSld name="Single photo with 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>
            <p:ph idx="2" type="pic"/>
          </p:nvPr>
        </p:nvSpPr>
        <p:spPr>
          <a:xfrm>
            <a:off x="700398" y="1329766"/>
            <a:ext cx="2953800" cy="29538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4010677" y="1329766"/>
            <a:ext cx="4510200" cy="29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BB03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57B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6859820" y="4785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uble photo with text">
  <p:cSld name="Double photo with 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/>
          <p:nvPr>
            <p:ph idx="2" type="pic"/>
          </p:nvPr>
        </p:nvSpPr>
        <p:spPr>
          <a:xfrm>
            <a:off x="700398" y="1241431"/>
            <a:ext cx="2987100" cy="1667100"/>
          </a:xfrm>
          <a:prstGeom prst="rect">
            <a:avLst/>
          </a:prstGeom>
          <a:noFill/>
          <a:ln>
            <a:noFill/>
          </a:ln>
        </p:spPr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700398" y="3151862"/>
            <a:ext cx="29970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BB03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57B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5"/>
          <p:cNvSpPr/>
          <p:nvPr>
            <p:ph idx="3" type="pic"/>
          </p:nvPr>
        </p:nvSpPr>
        <p:spPr>
          <a:xfrm>
            <a:off x="5430539" y="1241431"/>
            <a:ext cx="2987100" cy="16671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4" name="Google Shape;24;p5"/>
          <p:cNvCxnSpPr/>
          <p:nvPr/>
        </p:nvCxnSpPr>
        <p:spPr>
          <a:xfrm>
            <a:off x="4572000" y="1163485"/>
            <a:ext cx="0" cy="349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" name="Google Shape;25;p5"/>
          <p:cNvSpPr txBox="1"/>
          <p:nvPr>
            <p:ph idx="4" type="body"/>
          </p:nvPr>
        </p:nvSpPr>
        <p:spPr>
          <a:xfrm>
            <a:off x="5430539" y="3151862"/>
            <a:ext cx="29970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BB03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57B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6859820" y="4785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slide">
  <p:cSld name="Statement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idx="1" type="body"/>
          </p:nvPr>
        </p:nvSpPr>
        <p:spPr>
          <a:xfrm>
            <a:off x="1183710" y="1227953"/>
            <a:ext cx="6562200" cy="3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Arial"/>
              <a:buNone/>
              <a:defRPr b="1" i="0" sz="45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ding slide">
  <p:cSld name="Concluding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ctrTitle"/>
          </p:nvPr>
        </p:nvSpPr>
        <p:spPr>
          <a:xfrm>
            <a:off x="1183709" y="1260389"/>
            <a:ext cx="6313800" cy="14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32" name="Google Shape;32;p7"/>
          <p:cNvSpPr txBox="1"/>
          <p:nvPr>
            <p:ph idx="1" type="subTitle"/>
          </p:nvPr>
        </p:nvSpPr>
        <p:spPr>
          <a:xfrm>
            <a:off x="1183709" y="2718141"/>
            <a:ext cx="63138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7"/>
          <p:cNvSpPr txBox="1"/>
          <p:nvPr>
            <p:ph idx="2" type="body"/>
          </p:nvPr>
        </p:nvSpPr>
        <p:spPr>
          <a:xfrm>
            <a:off x="1183709" y="3315289"/>
            <a:ext cx="6313800" cy="1101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8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" name="Google Shape;36;p8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7" name="Google Shape;37;p8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38" name="Google Shape;38;p8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" name="Google Shape;39;p8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0" name="Google Shape;40;p8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41" name="Google Shape;41;p8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" name="Google Shape;42;p8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3" name="Google Shape;43;p8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400"/>
              <a:buChar char="●"/>
              <a:defRPr sz="5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400"/>
              <a:buChar char="○"/>
              <a:defRPr sz="5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400"/>
              <a:buChar char="■"/>
              <a:defRPr sz="5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400"/>
              <a:buChar char="●"/>
              <a:defRPr sz="5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400"/>
              <a:buChar char="○"/>
              <a:defRPr sz="5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400"/>
              <a:buChar char="■"/>
              <a:defRPr sz="5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400"/>
              <a:buChar char="●"/>
              <a:defRPr sz="5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400"/>
              <a:buChar char="○"/>
              <a:defRPr sz="5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400"/>
              <a:buChar char="■"/>
              <a:defRPr sz="5400"/>
            </a:lvl9pPr>
          </a:lstStyle>
          <a:p/>
        </p:txBody>
      </p:sp>
      <p:sp>
        <p:nvSpPr>
          <p:cNvPr id="44" name="Google Shape;44;p8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9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mailto:newalice@example.com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hyperlink" Target="mailto:john.doe@example.com" TargetMode="External"/><Relationship Id="rId4" Type="http://schemas.openxmlformats.org/officeDocument/2006/relationships/hyperlink" Target="mailto:john.doe@example.com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ctrTitle"/>
          </p:nvPr>
        </p:nvSpPr>
        <p:spPr>
          <a:xfrm>
            <a:off x="1183709" y="1339007"/>
            <a:ext cx="5880900" cy="17571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Scalable Data Analytics</a:t>
            </a:r>
            <a:endParaRPr/>
          </a:p>
        </p:txBody>
      </p:sp>
      <p:sp>
        <p:nvSpPr>
          <p:cNvPr id="56" name="Google Shape;56;p10"/>
          <p:cNvSpPr txBox="1"/>
          <p:nvPr>
            <p:ph idx="1" type="subTitle"/>
          </p:nvPr>
        </p:nvSpPr>
        <p:spPr>
          <a:xfrm>
            <a:off x="1183709" y="3096024"/>
            <a:ext cx="5880900" cy="53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SENG 550</a:t>
            </a:r>
            <a:endParaRPr/>
          </a:p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1183709" y="3636920"/>
            <a:ext cx="5880900" cy="8442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AKA. Big Data - Data Engineering</a:t>
            </a:r>
            <a:endParaRPr/>
          </a:p>
        </p:txBody>
      </p:sp>
      <p:sp>
        <p:nvSpPr>
          <p:cNvPr id="58" name="Google Shape;58;p10"/>
          <p:cNvSpPr txBox="1"/>
          <p:nvPr>
            <p:ph idx="3" type="body"/>
          </p:nvPr>
        </p:nvSpPr>
        <p:spPr>
          <a:xfrm>
            <a:off x="1183709" y="4485884"/>
            <a:ext cx="4939500" cy="39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Sarah Shah, Armin Zirak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Databases</a:t>
            </a:r>
            <a:endParaRPr sz="3000"/>
          </a:p>
        </p:txBody>
      </p:sp>
      <p:sp>
        <p:nvSpPr>
          <p:cNvPr id="64" name="Google Shape;64;p11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Databases</a:t>
            </a:r>
            <a:endParaRPr/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en" sz="1500"/>
              <a:t>Databases store and manage data and allow developers to create, read, update, and delete data. For example, SQL queries we went through are simple interfaces for SQL-based databases.</a:t>
            </a:r>
            <a:endParaRPr sz="15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</a:pPr>
            <a:r>
              <a:rPr b="1" lang="en" sz="1200"/>
              <a:t>INSERT </a:t>
            </a:r>
            <a:r>
              <a:rPr lang="en" sz="1200"/>
              <a:t>INTO Users (ID, Name, Email) VALUES (1, 'Alice', 'alice@example.com')</a:t>
            </a:r>
            <a:endParaRPr sz="1200"/>
          </a:p>
          <a:p>
            <a:pPr indent="-3048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</a:pPr>
            <a:r>
              <a:rPr b="1" lang="en" sz="1200">
                <a:highlight>
                  <a:srgbClr val="FFFFFE"/>
                </a:highlight>
              </a:rPr>
              <a:t>SELECT </a:t>
            </a:r>
            <a:r>
              <a:rPr lang="en" sz="1200">
                <a:highlight>
                  <a:srgbClr val="FFFFFE"/>
                </a:highlight>
              </a:rPr>
              <a:t>* FROM Users WHERE ID = </a:t>
            </a:r>
            <a:r>
              <a:rPr lang="en" sz="1200">
                <a:solidFill>
                  <a:srgbClr val="098658"/>
                </a:solidFill>
                <a:highlight>
                  <a:srgbClr val="FFFFFE"/>
                </a:highlight>
              </a:rPr>
              <a:t>1</a:t>
            </a:r>
            <a:r>
              <a:rPr lang="en" sz="1200">
                <a:highlight>
                  <a:srgbClr val="FFFFFE"/>
                </a:highlight>
              </a:rPr>
              <a:t>;</a:t>
            </a:r>
            <a:endParaRPr sz="1200">
              <a:highlight>
                <a:srgbClr val="FFFFFE"/>
              </a:highlight>
            </a:endParaRPr>
          </a:p>
          <a:p>
            <a:pPr indent="-3048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</a:pPr>
            <a:r>
              <a:rPr b="1" lang="en" sz="1200">
                <a:highlight>
                  <a:srgbClr val="FFFFFE"/>
                </a:highlight>
              </a:rPr>
              <a:t>UPDATE </a:t>
            </a:r>
            <a:r>
              <a:rPr lang="en" sz="1200">
                <a:highlight>
                  <a:srgbClr val="FFFFFE"/>
                </a:highlight>
              </a:rPr>
              <a:t>Users SET Email = '</a:t>
            </a:r>
            <a:r>
              <a:rPr lang="en" sz="1200">
                <a:highlight>
                  <a:srgbClr val="FFFFFE"/>
                </a:highlight>
                <a:uFill>
                  <a:noFill/>
                </a:uFill>
                <a:hlinkClick r:id="rId3"/>
              </a:rPr>
              <a:t>newalice@example.com</a:t>
            </a:r>
            <a:r>
              <a:rPr lang="en" sz="1200">
                <a:highlight>
                  <a:srgbClr val="FFFFFE"/>
                </a:highlight>
              </a:rPr>
              <a:t>' WHERE ID = 1;</a:t>
            </a:r>
            <a:endParaRPr sz="1200">
              <a:highlight>
                <a:srgbClr val="FFFFFE"/>
              </a:highlight>
            </a:endParaRPr>
          </a:p>
          <a:p>
            <a:pPr indent="-3048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</a:pPr>
            <a:r>
              <a:rPr b="1" lang="en" sz="1200">
                <a:highlight>
                  <a:srgbClr val="FFFFFE"/>
                </a:highlight>
              </a:rPr>
              <a:t>DELETE </a:t>
            </a:r>
            <a:r>
              <a:rPr lang="en" sz="1200">
                <a:highlight>
                  <a:srgbClr val="FFFFFE"/>
                </a:highlight>
              </a:rPr>
              <a:t>FROM Users WHERE ID = </a:t>
            </a:r>
            <a:r>
              <a:rPr lang="en" sz="1200">
                <a:solidFill>
                  <a:srgbClr val="098658"/>
                </a:solidFill>
                <a:highlight>
                  <a:srgbClr val="FFFFFE"/>
                </a:highlight>
              </a:rPr>
              <a:t>2</a:t>
            </a:r>
            <a:r>
              <a:rPr lang="en" sz="1200">
                <a:highlight>
                  <a:srgbClr val="FFFFFE"/>
                </a:highlight>
              </a:rPr>
              <a:t>;</a:t>
            </a:r>
            <a:endParaRPr sz="1600">
              <a:highlight>
                <a:srgbClr val="FFFFFE"/>
              </a:highlight>
            </a:endParaRPr>
          </a:p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rgbClr val="FFFFFE"/>
              </a:highlight>
            </a:endParaRPr>
          </a:p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highlight>
                  <a:srgbClr val="FFFFFE"/>
                </a:highlight>
              </a:rPr>
              <a:t>Have you ever thought how a database is implemented?</a:t>
            </a:r>
            <a:endParaRPr sz="1600">
              <a:highlight>
                <a:srgbClr val="FFFFFE"/>
              </a:highlight>
            </a:endParaRPr>
          </a:p>
          <a:p>
            <a:pPr indent="-3048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</a:pPr>
            <a:r>
              <a:rPr lang="en" sz="1400">
                <a:highlight>
                  <a:srgbClr val="FFFFFE"/>
                </a:highlight>
              </a:rPr>
              <a:t>When you run these queries, what happens behind the scenes to modify the data on the disk?</a:t>
            </a:r>
            <a:endParaRPr sz="1400">
              <a:highlight>
                <a:srgbClr val="FFFFFE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Database Using a Text File - Create</a:t>
            </a:r>
            <a:endParaRPr/>
          </a:p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We can implement a simple database using a text file and Python.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8000"/>
                </a:solidFill>
                <a:highlight>
                  <a:srgbClr val="FFFFFE"/>
                </a:highlight>
              </a:rPr>
              <a:t># File to act as the 'database'</a:t>
            </a:r>
            <a:endParaRPr sz="1350">
              <a:solidFill>
                <a:srgbClr val="008000"/>
              </a:solidFill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DATABASE_FILE = 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'employees.txt'</a:t>
            </a:r>
            <a:endParaRPr sz="1350">
              <a:solidFill>
                <a:srgbClr val="A31515"/>
              </a:solidFill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8000"/>
                </a:solidFill>
                <a:highlight>
                  <a:srgbClr val="FFFFFE"/>
                </a:highlight>
              </a:rPr>
              <a:t># Function to add a new employee to the database (Create)</a:t>
            </a:r>
            <a:endParaRPr sz="1350">
              <a:solidFill>
                <a:srgbClr val="008000"/>
              </a:solidFill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def</a:t>
            </a:r>
            <a:r>
              <a:rPr lang="en" sz="1350">
                <a:highlight>
                  <a:srgbClr val="FFFFFE"/>
                </a:highlight>
              </a:rPr>
              <a:t> add_employee(employee_id, name, department, salary):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with</a:t>
            </a:r>
            <a:r>
              <a:rPr lang="en" sz="1350">
                <a:highlight>
                  <a:srgbClr val="FFFFFE"/>
                </a:highlight>
              </a:rPr>
              <a:t>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open</a:t>
            </a:r>
            <a:r>
              <a:rPr lang="en" sz="1350">
                <a:highlight>
                  <a:srgbClr val="FFFFFE"/>
                </a:highlight>
              </a:rPr>
              <a:t>(DATABASE_FILE, 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'a'</a:t>
            </a:r>
            <a:r>
              <a:rPr lang="en" sz="1350">
                <a:highlight>
                  <a:srgbClr val="FFFFFE"/>
                </a:highlight>
              </a:rPr>
              <a:t>)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as</a:t>
            </a:r>
            <a:r>
              <a:rPr lang="en" sz="1350">
                <a:highlight>
                  <a:srgbClr val="FFFFFE"/>
                </a:highlight>
              </a:rPr>
              <a:t>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file</a:t>
            </a:r>
            <a:r>
              <a:rPr lang="en" sz="1350">
                <a:highlight>
                  <a:srgbClr val="FFFFFE"/>
                </a:highlight>
              </a:rPr>
              <a:t>: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file</a:t>
            </a:r>
            <a:r>
              <a:rPr lang="en" sz="1350">
                <a:highlight>
                  <a:srgbClr val="FFFFFE"/>
                </a:highlight>
              </a:rPr>
              <a:t>.write(f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"{employee_id},{name},{department},{salary}\n"</a:t>
            </a:r>
            <a:r>
              <a:rPr lang="en" sz="1350">
                <a:highlight>
                  <a:srgbClr val="FFFFFE"/>
                </a:highlight>
              </a:rPr>
              <a:t>)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print</a:t>
            </a:r>
            <a:r>
              <a:rPr lang="en" sz="1350">
                <a:highlight>
                  <a:srgbClr val="FFFFFE"/>
                </a:highlight>
              </a:rPr>
              <a:t>(f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"Employee {name} added successfully!"</a:t>
            </a:r>
            <a:r>
              <a:rPr lang="en" sz="1350">
                <a:highlight>
                  <a:srgbClr val="FFFFFE"/>
                </a:highlight>
              </a:rPr>
              <a:t>)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50">
              <a:highlight>
                <a:srgbClr val="FFFFFE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Database Using a Text File - Read</a:t>
            </a:r>
            <a:endParaRPr/>
          </a:p>
        </p:txBody>
      </p:sp>
      <p:sp>
        <p:nvSpPr>
          <p:cNvPr id="82" name="Google Shape;82;p14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8000"/>
                </a:solidFill>
                <a:highlight>
                  <a:srgbClr val="FFFFFE"/>
                </a:highlight>
              </a:rPr>
              <a:t># Function to read all employees from the database (READ)</a:t>
            </a:r>
            <a:endParaRPr sz="1350">
              <a:solidFill>
                <a:srgbClr val="008000"/>
              </a:solidFill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def</a:t>
            </a:r>
            <a:r>
              <a:rPr lang="en" sz="1350">
                <a:highlight>
                  <a:srgbClr val="FFFFFE"/>
                </a:highlight>
              </a:rPr>
              <a:t> read_employees():</a:t>
            </a:r>
            <a:endParaRPr sz="1350">
              <a:solidFill>
                <a:srgbClr val="0000FF"/>
              </a:solidFill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</a:t>
            </a:r>
            <a:r>
              <a:rPr lang="en" sz="1350">
                <a:highlight>
                  <a:srgbClr val="FFFFFE"/>
                </a:highlight>
              </a:rPr>
              <a:t>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with</a:t>
            </a:r>
            <a:r>
              <a:rPr lang="en" sz="1350">
                <a:highlight>
                  <a:srgbClr val="FFFFFE"/>
                </a:highlight>
              </a:rPr>
              <a:t>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open</a:t>
            </a:r>
            <a:r>
              <a:rPr lang="en" sz="1350">
                <a:highlight>
                  <a:srgbClr val="FFFFFE"/>
                </a:highlight>
              </a:rPr>
              <a:t>(DATABASE_FILE, 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'r'</a:t>
            </a:r>
            <a:r>
              <a:rPr lang="en" sz="1350">
                <a:highlight>
                  <a:srgbClr val="FFFFFE"/>
                </a:highlight>
              </a:rPr>
              <a:t>)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as</a:t>
            </a:r>
            <a:r>
              <a:rPr lang="en" sz="1350">
                <a:highlight>
                  <a:srgbClr val="FFFFFE"/>
                </a:highlight>
              </a:rPr>
              <a:t>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file</a:t>
            </a:r>
            <a:r>
              <a:rPr lang="en" sz="1350">
                <a:highlight>
                  <a:srgbClr val="FFFFFE"/>
                </a:highlight>
              </a:rPr>
              <a:t>: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    records =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file</a:t>
            </a:r>
            <a:r>
              <a:rPr lang="en" sz="1350">
                <a:highlight>
                  <a:srgbClr val="FFFFFE"/>
                </a:highlight>
              </a:rPr>
              <a:t>.readlines()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print</a:t>
            </a:r>
            <a:r>
              <a:rPr lang="en" sz="1350">
                <a:highlight>
                  <a:srgbClr val="FFFFFE"/>
                </a:highlight>
              </a:rPr>
              <a:t>(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"ID | Name | Department | Salary"</a:t>
            </a:r>
            <a:r>
              <a:rPr lang="en" sz="1350">
                <a:highlight>
                  <a:srgbClr val="FFFFFE"/>
                </a:highlight>
              </a:rPr>
              <a:t>)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for</a:t>
            </a:r>
            <a:r>
              <a:rPr lang="en" sz="1350">
                <a:highlight>
                  <a:srgbClr val="FFFFFE"/>
                </a:highlight>
              </a:rPr>
              <a:t> record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in</a:t>
            </a:r>
            <a:r>
              <a:rPr lang="en" sz="1350">
                <a:highlight>
                  <a:srgbClr val="FFFFFE"/>
                </a:highlight>
              </a:rPr>
              <a:t> records: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        employee_id, name, department, salary = record.strip().split(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','</a:t>
            </a:r>
            <a:r>
              <a:rPr lang="en" sz="1350">
                <a:highlight>
                  <a:srgbClr val="FFFFFE"/>
                </a:highlight>
              </a:rPr>
              <a:t>)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    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print</a:t>
            </a:r>
            <a:r>
              <a:rPr lang="en" sz="1350">
                <a:highlight>
                  <a:srgbClr val="FFFFFE"/>
                </a:highlight>
              </a:rPr>
              <a:t>(f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"{employee_id} | {name} | {department} | ${salary}"</a:t>
            </a:r>
            <a:r>
              <a:rPr lang="en" sz="1350">
                <a:highlight>
                  <a:srgbClr val="FFFFFE"/>
                </a:highlight>
              </a:rPr>
              <a:t>)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050"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Database Using a Text File - Read</a:t>
            </a:r>
            <a:endParaRPr/>
          </a:p>
        </p:txBody>
      </p:sp>
      <p:sp>
        <p:nvSpPr>
          <p:cNvPr id="88" name="Google Shape;88;p15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008000"/>
                </a:solidFill>
                <a:highlight>
                  <a:srgbClr val="FFFFFE"/>
                </a:highlight>
              </a:rPr>
              <a:t># Function to search for an employee by ID (READ)</a:t>
            </a:r>
            <a:endParaRPr sz="1350">
              <a:solidFill>
                <a:srgbClr val="008000"/>
              </a:solidFill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def</a:t>
            </a:r>
            <a:r>
              <a:rPr lang="en" sz="1350">
                <a:highlight>
                  <a:srgbClr val="FFFFFE"/>
                </a:highlight>
              </a:rPr>
              <a:t> search_employee(employee_id):</a:t>
            </a:r>
            <a:endParaRPr sz="1350">
              <a:solidFill>
                <a:srgbClr val="0000FF"/>
              </a:solidFill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highlight>
                  <a:srgbClr val="FFFFFE"/>
                </a:highlight>
              </a:rPr>
              <a:t>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with</a:t>
            </a:r>
            <a:r>
              <a:rPr lang="en" sz="1350">
                <a:highlight>
                  <a:srgbClr val="FFFFFE"/>
                </a:highlight>
              </a:rPr>
              <a:t>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open</a:t>
            </a:r>
            <a:r>
              <a:rPr lang="en" sz="1350">
                <a:highlight>
                  <a:srgbClr val="FFFFFE"/>
                </a:highlight>
              </a:rPr>
              <a:t>(DATABASE_FILE, 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'r'</a:t>
            </a:r>
            <a:r>
              <a:rPr lang="en" sz="1350">
                <a:highlight>
                  <a:srgbClr val="FFFFFE"/>
                </a:highlight>
              </a:rPr>
              <a:t>)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as</a:t>
            </a:r>
            <a:r>
              <a:rPr lang="en" sz="1350">
                <a:highlight>
                  <a:srgbClr val="FFFFFE"/>
                </a:highlight>
              </a:rPr>
              <a:t>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file</a:t>
            </a:r>
            <a:r>
              <a:rPr lang="en" sz="1350">
                <a:highlight>
                  <a:srgbClr val="FFFFFE"/>
                </a:highlight>
              </a:rPr>
              <a:t>: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highlight>
                  <a:srgbClr val="FFFFFE"/>
                </a:highlight>
              </a:rPr>
              <a:t>        records =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file</a:t>
            </a:r>
            <a:r>
              <a:rPr lang="en" sz="1350">
                <a:highlight>
                  <a:srgbClr val="FFFFFE"/>
                </a:highlight>
              </a:rPr>
              <a:t>.readlines()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highlight>
                  <a:srgbClr val="FFFFFE"/>
                </a:highlight>
              </a:rPr>
              <a:t>    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for</a:t>
            </a:r>
            <a:r>
              <a:rPr lang="en" sz="1350">
                <a:highlight>
                  <a:srgbClr val="FFFFFE"/>
                </a:highlight>
              </a:rPr>
              <a:t> record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in</a:t>
            </a:r>
            <a:r>
              <a:rPr lang="en" sz="1350">
                <a:highlight>
                  <a:srgbClr val="FFFFFE"/>
                </a:highlight>
              </a:rPr>
              <a:t> records: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highlight>
                  <a:srgbClr val="FFFFFE"/>
                </a:highlight>
              </a:rPr>
              <a:t>            emp_id, name, department, salary = record.strip().split(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','</a:t>
            </a:r>
            <a:r>
              <a:rPr lang="en" sz="1350">
                <a:highlight>
                  <a:srgbClr val="FFFFFE"/>
                </a:highlight>
              </a:rPr>
              <a:t>)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highlight>
                  <a:srgbClr val="FFFFFE"/>
                </a:highlight>
              </a:rPr>
              <a:t>        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if</a:t>
            </a:r>
            <a:r>
              <a:rPr lang="en" sz="1350">
                <a:highlight>
                  <a:srgbClr val="FFFFFE"/>
                </a:highlight>
              </a:rPr>
              <a:t> emp_id == employee_id: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highlight>
                  <a:srgbClr val="FFFFFE"/>
                </a:highlight>
              </a:rPr>
              <a:t>            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print</a:t>
            </a:r>
            <a:r>
              <a:rPr lang="en" sz="1350">
                <a:highlight>
                  <a:srgbClr val="FFFFFE"/>
                </a:highlight>
              </a:rPr>
              <a:t>(f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"Found Employee: {name} - Department: {department}, Salary: ${salary}"</a:t>
            </a:r>
            <a:r>
              <a:rPr lang="en" sz="1350">
                <a:highlight>
                  <a:srgbClr val="FFFFFE"/>
                </a:highlight>
              </a:rPr>
              <a:t>)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highlight>
                  <a:srgbClr val="FFFFFE"/>
                </a:highlight>
              </a:rPr>
              <a:t>            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return</a:t>
            </a:r>
            <a:endParaRPr sz="1350">
              <a:solidFill>
                <a:srgbClr val="0000FF"/>
              </a:solidFill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highlight>
                  <a:srgbClr val="FFFFFE"/>
                </a:highlight>
              </a:rPr>
              <a:t>    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print</a:t>
            </a:r>
            <a:r>
              <a:rPr lang="en" sz="1350">
                <a:highlight>
                  <a:srgbClr val="FFFFFE"/>
                </a:highlight>
              </a:rPr>
              <a:t>(f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"Employee with ID {employee_id} not found!"</a:t>
            </a:r>
            <a:r>
              <a:rPr lang="en" sz="1350">
                <a:highlight>
                  <a:srgbClr val="FFFFFE"/>
                </a:highlight>
              </a:rPr>
              <a:t>)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08000"/>
              </a:solidFill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50">
              <a:highlight>
                <a:srgbClr val="FFFFFE"/>
              </a:highlight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2103800" y="4051875"/>
            <a:ext cx="4983000" cy="56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elect * from employee where employee_id = 1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Database Using a Text File - Delete</a:t>
            </a:r>
            <a:endParaRPr/>
          </a:p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8000"/>
                </a:solidFill>
                <a:highlight>
                  <a:srgbClr val="FFFFFE"/>
                </a:highlight>
              </a:rPr>
              <a:t># Function to delete a record by ID</a:t>
            </a:r>
            <a:endParaRPr sz="1350">
              <a:solidFill>
                <a:srgbClr val="008000"/>
              </a:solidFill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def</a:t>
            </a:r>
            <a:r>
              <a:rPr lang="en" sz="1350">
                <a:highlight>
                  <a:srgbClr val="FFFFFE"/>
                </a:highlight>
              </a:rPr>
              <a:t> delete(</a:t>
            </a:r>
            <a:r>
              <a:rPr lang="en" sz="1350">
                <a:highlight>
                  <a:srgbClr val="FFFFFE"/>
                </a:highlight>
              </a:rPr>
              <a:t>employee_id</a:t>
            </a:r>
            <a:r>
              <a:rPr lang="en" sz="1350">
                <a:highlight>
                  <a:srgbClr val="FFFFFE"/>
                </a:highlight>
              </a:rPr>
              <a:t>):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with</a:t>
            </a:r>
            <a:r>
              <a:rPr lang="en" sz="1350">
                <a:highlight>
                  <a:srgbClr val="FFFFFE"/>
                </a:highlight>
              </a:rPr>
              <a:t>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open</a:t>
            </a:r>
            <a:r>
              <a:rPr lang="en" sz="1350">
                <a:highlight>
                  <a:srgbClr val="FFFFFE"/>
                </a:highlight>
              </a:rPr>
              <a:t>(</a:t>
            </a:r>
            <a:r>
              <a:rPr lang="en" sz="1350">
                <a:highlight>
                  <a:srgbClr val="FFFFFE"/>
                </a:highlight>
              </a:rPr>
              <a:t>DATABASE_FILE</a:t>
            </a:r>
            <a:r>
              <a:rPr lang="en" sz="1350">
                <a:highlight>
                  <a:srgbClr val="FFFFFE"/>
                </a:highlight>
              </a:rPr>
              <a:t>, 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'r'</a:t>
            </a:r>
            <a:r>
              <a:rPr lang="en" sz="1350">
                <a:highlight>
                  <a:srgbClr val="FFFFFE"/>
                </a:highlight>
              </a:rPr>
              <a:t>)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as</a:t>
            </a:r>
            <a:r>
              <a:rPr lang="en" sz="1350">
                <a:highlight>
                  <a:srgbClr val="FFFFFE"/>
                </a:highlight>
              </a:rPr>
              <a:t> db_file: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    records = db_file.readlines()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with</a:t>
            </a:r>
            <a:r>
              <a:rPr lang="en" sz="1350">
                <a:highlight>
                  <a:srgbClr val="FFFFFE"/>
                </a:highlight>
              </a:rPr>
              <a:t>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open</a:t>
            </a:r>
            <a:r>
              <a:rPr lang="en" sz="1350">
                <a:highlight>
                  <a:srgbClr val="FFFFFE"/>
                </a:highlight>
              </a:rPr>
              <a:t>(</a:t>
            </a:r>
            <a:r>
              <a:rPr lang="en" sz="1350">
                <a:highlight>
                  <a:srgbClr val="FFFFFE"/>
                </a:highlight>
              </a:rPr>
              <a:t>DATABASE_FILE</a:t>
            </a:r>
            <a:r>
              <a:rPr lang="en" sz="1350">
                <a:highlight>
                  <a:srgbClr val="FFFFFE"/>
                </a:highlight>
              </a:rPr>
              <a:t>, 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'w'</a:t>
            </a:r>
            <a:r>
              <a:rPr lang="en" sz="1350">
                <a:highlight>
                  <a:srgbClr val="FFFFFE"/>
                </a:highlight>
              </a:rPr>
              <a:t>)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as</a:t>
            </a:r>
            <a:r>
              <a:rPr lang="en" sz="1350">
                <a:highlight>
                  <a:srgbClr val="FFFFFE"/>
                </a:highlight>
              </a:rPr>
              <a:t> db_file: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for</a:t>
            </a:r>
            <a:r>
              <a:rPr lang="en" sz="1350">
                <a:highlight>
                  <a:srgbClr val="FFFFFE"/>
                </a:highlight>
              </a:rPr>
              <a:t> record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in</a:t>
            </a:r>
            <a:r>
              <a:rPr lang="en" sz="1350">
                <a:highlight>
                  <a:srgbClr val="FFFFFE"/>
                </a:highlight>
              </a:rPr>
              <a:t> records: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    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if</a:t>
            </a:r>
            <a:r>
              <a:rPr lang="en" sz="1350">
                <a:highlight>
                  <a:srgbClr val="FFFFFE"/>
                </a:highlight>
              </a:rPr>
              <a:t>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not</a:t>
            </a:r>
            <a:r>
              <a:rPr lang="en" sz="1350">
                <a:highlight>
                  <a:srgbClr val="FFFFFE"/>
                </a:highlight>
              </a:rPr>
              <a:t> record.startswith(f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'{employee_id},'</a:t>
            </a:r>
            <a:r>
              <a:rPr lang="en" sz="1350">
                <a:highlight>
                  <a:srgbClr val="FFFFFE"/>
                </a:highlight>
              </a:rPr>
              <a:t>):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            db_file.write(record)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    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else</a:t>
            </a:r>
            <a:r>
              <a:rPr lang="en" sz="1350">
                <a:highlight>
                  <a:srgbClr val="FFFFFE"/>
                </a:highlight>
              </a:rPr>
              <a:t>: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        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print</a:t>
            </a:r>
            <a:r>
              <a:rPr lang="en" sz="1350">
                <a:highlight>
                  <a:srgbClr val="FFFFFE"/>
                </a:highlight>
              </a:rPr>
              <a:t>(f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"Deleted record with ID: {user_id}"</a:t>
            </a:r>
            <a:r>
              <a:rPr lang="en" sz="1350">
                <a:highlight>
                  <a:srgbClr val="FFFFFE"/>
                </a:highlight>
              </a:rPr>
              <a:t>)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rgbClr val="008000"/>
              </a:solidFill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50">
              <a:highlight>
                <a:srgbClr val="FFFFFE"/>
              </a:highlight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2103800" y="4051875"/>
            <a:ext cx="4983000" cy="56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delete from employee where employee_id = 1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Database Using a Text File - Delete</a:t>
            </a:r>
            <a:endParaRPr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8000"/>
                </a:solidFill>
                <a:highlight>
                  <a:srgbClr val="FFFFFE"/>
                </a:highlight>
              </a:rPr>
              <a:t># Function to delete a record by ID</a:t>
            </a:r>
            <a:endParaRPr sz="1350">
              <a:solidFill>
                <a:srgbClr val="008000"/>
              </a:solidFill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def</a:t>
            </a:r>
            <a:r>
              <a:rPr lang="en" sz="1350">
                <a:highlight>
                  <a:srgbClr val="FFFFFE"/>
                </a:highlight>
              </a:rPr>
              <a:t> delete(employee_id):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with</a:t>
            </a:r>
            <a:r>
              <a:rPr lang="en" sz="1350">
                <a:highlight>
                  <a:srgbClr val="FFFFFE"/>
                </a:highlight>
              </a:rPr>
              <a:t>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open</a:t>
            </a:r>
            <a:r>
              <a:rPr lang="en" sz="1350">
                <a:highlight>
                  <a:srgbClr val="FFFFFE"/>
                </a:highlight>
              </a:rPr>
              <a:t>(DATABASE_FILE, 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'r'</a:t>
            </a:r>
            <a:r>
              <a:rPr lang="en" sz="1350">
                <a:highlight>
                  <a:srgbClr val="FFFFFE"/>
                </a:highlight>
              </a:rPr>
              <a:t>)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as</a:t>
            </a:r>
            <a:r>
              <a:rPr lang="en" sz="1350">
                <a:highlight>
                  <a:srgbClr val="FFFFFE"/>
                </a:highlight>
              </a:rPr>
              <a:t> db_file: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    records = db_file.readlines()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with</a:t>
            </a:r>
            <a:r>
              <a:rPr lang="en" sz="1350">
                <a:highlight>
                  <a:srgbClr val="FFFFFE"/>
                </a:highlight>
              </a:rPr>
              <a:t>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open</a:t>
            </a:r>
            <a:r>
              <a:rPr lang="en" sz="1350">
                <a:highlight>
                  <a:srgbClr val="FFFFFE"/>
                </a:highlight>
              </a:rPr>
              <a:t>(DATABASE_FILE, 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'w'</a:t>
            </a:r>
            <a:r>
              <a:rPr lang="en" sz="1350">
                <a:highlight>
                  <a:srgbClr val="FFFFFE"/>
                </a:highlight>
              </a:rPr>
              <a:t>)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as</a:t>
            </a:r>
            <a:r>
              <a:rPr lang="en" sz="1350">
                <a:highlight>
                  <a:srgbClr val="FFFFFE"/>
                </a:highlight>
              </a:rPr>
              <a:t> db_file: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for</a:t>
            </a:r>
            <a:r>
              <a:rPr lang="en" sz="1350">
                <a:highlight>
                  <a:srgbClr val="FFFFFE"/>
                </a:highlight>
              </a:rPr>
              <a:t> record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in</a:t>
            </a:r>
            <a:r>
              <a:rPr lang="en" sz="1350">
                <a:highlight>
                  <a:srgbClr val="FFFFFE"/>
                </a:highlight>
              </a:rPr>
              <a:t> records: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    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if</a:t>
            </a:r>
            <a:r>
              <a:rPr lang="en" sz="1350">
                <a:highlight>
                  <a:srgbClr val="FFFFFE"/>
                </a:highlight>
              </a:rPr>
              <a:t>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not</a:t>
            </a:r>
            <a:r>
              <a:rPr lang="en" sz="1350">
                <a:highlight>
                  <a:srgbClr val="FFFFFE"/>
                </a:highlight>
              </a:rPr>
              <a:t> record.startswith(f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'{employee_id},'</a:t>
            </a:r>
            <a:r>
              <a:rPr lang="en" sz="1350">
                <a:highlight>
                  <a:srgbClr val="FFFFFE"/>
                </a:highlight>
              </a:rPr>
              <a:t>):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            db_file.write(record)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    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else</a:t>
            </a:r>
            <a:r>
              <a:rPr lang="en" sz="1350">
                <a:highlight>
                  <a:srgbClr val="FFFFFE"/>
                </a:highlight>
              </a:rPr>
              <a:t>: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        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print</a:t>
            </a:r>
            <a:r>
              <a:rPr lang="en" sz="1350">
                <a:highlight>
                  <a:srgbClr val="FFFFFE"/>
                </a:highlight>
              </a:rPr>
              <a:t>(f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"Deleted record with ID: {user_id}"</a:t>
            </a:r>
            <a:r>
              <a:rPr lang="en" sz="1350">
                <a:highlight>
                  <a:srgbClr val="FFFFFE"/>
                </a:highlight>
              </a:rPr>
              <a:t>)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rgbClr val="008000"/>
              </a:solidFill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50">
              <a:highlight>
                <a:srgbClr val="FFFFFE"/>
              </a:highlight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322775" y="4105400"/>
            <a:ext cx="84525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Delete operation is inefficient in this case as it rewrites the whole data every time.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Database Using a Text File - Update</a:t>
            </a:r>
            <a:endParaRPr/>
          </a:p>
        </p:txBody>
      </p:sp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8000"/>
                </a:solidFill>
                <a:highlight>
                  <a:srgbClr val="FFFFFE"/>
                </a:highlight>
              </a:rPr>
              <a:t># Function to update a record by ID</a:t>
            </a:r>
            <a:endParaRPr sz="1350">
              <a:solidFill>
                <a:srgbClr val="008000"/>
              </a:solidFill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def</a:t>
            </a:r>
            <a:r>
              <a:rPr lang="en" sz="1350">
                <a:highlight>
                  <a:srgbClr val="FFFFFE"/>
                </a:highlight>
              </a:rPr>
              <a:t> update(employee_id, new_email):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highlight>
                  <a:srgbClr val="FFFFFE"/>
                </a:highlight>
              </a:rPr>
              <a:t>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with</a:t>
            </a:r>
            <a:r>
              <a:rPr lang="en" sz="1350">
                <a:highlight>
                  <a:srgbClr val="FFFFFE"/>
                </a:highlight>
              </a:rPr>
              <a:t>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open</a:t>
            </a:r>
            <a:r>
              <a:rPr lang="en" sz="1350">
                <a:highlight>
                  <a:srgbClr val="FFFFFE"/>
                </a:highlight>
              </a:rPr>
              <a:t>(DATABASE_FILE, 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'r'</a:t>
            </a:r>
            <a:r>
              <a:rPr lang="en" sz="1350">
                <a:highlight>
                  <a:srgbClr val="FFFFFE"/>
                </a:highlight>
              </a:rPr>
              <a:t>)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as</a:t>
            </a:r>
            <a:r>
              <a:rPr lang="en" sz="1350">
                <a:highlight>
                  <a:srgbClr val="FFFFFE"/>
                </a:highlight>
              </a:rPr>
              <a:t> db_file: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highlight>
                  <a:srgbClr val="FFFFFE"/>
                </a:highlight>
              </a:rPr>
              <a:t>        records = db_file.readlines()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highlight>
                  <a:srgbClr val="FFFFFE"/>
                </a:highlight>
              </a:rPr>
              <a:t>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with</a:t>
            </a:r>
            <a:r>
              <a:rPr lang="en" sz="1350">
                <a:highlight>
                  <a:srgbClr val="FFFFFE"/>
                </a:highlight>
              </a:rPr>
              <a:t>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open</a:t>
            </a:r>
            <a:r>
              <a:rPr lang="en" sz="1350">
                <a:highlight>
                  <a:srgbClr val="FFFFFE"/>
                </a:highlight>
              </a:rPr>
              <a:t>(</a:t>
            </a:r>
            <a:r>
              <a:rPr lang="en" sz="1350">
                <a:highlight>
                  <a:srgbClr val="FFFFFE"/>
                </a:highlight>
              </a:rPr>
              <a:t>DATABASE_FILE</a:t>
            </a:r>
            <a:r>
              <a:rPr lang="en" sz="1350">
                <a:highlight>
                  <a:srgbClr val="FFFFFE"/>
                </a:highlight>
              </a:rPr>
              <a:t>, 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'w'</a:t>
            </a:r>
            <a:r>
              <a:rPr lang="en" sz="1350">
                <a:highlight>
                  <a:srgbClr val="FFFFFE"/>
                </a:highlight>
              </a:rPr>
              <a:t>)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as</a:t>
            </a:r>
            <a:r>
              <a:rPr lang="en" sz="1350">
                <a:highlight>
                  <a:srgbClr val="FFFFFE"/>
                </a:highlight>
              </a:rPr>
              <a:t> db_file: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highlight>
                  <a:srgbClr val="FFFFFE"/>
                </a:highlight>
              </a:rPr>
              <a:t>    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for</a:t>
            </a:r>
            <a:r>
              <a:rPr lang="en" sz="1350">
                <a:highlight>
                  <a:srgbClr val="FFFFFE"/>
                </a:highlight>
              </a:rPr>
              <a:t> record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in</a:t>
            </a:r>
            <a:r>
              <a:rPr lang="en" sz="1350">
                <a:highlight>
                  <a:srgbClr val="FFFFFE"/>
                </a:highlight>
              </a:rPr>
              <a:t> records: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highlight>
                  <a:srgbClr val="FFFFFE"/>
                </a:highlight>
              </a:rPr>
              <a:t>            record_data = record.strip().split(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','</a:t>
            </a:r>
            <a:r>
              <a:rPr lang="en" sz="1350">
                <a:highlight>
                  <a:srgbClr val="FFFFFE"/>
                </a:highlight>
              </a:rPr>
              <a:t>)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highlight>
                  <a:srgbClr val="FFFFFE"/>
                </a:highlight>
              </a:rPr>
              <a:t>        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if</a:t>
            </a:r>
            <a:r>
              <a:rPr lang="en" sz="1350">
                <a:highlight>
                  <a:srgbClr val="FFFFFE"/>
                </a:highlight>
              </a:rPr>
              <a:t> record_data[</a:t>
            </a:r>
            <a:r>
              <a:rPr lang="en" sz="1350">
                <a:solidFill>
                  <a:srgbClr val="098658"/>
                </a:solidFill>
                <a:highlight>
                  <a:srgbClr val="FFFFFE"/>
                </a:highlight>
              </a:rPr>
              <a:t>0</a:t>
            </a:r>
            <a:r>
              <a:rPr lang="en" sz="1350">
                <a:highlight>
                  <a:srgbClr val="FFFFFE"/>
                </a:highlight>
              </a:rPr>
              <a:t>] == user_id: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highlight>
                  <a:srgbClr val="FFFFFE"/>
                </a:highlight>
              </a:rPr>
              <a:t>                record_data[</a:t>
            </a:r>
            <a:r>
              <a:rPr lang="en" sz="1350">
                <a:solidFill>
                  <a:srgbClr val="098658"/>
                </a:solidFill>
                <a:highlight>
                  <a:srgbClr val="FFFFFE"/>
                </a:highlight>
              </a:rPr>
              <a:t>2</a:t>
            </a:r>
            <a:r>
              <a:rPr lang="en" sz="1350">
                <a:highlight>
                  <a:srgbClr val="FFFFFE"/>
                </a:highlight>
              </a:rPr>
              <a:t>] = new_email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highlight>
                  <a:srgbClr val="FFFFFE"/>
                </a:highlight>
              </a:rPr>
              <a:t>            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print</a:t>
            </a:r>
            <a:r>
              <a:rPr lang="en" sz="1350">
                <a:highlight>
                  <a:srgbClr val="FFFFFE"/>
                </a:highlight>
              </a:rPr>
              <a:t>(f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"Updated email for user {user_id} to {new_email}"</a:t>
            </a:r>
            <a:r>
              <a:rPr lang="en" sz="1350">
                <a:highlight>
                  <a:srgbClr val="FFFFFE"/>
                </a:highlight>
              </a:rPr>
              <a:t>)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        db_file.write(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','</a:t>
            </a:r>
            <a:r>
              <a:rPr lang="en" sz="1350">
                <a:highlight>
                  <a:srgbClr val="FFFFFE"/>
                </a:highlight>
              </a:rPr>
              <a:t>.join(record_data) + 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'\n'</a:t>
            </a:r>
            <a:r>
              <a:rPr lang="en" sz="1350">
                <a:highlight>
                  <a:srgbClr val="FFFFFE"/>
                </a:highlight>
              </a:rPr>
              <a:t>)</a:t>
            </a:r>
            <a:endParaRPr sz="1350">
              <a:solidFill>
                <a:srgbClr val="0000FF"/>
              </a:solidFill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08000"/>
              </a:solidFill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50">
              <a:highlight>
                <a:srgbClr val="FFFFFE"/>
              </a:highlight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322775" y="4105400"/>
            <a:ext cx="84525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Similar to delete, update is inefficient in this case.</a:t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4753425" y="2022700"/>
            <a:ext cx="3789300" cy="1051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 employee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email = {new_email}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employee_id = {</a:t>
            </a:r>
            <a:r>
              <a:rPr lang="en">
                <a:solidFill>
                  <a:schemeClr val="dk1"/>
                </a:solidFill>
              </a:rPr>
              <a:t>employee_id</a:t>
            </a:r>
            <a:r>
              <a:rPr lang="en"/>
              <a:t>}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Enhanced Simple Database - Update</a:t>
            </a:r>
            <a:endParaRPr/>
          </a:p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421975" y="1052375"/>
            <a:ext cx="8504100" cy="364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To improve efficiency, database can append updated rows to the end of the file instead of overwriting existing ones.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This approach creates duplicate records.</a:t>
            </a:r>
            <a:endParaRPr sz="1600"/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008000"/>
                </a:solidFill>
                <a:highlight>
                  <a:srgbClr val="FFFFFE"/>
                </a:highlight>
              </a:rPr>
              <a:t># UPDATE: Append a new row with updated information</a:t>
            </a:r>
            <a:endParaRPr sz="1350">
              <a:solidFill>
                <a:srgbClr val="008000"/>
              </a:solidFill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def</a:t>
            </a:r>
            <a:r>
              <a:rPr lang="en" sz="1350">
                <a:highlight>
                  <a:srgbClr val="FFFFFE"/>
                </a:highlight>
              </a:rPr>
              <a:t> update(</a:t>
            </a:r>
            <a:r>
              <a:rPr lang="en" sz="1350">
                <a:highlight>
                  <a:srgbClr val="FFFFFE"/>
                </a:highlight>
              </a:rPr>
              <a:t>employee_id</a:t>
            </a:r>
            <a:r>
              <a:rPr lang="en" sz="1350">
                <a:highlight>
                  <a:srgbClr val="FFFFFE"/>
                </a:highlight>
              </a:rPr>
              <a:t>, new_email):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</a:t>
            </a:r>
            <a:r>
              <a:rPr lang="en" sz="1350">
                <a:highlight>
                  <a:srgbClr val="FFFFFE"/>
                </a:highlight>
              </a:rPr>
              <a:t>e</a:t>
            </a:r>
            <a:r>
              <a:rPr lang="en" sz="1350">
                <a:highlight>
                  <a:srgbClr val="FFFFFE"/>
                </a:highlight>
              </a:rPr>
              <a:t>mployee = search_employees(employee_id)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highlight>
                  <a:srgbClr val="FFFFFE"/>
                </a:highlight>
              </a:rPr>
              <a:t>    add_employee(employee_id, **employee);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graphicFrame>
        <p:nvGraphicFramePr>
          <p:cNvPr id="118" name="Google Shape;118;p19"/>
          <p:cNvGraphicFramePr/>
          <p:nvPr/>
        </p:nvGraphicFramePr>
        <p:xfrm>
          <a:off x="894100" y="323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{D3C51440-840C-45B0-8242-D40FFC1250FC}</a:tableStyleId>
              </a:tblPr>
              <a:tblGrid>
                <a:gridCol w="2413000"/>
                <a:gridCol w="3454350"/>
                <a:gridCol w="13716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employee_id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email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…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armin.zirak_old@ucalgary.ca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sarah.shah1@ucalgary.ca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armin.zirak_new@ucalgary.ca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Enhanced Simple Database - Read</a:t>
            </a:r>
            <a:endParaRPr/>
          </a:p>
        </p:txBody>
      </p: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 the read function, database only needs to retrieve the most recent entry.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350">
                <a:solidFill>
                  <a:srgbClr val="008000"/>
                </a:solidFill>
                <a:highlight>
                  <a:srgbClr val="FFFFFE"/>
                </a:highlight>
              </a:rPr>
              <a:t># READ: Retrieve the most recent record by ID</a:t>
            </a:r>
            <a:endParaRPr sz="1350">
              <a:solidFill>
                <a:srgbClr val="008000"/>
              </a:solidFill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highlight>
                  <a:srgbClr val="FFFFFE"/>
                </a:highlight>
              </a:rPr>
              <a:t>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def</a:t>
            </a:r>
            <a:r>
              <a:rPr lang="en" sz="1350">
                <a:highlight>
                  <a:srgbClr val="FFFFFE"/>
                </a:highlight>
              </a:rPr>
              <a:t> read(</a:t>
            </a:r>
            <a:r>
              <a:rPr lang="en" sz="1350">
                <a:highlight>
                  <a:srgbClr val="FFFFFE"/>
                </a:highlight>
              </a:rPr>
              <a:t>employee_id</a:t>
            </a:r>
            <a:r>
              <a:rPr lang="en" sz="1350">
                <a:highlight>
                  <a:srgbClr val="FFFFFE"/>
                </a:highlight>
              </a:rPr>
              <a:t>):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highlight>
                  <a:srgbClr val="FFFFFE"/>
                </a:highlight>
              </a:rPr>
              <a:t>    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with</a:t>
            </a:r>
            <a:r>
              <a:rPr lang="en" sz="1350">
                <a:highlight>
                  <a:srgbClr val="FFFFFE"/>
                </a:highlight>
              </a:rPr>
              <a:t>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open</a:t>
            </a:r>
            <a:r>
              <a:rPr lang="en" sz="1350">
                <a:highlight>
                  <a:srgbClr val="FFFFFE"/>
                </a:highlight>
              </a:rPr>
              <a:t>(</a:t>
            </a:r>
            <a:r>
              <a:rPr lang="en" sz="1350">
                <a:highlight>
                  <a:srgbClr val="FFFFFE"/>
                </a:highlight>
              </a:rPr>
              <a:t>DATABASE_FILE</a:t>
            </a:r>
            <a:r>
              <a:rPr lang="en" sz="1350">
                <a:highlight>
                  <a:srgbClr val="FFFFFE"/>
                </a:highlight>
              </a:rPr>
              <a:t>, 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'r'</a:t>
            </a:r>
            <a:r>
              <a:rPr lang="en" sz="1350">
                <a:highlight>
                  <a:srgbClr val="FFFFFE"/>
                </a:highlight>
              </a:rPr>
              <a:t>)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as</a:t>
            </a:r>
            <a:r>
              <a:rPr lang="en" sz="1350">
                <a:highlight>
                  <a:srgbClr val="FFFFFE"/>
                </a:highlight>
              </a:rPr>
              <a:t> db_file: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highlight>
                  <a:srgbClr val="FFFFFE"/>
                </a:highlight>
              </a:rPr>
              <a:t>            records = db_file.readlines()</a:t>
            </a:r>
            <a:endParaRPr sz="1350">
              <a:solidFill>
                <a:srgbClr val="008000"/>
              </a:solidFill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highlight>
                  <a:srgbClr val="FFFFFE"/>
                </a:highlight>
              </a:rPr>
              <a:t>    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for</a:t>
            </a:r>
            <a:r>
              <a:rPr lang="en" sz="1350">
                <a:highlight>
                  <a:srgbClr val="FFFFFE"/>
                </a:highlight>
              </a:rPr>
              <a:t> record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in</a:t>
            </a:r>
            <a:r>
              <a:rPr lang="en" sz="1350">
                <a:highlight>
                  <a:srgbClr val="FFFFFE"/>
                </a:highlight>
              </a:rPr>
              <a:t> </a:t>
            </a:r>
            <a:r>
              <a:rPr b="1" lang="en" sz="1350">
                <a:solidFill>
                  <a:srgbClr val="0000FF"/>
                </a:solidFill>
                <a:highlight>
                  <a:srgbClr val="FFFFFE"/>
                </a:highlight>
              </a:rPr>
              <a:t>reversed</a:t>
            </a:r>
            <a:r>
              <a:rPr lang="en" sz="1350">
                <a:highlight>
                  <a:srgbClr val="FFFFFE"/>
                </a:highlight>
              </a:rPr>
              <a:t>(records):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highlight>
                  <a:srgbClr val="FFFFFE"/>
                </a:highlight>
              </a:rPr>
              <a:t>            record_data = record.strip().split(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','</a:t>
            </a:r>
            <a:r>
              <a:rPr lang="en" sz="1350">
                <a:highlight>
                  <a:srgbClr val="FFFFFE"/>
                </a:highlight>
              </a:rPr>
              <a:t>)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highlight>
                  <a:srgbClr val="FFFFFE"/>
                </a:highlight>
              </a:rPr>
              <a:t>        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if</a:t>
            </a:r>
            <a:r>
              <a:rPr lang="en" sz="1350">
                <a:highlight>
                  <a:srgbClr val="FFFFFE"/>
                </a:highlight>
              </a:rPr>
              <a:t> record_data[</a:t>
            </a:r>
            <a:r>
              <a:rPr lang="en" sz="1350">
                <a:solidFill>
                  <a:srgbClr val="098658"/>
                </a:solidFill>
                <a:highlight>
                  <a:srgbClr val="FFFFFE"/>
                </a:highlight>
              </a:rPr>
              <a:t>0</a:t>
            </a:r>
            <a:r>
              <a:rPr lang="en" sz="1350">
                <a:highlight>
                  <a:srgbClr val="FFFFFE"/>
                </a:highlight>
              </a:rPr>
              <a:t>] == </a:t>
            </a:r>
            <a:r>
              <a:rPr lang="en" sz="1350">
                <a:highlight>
                  <a:srgbClr val="FFFFFE"/>
                </a:highlight>
              </a:rPr>
              <a:t>employee_id</a:t>
            </a:r>
            <a:r>
              <a:rPr lang="en" sz="1350">
                <a:highlight>
                  <a:srgbClr val="FFFFFE"/>
                </a:highlight>
              </a:rPr>
              <a:t>:</a:t>
            </a:r>
            <a:endParaRPr sz="1350">
              <a:solidFill>
                <a:srgbClr val="0000FF"/>
              </a:solidFill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highlight>
                  <a:srgbClr val="FFFFFE"/>
                </a:highlight>
              </a:rPr>
              <a:t>            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print</a:t>
            </a:r>
            <a:r>
              <a:rPr lang="en" sz="1350">
                <a:highlight>
                  <a:srgbClr val="FFFFFE"/>
                </a:highlight>
              </a:rPr>
              <a:t>(f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'Latest record for user {user_id}: {",".join(record_data)}'</a:t>
            </a:r>
            <a:r>
              <a:rPr lang="en" sz="1350">
                <a:highlight>
                  <a:srgbClr val="FFFFFE"/>
                </a:highlight>
              </a:rPr>
              <a:t>)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highlight>
                  <a:srgbClr val="FFFFFE"/>
                </a:highlight>
              </a:rPr>
              <a:t>       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Enhanced Simple Database - Delete</a:t>
            </a:r>
            <a:endParaRPr/>
          </a:p>
        </p:txBody>
      </p:sp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same idea applies to the delete function.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8000"/>
                </a:solidFill>
                <a:highlight>
                  <a:srgbClr val="FFFFFE"/>
                </a:highlight>
              </a:rPr>
              <a:t># DELETE: Append a special row marking the user as deleted</a:t>
            </a:r>
            <a:endParaRPr sz="1350">
              <a:solidFill>
                <a:srgbClr val="008000"/>
              </a:solidFill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def</a:t>
            </a:r>
            <a:r>
              <a:rPr lang="en" sz="1350">
                <a:highlight>
                  <a:srgbClr val="FFFFFE"/>
                </a:highlight>
              </a:rPr>
              <a:t> delete(</a:t>
            </a:r>
            <a:r>
              <a:rPr lang="en" sz="1350">
                <a:highlight>
                  <a:srgbClr val="FFFFFE"/>
                </a:highlight>
              </a:rPr>
              <a:t>employee_id</a:t>
            </a:r>
            <a:r>
              <a:rPr lang="en" sz="1350">
                <a:highlight>
                  <a:srgbClr val="FFFFFE"/>
                </a:highlight>
              </a:rPr>
              <a:t>):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</a:t>
            </a:r>
            <a:r>
              <a:rPr lang="en" sz="1350">
                <a:solidFill>
                  <a:srgbClr val="008000"/>
                </a:solidFill>
                <a:highlight>
                  <a:srgbClr val="FFFFFE"/>
                </a:highlight>
              </a:rPr>
              <a:t># Just append a row with the user_id only to mark as deleted</a:t>
            </a:r>
            <a:endParaRPr sz="1350">
              <a:solidFill>
                <a:srgbClr val="008000"/>
              </a:solidFill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last_record = read(</a:t>
            </a:r>
            <a:r>
              <a:rPr lang="en" sz="1350">
                <a:highlight>
                  <a:srgbClr val="FFFFFE"/>
                </a:highlight>
              </a:rPr>
              <a:t>employee_id</a:t>
            </a:r>
            <a:r>
              <a:rPr lang="en" sz="1350">
                <a:highlight>
                  <a:srgbClr val="FFFFFE"/>
                </a:highlight>
              </a:rPr>
              <a:t>)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if</a:t>
            </a:r>
            <a:r>
              <a:rPr lang="en" sz="1350">
                <a:highlight>
                  <a:srgbClr val="FFFFFE"/>
                </a:highlight>
              </a:rPr>
              <a:t> last_record: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with</a:t>
            </a:r>
            <a:r>
              <a:rPr lang="en" sz="1350">
                <a:highlight>
                  <a:srgbClr val="FFFFFE"/>
                </a:highlight>
              </a:rPr>
              <a:t>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open</a:t>
            </a:r>
            <a:r>
              <a:rPr lang="en" sz="1350">
                <a:highlight>
                  <a:srgbClr val="FFFFFE"/>
                </a:highlight>
              </a:rPr>
              <a:t>(</a:t>
            </a:r>
            <a:r>
              <a:rPr lang="en" sz="1350">
                <a:highlight>
                  <a:srgbClr val="FFFFFE"/>
                </a:highlight>
              </a:rPr>
              <a:t>DATABASE_FILE</a:t>
            </a:r>
            <a:r>
              <a:rPr lang="en" sz="1350">
                <a:highlight>
                  <a:srgbClr val="FFFFFE"/>
                </a:highlight>
              </a:rPr>
              <a:t>, 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'a'</a:t>
            </a:r>
            <a:r>
              <a:rPr lang="en" sz="1350">
                <a:highlight>
                  <a:srgbClr val="FFFFFE"/>
                </a:highlight>
              </a:rPr>
              <a:t>)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as</a:t>
            </a:r>
            <a:r>
              <a:rPr lang="en" sz="1350">
                <a:highlight>
                  <a:srgbClr val="FFFFFE"/>
                </a:highlight>
              </a:rPr>
              <a:t> db_file: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        db_file.write(f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'{user_id},</a:t>
            </a:r>
            <a:r>
              <a:rPr b="1" lang="en" sz="1350">
                <a:solidFill>
                  <a:srgbClr val="A31515"/>
                </a:solidFill>
                <a:highlight>
                  <a:srgbClr val="FFFFFE"/>
                </a:highlight>
              </a:rPr>
              <a:t>deleted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\n'</a:t>
            </a:r>
            <a:r>
              <a:rPr lang="en" sz="1350">
                <a:highlight>
                  <a:srgbClr val="FFFFFE"/>
                </a:highlight>
              </a:rPr>
              <a:t>)  </a:t>
            </a:r>
            <a:r>
              <a:rPr lang="en" sz="1350">
                <a:solidFill>
                  <a:srgbClr val="008000"/>
                </a:solidFill>
                <a:highlight>
                  <a:srgbClr val="FFFFFE"/>
                </a:highlight>
              </a:rPr>
              <a:t># ‘deleted’ indicates deletion</a:t>
            </a:r>
            <a:endParaRPr sz="1350">
              <a:solidFill>
                <a:srgbClr val="008000"/>
              </a:solidFill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print</a:t>
            </a:r>
            <a:r>
              <a:rPr lang="en" sz="1350">
                <a:highlight>
                  <a:srgbClr val="FFFFFE"/>
                </a:highlight>
              </a:rPr>
              <a:t>(f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"User {user_id} marked as deleted"</a:t>
            </a:r>
            <a:r>
              <a:rPr lang="en" sz="1350">
                <a:highlight>
                  <a:srgbClr val="FFFFFE"/>
                </a:highlight>
              </a:rPr>
              <a:t>)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highlight>
                <a:srgbClr val="FFFFFE"/>
              </a:highlight>
            </a:endParaRPr>
          </a:p>
          <a:p>
            <a:pPr indent="-314325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>
                <a:highlight>
                  <a:srgbClr val="FFFFFE"/>
                </a:highlight>
              </a:rPr>
              <a:t>Similarly, read function needs to be modified so if it see the deleted row while scanning bottom up, it doesn’t return any result.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   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graphicFrame>
        <p:nvGraphicFramePr>
          <p:cNvPr id="131" name="Google Shape;131;p21"/>
          <p:cNvGraphicFramePr/>
          <p:nvPr/>
        </p:nvGraphicFramePr>
        <p:xfrm>
          <a:off x="5813775" y="166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{D3C51440-840C-45B0-8242-D40FFC1250FC}</a:tableStyleId>
              </a:tblPr>
              <a:tblGrid>
                <a:gridCol w="1842150"/>
                <a:gridCol w="1047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employee_id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…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…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…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deleted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Enhanced Simple Database - Duplicate Data</a:t>
            </a:r>
            <a:endParaRPr/>
          </a:p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4325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600"/>
              <a:t>While this enhancement, improves update and delete performance, it introduces duplicate data. </a:t>
            </a:r>
            <a:endParaRPr sz="1600"/>
          </a:p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14325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600"/>
              <a:t>A separate process may be responsible for cleaning up inactive rows (rows that are deleted or updated) regularly.</a:t>
            </a:r>
            <a:endParaRPr sz="1500"/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   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Simple Database Limitations</a:t>
            </a:r>
            <a:endParaRPr/>
          </a:p>
        </p:txBody>
      </p:sp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421975" y="1052375"/>
            <a:ext cx="8120700" cy="402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simplified database shown is an extremely basic database example.</a:t>
            </a:r>
            <a:endParaRPr sz="1600"/>
          </a:p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 There are many corner cases to handle.</a:t>
            </a:r>
            <a:endParaRPr sz="1600"/>
          </a:p>
          <a:p>
            <a:pPr indent="-3302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 For instance, what happens if a user tries to delete an employee that does not exist? </a:t>
            </a:r>
            <a:endParaRPr sz="1600"/>
          </a:p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Without databases, developers would need to write code to manage these scenarios as part of their software engineering work</a:t>
            </a:r>
            <a:r>
              <a:rPr lang="en" sz="1600"/>
              <a:t>, which could easily break</a:t>
            </a:r>
            <a:r>
              <a:rPr lang="en" sz="1600"/>
              <a:t>.</a:t>
            </a:r>
            <a:endParaRPr sz="1600"/>
          </a:p>
          <a:p>
            <a:pPr indent="-3302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For example, if two processes try to update the data at the same time.</a:t>
            </a:r>
            <a:endParaRPr sz="1600"/>
          </a:p>
          <a:p>
            <a:pPr indent="-3302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This sample code does not handle large datasets. (Next Slide)</a:t>
            </a:r>
            <a:endParaRPr sz="160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Database Limitations</a:t>
            </a:r>
            <a:endParaRPr/>
          </a:p>
        </p:txBody>
      </p:sp>
      <p:sp>
        <p:nvSpPr>
          <p:cNvPr id="149" name="Google Shape;149;p24"/>
          <p:cNvSpPr txBox="1"/>
          <p:nvPr>
            <p:ph idx="1" type="body"/>
          </p:nvPr>
        </p:nvSpPr>
        <p:spPr>
          <a:xfrm>
            <a:off x="421975" y="1052375"/>
            <a:ext cx="8120700" cy="402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def</a:t>
            </a:r>
            <a:r>
              <a:rPr lang="en" sz="1350">
                <a:highlight>
                  <a:srgbClr val="FFFFFE"/>
                </a:highlight>
              </a:rPr>
              <a:t> read_employees():</a:t>
            </a:r>
            <a:endParaRPr sz="1350">
              <a:solidFill>
                <a:srgbClr val="0000FF"/>
              </a:solidFill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with</a:t>
            </a:r>
            <a:r>
              <a:rPr lang="en" sz="1350">
                <a:highlight>
                  <a:srgbClr val="FFFFFE"/>
                </a:highlight>
              </a:rPr>
              <a:t>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open</a:t>
            </a:r>
            <a:r>
              <a:rPr lang="en" sz="1350">
                <a:highlight>
                  <a:srgbClr val="FFFFFE"/>
                </a:highlight>
              </a:rPr>
              <a:t>(DATABASE_FILE, 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'r'</a:t>
            </a:r>
            <a:r>
              <a:rPr lang="en" sz="1350">
                <a:highlight>
                  <a:srgbClr val="FFFFFE"/>
                </a:highlight>
              </a:rPr>
              <a:t>)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as</a:t>
            </a:r>
            <a:r>
              <a:rPr lang="en" sz="1350">
                <a:highlight>
                  <a:srgbClr val="FFFFFE"/>
                </a:highlight>
              </a:rPr>
              <a:t>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file</a:t>
            </a:r>
            <a:r>
              <a:rPr lang="en" sz="1350">
                <a:highlight>
                  <a:srgbClr val="FFFFFE"/>
                </a:highlight>
              </a:rPr>
              <a:t>: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    records =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file</a:t>
            </a:r>
            <a:r>
              <a:rPr lang="en" sz="1350">
                <a:highlight>
                  <a:srgbClr val="FFFFFE"/>
                </a:highlight>
              </a:rPr>
              <a:t>.readlines()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   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for</a:t>
            </a:r>
            <a:r>
              <a:rPr lang="en" sz="1350">
                <a:highlight>
                  <a:srgbClr val="FFFFFE"/>
                </a:highlight>
              </a:rPr>
              <a:t> record </a:t>
            </a:r>
            <a:r>
              <a:rPr lang="en" sz="1350">
                <a:solidFill>
                  <a:srgbClr val="0000FF"/>
                </a:solidFill>
                <a:highlight>
                  <a:srgbClr val="FFFFFE"/>
                </a:highlight>
              </a:rPr>
              <a:t>in</a:t>
            </a:r>
            <a:r>
              <a:rPr lang="en" sz="1350">
                <a:highlight>
                  <a:srgbClr val="FFFFFE"/>
                </a:highlight>
              </a:rPr>
              <a:t> records: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        employee_id, name, department, salary = record.strip().split(</a:t>
            </a:r>
            <a:r>
              <a:rPr lang="en" sz="1350">
                <a:solidFill>
                  <a:srgbClr val="A31515"/>
                </a:solidFill>
                <a:highlight>
                  <a:srgbClr val="FFFFFE"/>
                </a:highlight>
              </a:rPr>
              <a:t>','</a:t>
            </a:r>
            <a:r>
              <a:rPr lang="en" sz="1350">
                <a:highlight>
                  <a:srgbClr val="FFFFFE"/>
                </a:highlight>
              </a:rPr>
              <a:t>)</a:t>
            </a:r>
            <a:endParaRPr sz="1600"/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highlight>
                <a:srgbClr val="FFFFFE"/>
              </a:highlight>
            </a:endParaRPr>
          </a:p>
          <a:p>
            <a:pPr indent="-314325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b="1" lang="en" sz="1350">
                <a:highlight>
                  <a:srgbClr val="FFFFFE"/>
                </a:highlight>
              </a:rPr>
              <a:t>Disk Storage: </a:t>
            </a:r>
            <a:r>
              <a:rPr lang="en" sz="1350">
                <a:highlight>
                  <a:srgbClr val="FFFFFE"/>
                </a:highlight>
              </a:rPr>
              <a:t>Refers to physical storage devices (HDDs or SSDs) where data is persistently stored.</a:t>
            </a:r>
            <a:endParaRPr sz="1350">
              <a:highlight>
                <a:srgbClr val="FFFFFE"/>
              </a:highlight>
            </a:endParaRPr>
          </a:p>
          <a:p>
            <a:pPr indent="-314325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b="1" lang="en" sz="1350">
                <a:highlight>
                  <a:srgbClr val="FFFFFE"/>
                </a:highlight>
              </a:rPr>
              <a:t>RAM:</a:t>
            </a:r>
            <a:r>
              <a:rPr lang="en" sz="1350">
                <a:highlight>
                  <a:srgbClr val="FFFFFE"/>
                </a:highlight>
              </a:rPr>
              <a:t> Refers to memory used for fast data processing; it's typically more expensive and has less capacity than disk storage. RAM is temporal which means the data is gone when power is </a:t>
            </a:r>
            <a:r>
              <a:rPr lang="en" sz="1350">
                <a:highlight>
                  <a:srgbClr val="FFFFFE"/>
                </a:highlight>
              </a:rPr>
              <a:t>disconnected</a:t>
            </a:r>
            <a:r>
              <a:rPr lang="en" sz="1350">
                <a:highlight>
                  <a:srgbClr val="FFFFFE"/>
                </a:highlight>
              </a:rPr>
              <a:t>.</a:t>
            </a:r>
            <a:endParaRPr sz="1350">
              <a:highlight>
                <a:srgbClr val="FFFFFE"/>
              </a:highlight>
            </a:endParaRPr>
          </a:p>
          <a:p>
            <a:pPr indent="-314325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>
                <a:highlight>
                  <a:srgbClr val="FFFFFE"/>
                </a:highlight>
              </a:rPr>
              <a:t>A regular computer might have 1 TB of disk space but only 10 GB of RAM.</a:t>
            </a:r>
            <a:endParaRPr sz="1350">
              <a:highlight>
                <a:srgbClr val="FFFFFE"/>
              </a:highlight>
            </a:endParaRPr>
          </a:p>
          <a:p>
            <a:pPr indent="-314325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>
                <a:highlight>
                  <a:srgbClr val="FFFFFE"/>
                </a:highlight>
              </a:rPr>
              <a:t>Not all data can be loaded into RAM.</a:t>
            </a:r>
            <a:endParaRPr sz="1350">
              <a:highlight>
                <a:srgbClr val="FFFFFE"/>
              </a:highlight>
            </a:endParaRPr>
          </a:p>
          <a:p>
            <a:pPr indent="-314325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>
                <a:highlight>
                  <a:srgbClr val="FFFFFE"/>
                </a:highlight>
              </a:rPr>
              <a:t>Loading data from disk to RAM requires the computer to scan the disk and load the data, which can be inefficient when done for the entire dataset.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   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cxnSp>
        <p:nvCxnSpPr>
          <p:cNvPr id="150" name="Google Shape;150;p24"/>
          <p:cNvCxnSpPr/>
          <p:nvPr/>
        </p:nvCxnSpPr>
        <p:spPr>
          <a:xfrm>
            <a:off x="2716925" y="1759925"/>
            <a:ext cx="2910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" name="Google Shape;151;p24"/>
          <p:cNvSpPr txBox="1"/>
          <p:nvPr/>
        </p:nvSpPr>
        <p:spPr>
          <a:xfrm>
            <a:off x="5695000" y="1466075"/>
            <a:ext cx="33675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All data is loaded into RAM (Memory) from the disk.</a:t>
            </a:r>
            <a:endParaRPr sz="13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Databases</a:t>
            </a:r>
            <a:endParaRPr/>
          </a:p>
        </p:txBody>
      </p:sp>
      <p:sp>
        <p:nvSpPr>
          <p:cNvPr id="157" name="Google Shape;157;p25"/>
          <p:cNvSpPr txBox="1"/>
          <p:nvPr>
            <p:ph idx="1" type="body"/>
          </p:nvPr>
        </p:nvSpPr>
        <p:spPr>
          <a:xfrm>
            <a:off x="421975" y="1052375"/>
            <a:ext cx="8120700" cy="402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database code should be more complex.</a:t>
            </a:r>
            <a:endParaRPr sz="1600"/>
          </a:p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 It needs to partially load data</a:t>
            </a:r>
            <a:endParaRPr sz="1600"/>
          </a:p>
          <a:p>
            <a:pPr indent="-3175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It can store data in multiple files and only load the necessary ones each time.</a:t>
            </a:r>
            <a:endParaRPr sz="1400"/>
          </a:p>
          <a:p>
            <a:pPr indent="-3175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How does it know what file to load?</a:t>
            </a:r>
            <a:endParaRPr sz="1400"/>
          </a:p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It needs to handle concurrent writes and updates without blocking them.</a:t>
            </a:r>
            <a:endParaRPr sz="1600"/>
          </a:p>
          <a:p>
            <a:pPr indent="-3302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What if</a:t>
            </a:r>
            <a:r>
              <a:rPr lang="en" sz="1600"/>
              <a:t> the developer is updating file 1 and file 2 and a read query reads data from </a:t>
            </a:r>
            <a:r>
              <a:rPr lang="en" sz="1600"/>
              <a:t>file 1 before the update and file 2 after the update?</a:t>
            </a:r>
            <a:endParaRPr sz="1600"/>
          </a:p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Years of engineering work have gone into the evolution of databases.</a:t>
            </a:r>
            <a:endParaRPr sz="1600"/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   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Databases</a:t>
            </a:r>
            <a:endParaRPr/>
          </a:p>
        </p:txBody>
      </p:sp>
      <p:sp>
        <p:nvSpPr>
          <p:cNvPr id="163" name="Google Shape;163;p26"/>
          <p:cNvSpPr txBox="1"/>
          <p:nvPr>
            <p:ph idx="1" type="body"/>
          </p:nvPr>
        </p:nvSpPr>
        <p:spPr>
          <a:xfrm>
            <a:off x="421975" y="1052375"/>
            <a:ext cx="8120700" cy="402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Databases were invented to hide these complexities behind the scenes. The developer simply declares what they want, and the database handles the task.</a:t>
            </a:r>
            <a:endParaRPr sz="1600"/>
          </a:p>
          <a:p>
            <a:pPr indent="-32385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b="1" lang="en" sz="1500"/>
              <a:t>Declarative language: </a:t>
            </a:r>
            <a:r>
              <a:rPr lang="en" sz="1500"/>
              <a:t>update users where location = ‘Calgary’ set province to ‘AB’;</a:t>
            </a:r>
            <a:endParaRPr sz="1500"/>
          </a:p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PostgreSQL, MySQL, MSSQL,</a:t>
            </a:r>
            <a:r>
              <a:rPr lang="en" sz="1600"/>
              <a:t> Oracle</a:t>
            </a:r>
            <a:r>
              <a:rPr lang="en" sz="1600"/>
              <a:t>, and MongoDB manage CRUD operations at an impressive speed and with the highest possible efficiency.</a:t>
            </a:r>
            <a:endParaRPr sz="1600"/>
          </a:p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Surprisingly, today’s databases can be viewed as advanced technology of the simple database example.</a:t>
            </a:r>
            <a:endParaRPr sz="1600"/>
          </a:p>
          <a:p>
            <a:pPr indent="-3175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 The Write Ahead Log (WAL) mechanism continuously appends data to the end of files.</a:t>
            </a:r>
            <a:endParaRPr sz="1400"/>
          </a:p>
          <a:p>
            <a:pPr indent="-3175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Amazon Redshift's </a:t>
            </a:r>
            <a:r>
              <a:rPr b="1" lang="en" sz="1400"/>
              <a:t>VACUUM </a:t>
            </a:r>
            <a:r>
              <a:rPr lang="en" sz="1400"/>
              <a:t>operation routinely reclaims space and organizes data by removing older records.</a:t>
            </a:r>
            <a:endParaRPr sz="1400"/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     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E"/>
                </a:highlight>
              </a:rPr>
              <a:t>  </a:t>
            </a:r>
            <a:endParaRPr sz="1350">
              <a:highlight>
                <a:srgbClr val="FFFF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Databases</a:t>
            </a:r>
            <a:endParaRPr/>
          </a:p>
        </p:txBody>
      </p:sp>
      <p:sp>
        <p:nvSpPr>
          <p:cNvPr id="169" name="Google Shape;169;p27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 developer (software engineer) looks at the real problem and identifies various objects, such as Users, Orders, Payments, and Deliveries.</a:t>
            </a:r>
            <a:endParaRPr sz="15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These objects are typically represented using software engineering formats like JSON, XML, or tables.</a:t>
            </a:r>
            <a:endParaRPr sz="15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database engine converts these representations into a binary format and persists them in underlying storage (files or disk).</a:t>
            </a:r>
            <a:endParaRPr sz="15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database engine manages incoming data queries and returns the corresponding results.</a:t>
            </a:r>
            <a:endParaRPr sz="15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ACID Properties of Databases</a:t>
            </a:r>
            <a:endParaRPr/>
          </a:p>
        </p:txBody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ACID stands for Atomicity, Consistency, Isolation, Durability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Atomicity: All changes succeed or none do.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Consistency: The data stays valid according to rules.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Isolation: Transactions don’t interfere with each other.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Durability: Changes are permanent, even after a crash.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ACID ensures a </a:t>
            </a:r>
            <a:r>
              <a:rPr b="1" lang="en" sz="1600"/>
              <a:t>reliable </a:t>
            </a:r>
            <a:r>
              <a:rPr lang="en" sz="1600"/>
              <a:t>database.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 transaction is a single unit: it either fully succeeds or fully fails.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For example, a query may change tax rate changes from 5% to 6% for Calgary users.</a:t>
            </a:r>
            <a:br>
              <a:rPr lang="en" sz="1600"/>
            </a:br>
            <a:r>
              <a:rPr lang="en" sz="1600">
                <a:highlight>
                  <a:srgbClr val="FFF2CC"/>
                </a:highlight>
              </a:rPr>
              <a:t>	update users </a:t>
            </a:r>
            <a:br>
              <a:rPr lang="en" sz="1600">
                <a:highlight>
                  <a:srgbClr val="FFF2CC"/>
                </a:highlight>
              </a:rPr>
            </a:br>
            <a:r>
              <a:rPr lang="en" sz="1600">
                <a:highlight>
                  <a:srgbClr val="FFF2CC"/>
                </a:highlight>
              </a:rPr>
              <a:t>		set tax_rate to ‘6%’</a:t>
            </a:r>
            <a:br>
              <a:rPr lang="en" sz="1600">
                <a:highlight>
                  <a:srgbClr val="FFF2CC"/>
                </a:highlight>
              </a:rPr>
            </a:br>
            <a:r>
              <a:rPr lang="en" sz="1600">
                <a:highlight>
                  <a:srgbClr val="FFF2CC"/>
                </a:highlight>
              </a:rPr>
              <a:t>		where city = ‘Calgary’</a:t>
            </a:r>
            <a:endParaRPr sz="1600">
              <a:highlight>
                <a:srgbClr val="FFF2CC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This query might fail for any reason. Atomicity means that if it fails, all changes roll back, ensuring that either all users are updated or none are.</a:t>
            </a:r>
            <a:endParaRPr sz="16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It’s hard to ensure either all files are updated, or, if the process fails, the changes are rolled back.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What if the files being rolled back had other changes as well since the update started?</a:t>
            </a:r>
            <a:endParaRPr sz="15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Cassandra, as an example, doesn't support atomicity, so after a failure a portion of rows can be updated while some are not.</a:t>
            </a:r>
            <a:endParaRPr sz="1600"/>
          </a:p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Atomicity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Consistency</a:t>
            </a:r>
            <a:endParaRPr/>
          </a:p>
        </p:txBody>
      </p:sp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27025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550"/>
              <a:buChar char="●"/>
            </a:pPr>
            <a:r>
              <a:rPr lang="en" sz="1550"/>
              <a:t>A transaction moves the database from one valid state to another according to predefined rules.</a:t>
            </a:r>
            <a:endParaRPr sz="1550"/>
          </a:p>
          <a:p>
            <a:pPr indent="-3270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lang="en" sz="1550"/>
              <a:t>If a column is defined as a </a:t>
            </a:r>
            <a:r>
              <a:rPr b="1" lang="en" sz="1550"/>
              <a:t>unique key</a:t>
            </a:r>
            <a:r>
              <a:rPr lang="en" sz="1550"/>
              <a:t> (no duplicates allowed), the database enforces this rule.</a:t>
            </a:r>
            <a:endParaRPr sz="155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With consistency, the database ensures data changes don’t break consistency rules.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Uniqueness, Foreign Keys, Not Null, Data Type, Custom Constraints, etc.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database has extra overhead to ensure it maintains these consistencies.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Snowflake is an example that doesn’t guarantee consistency rules.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i="1" lang="en" sz="1600"/>
              <a:t>Note: Consistency also refers to another characteristic we’ll cover later in distributed systems. (Consistency vs Availability)</a:t>
            </a:r>
            <a:endParaRPr i="1" sz="1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Isolations</a:t>
            </a:r>
            <a:endParaRPr/>
          </a:p>
        </p:txBody>
      </p:sp>
      <p:sp>
        <p:nvSpPr>
          <p:cNvPr id="193" name="Google Shape;193;p31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Transactions are isolated. Concurrent transactions don't interfere with each other.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 the below query, a separate query can’t read data while this transaction is halfway done. </a:t>
            </a:r>
            <a:br>
              <a:rPr lang="en" sz="1600"/>
            </a:br>
            <a:r>
              <a:rPr lang="en" sz="1600">
                <a:highlight>
                  <a:srgbClr val="FFF2CC"/>
                </a:highlight>
              </a:rPr>
              <a:t>update users set tax_rate to ‘6%’ where city = ‘Calgary’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For example, this query would return 5% before the update and 6% after, but never 5.5%. Isolation ensures that.</a:t>
            </a:r>
            <a:br>
              <a:rPr lang="en" sz="1600"/>
            </a:br>
            <a:r>
              <a:rPr lang="en" sz="1600">
                <a:highlight>
                  <a:srgbClr val="FFF2CC"/>
                </a:highlight>
              </a:rPr>
              <a:t>select average(tax_rate) from users;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Note: Isolation can be confused with atomicity. Try to understand why they differ.</a:t>
            </a:r>
            <a:endParaRPr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2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Durability</a:t>
            </a:r>
            <a:endParaRPr/>
          </a:p>
        </p:txBody>
      </p:sp>
      <p:sp>
        <p:nvSpPr>
          <p:cNvPr id="199" name="Google Shape;199;p32"/>
          <p:cNvSpPr txBox="1"/>
          <p:nvPr>
            <p:ph idx="1" type="body"/>
          </p:nvPr>
        </p:nvSpPr>
        <p:spPr>
          <a:xfrm>
            <a:off x="421975" y="1052375"/>
            <a:ext cx="8521200" cy="364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Once a transaction is committed, the changes are permanent, even if the system crashes.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 other words, updates to data won’t disappear after a while, even if the database crashes.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Redis doesn’t ensure durability because it stores data in </a:t>
            </a:r>
            <a:r>
              <a:rPr b="1" lang="en" sz="1600"/>
              <a:t>memory</a:t>
            </a:r>
            <a:r>
              <a:rPr lang="en" sz="1600"/>
              <a:t> for faster processing. 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Redis keeps data in memory for more efficient processing.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If there is a power outage or system crash, data will be gone.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However, It can be configured to persist data in disk to balance efficiency and durability.</a:t>
            </a:r>
            <a:endParaRPr sz="1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3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ACID Properties of Databases</a:t>
            </a:r>
            <a:endParaRPr/>
          </a:p>
        </p:txBody>
      </p:sp>
      <p:sp>
        <p:nvSpPr>
          <p:cNvPr id="205" name="Google Shape;205;p33"/>
          <p:cNvSpPr txBox="1"/>
          <p:nvPr>
            <p:ph idx="1" type="body"/>
          </p:nvPr>
        </p:nvSpPr>
        <p:spPr>
          <a:xfrm>
            <a:off x="421975" y="1052375"/>
            <a:ext cx="8530500" cy="364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Each ACID property may or may not be implemented by a database. 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Database developers choose whether to sacrifice these properties for efficiency or maintain them for reliability.</a:t>
            </a:r>
            <a:endParaRPr sz="16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For example, Redis sacrifices durability, and Snowflake sacrifices consistency for performance. </a:t>
            </a:r>
            <a:endParaRPr sz="1500"/>
          </a:p>
          <a:p>
            <a:pPr indent="-3206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50"/>
              <a:buChar char="○"/>
            </a:pPr>
            <a:r>
              <a:rPr lang="en" sz="1450"/>
              <a:t>MongoDB use to sacrifice isolation for performance. They changed this behaviour after version 4.0.</a:t>
            </a:r>
            <a:endParaRPr sz="145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ACID properties can be supported at different levels. For example, Cassandra guarantees atomicity at the row level but not for batches. A single row will be fully updated or not at all, but it's possible for only some rows in a batch to be updated.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It’s database developers’ decision to whether sacrifice any of those characteristics for efficiency or maintain them for a more reliable database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For example, redis sacrifice durability and snowflake sacrifice consistency for efficiency.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Data engineers and software engineers should know if their database supports these properties and choose a database that fits their needs.</a:t>
            </a:r>
            <a:endParaRPr sz="1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Indexes</a:t>
            </a:r>
            <a:endParaRPr/>
          </a:p>
        </p:txBody>
      </p:sp>
      <p:sp>
        <p:nvSpPr>
          <p:cNvPr id="211" name="Google Shape;211;p34"/>
          <p:cNvSpPr txBox="1"/>
          <p:nvPr>
            <p:ph idx="1" type="body"/>
          </p:nvPr>
        </p:nvSpPr>
        <p:spPr>
          <a:xfrm>
            <a:off x="421975" y="1052375"/>
            <a:ext cx="8363700" cy="364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Databases often use indexes to improve read performance.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An index (like a hash tree) is built over one or more columns in memory, so the database doesn’t need to load all data from the disk before filtering.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select * from users where id = 1. -&gt; database uses in-memory index trees to find the location of this data point, and then loads the related file.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downside is slower write queries since the index trees must be updated with each write.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database handles this process. The developer defines (declares) the query, and the database find the most optimal way to use indexes and make physical storage scans.</a:t>
            </a:r>
            <a:endParaRPr sz="1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5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Relational DBs</a:t>
            </a:r>
            <a:endParaRPr/>
          </a:p>
        </p:txBody>
      </p:sp>
      <p:sp>
        <p:nvSpPr>
          <p:cNvPr id="217" name="Google Shape;217;p35"/>
          <p:cNvSpPr txBox="1"/>
          <p:nvPr>
            <p:ph idx="1" type="body"/>
          </p:nvPr>
        </p:nvSpPr>
        <p:spPr>
          <a:xfrm>
            <a:off x="421975" y="1052375"/>
            <a:ext cx="8549100" cy="364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most common databases today are relational databases.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Edgar Codd proposed the relational model in 1970.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“Data is organized into tables.”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By the 1980s, relational databases and SQL became popular choices.</a:t>
            </a:r>
            <a:endParaRPr sz="16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They allowed developers to define data in a relational format while abstracting complexities.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Other database types, such as XML databases, object databases, network models, and hierarchical models, lost the competition. 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Key players include Oracle (1979), Microsoft SQL Server (1989), MySQL (1995), and PostgreSQL (1996). 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dominance of relational (SQL) databases lasted for at least 30 years….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6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Relational DBs</a:t>
            </a:r>
            <a:endParaRPr/>
          </a:p>
        </p:txBody>
      </p:sp>
      <p:sp>
        <p:nvSpPr>
          <p:cNvPr id="223" name="Google Shape;223;p36"/>
          <p:cNvSpPr txBox="1"/>
          <p:nvPr>
            <p:ph idx="1" type="body"/>
          </p:nvPr>
        </p:nvSpPr>
        <p:spPr>
          <a:xfrm>
            <a:off x="421975" y="1052375"/>
            <a:ext cx="8549100" cy="364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most common databases today are relational databases.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Edgar Codd proposed the relational model in 1970.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“Data is organized into tables.”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By the 1980s, relational databases and SQL became popular choices.</a:t>
            </a:r>
            <a:endParaRPr sz="16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They allowed developers to define data in a relational format while abstracting complexities.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Other database types, such as XML databases, object databases, network models, and hierarchical models, lost the competition. 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Key players include Oracle (1979), Microsoft SQL Server (1989), MySQL (1995), and PostgreSQL (1996). 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dominance of relational (SQL) databases lasted for at least 30 years….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/>
              <a:t>Around 2010, NoSQL was born….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 Databases limitations</a:t>
            </a:r>
            <a:endParaRPr/>
          </a:p>
        </p:txBody>
      </p:sp>
      <p:sp>
        <p:nvSpPr>
          <p:cNvPr id="229" name="Google Shape;229;p37"/>
          <p:cNvSpPr txBox="1"/>
          <p:nvPr>
            <p:ph idx="1" type="body"/>
          </p:nvPr>
        </p:nvSpPr>
        <p:spPr>
          <a:xfrm>
            <a:off x="421975" y="1052375"/>
            <a:ext cx="8721900" cy="364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very first use case of data was financial systems.</a:t>
            </a:r>
            <a:endParaRPr sz="16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No </a:t>
            </a:r>
            <a:r>
              <a:rPr lang="en" sz="1500"/>
              <a:t>surprise</a:t>
            </a:r>
            <a:r>
              <a:rPr lang="en" sz="1500"/>
              <a:t> that those databases were designed to </a:t>
            </a:r>
            <a:r>
              <a:rPr lang="en" sz="1500"/>
              <a:t>guarantee</a:t>
            </a:r>
            <a:r>
              <a:rPr lang="en" sz="1500"/>
              <a:t> highest level of ACID properties.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Financial systems require reliable data storage.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This reliability often came at the cost of efficiency.</a:t>
            </a:r>
            <a:endParaRPr sz="15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Relational schemas were quite restrictive. </a:t>
            </a:r>
            <a:endParaRPr sz="16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Mapping certain data structures, like graph networks, into tables wasn’t always straightforward.</a:t>
            </a:r>
            <a:endParaRPr sz="15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They originally didn’t support nested fields (e.g., addresses).</a:t>
            </a:r>
            <a:endParaRPr sz="16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Separate tables or columns -&gt; development </a:t>
            </a:r>
            <a:r>
              <a:rPr lang="en" sz="1600"/>
              <a:t>headache</a:t>
            </a:r>
            <a:r>
              <a:rPr lang="en" sz="1600"/>
              <a:t>.</a:t>
            </a:r>
            <a:endParaRPr sz="16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Plain text -&gt; doesn’t allow you to query/index on the internal fields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Designing and changing table schemas could be frustrating.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SQL databases were mostly commercial.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They couldn’t scale well on large dataset. 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As the world moved from data to big data, data analytics systems became larger, scalability became an important blocker in SQL databases.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 Databases limitations - Scalability</a:t>
            </a:r>
            <a:endParaRPr/>
          </a:p>
        </p:txBody>
      </p:sp>
      <p:sp>
        <p:nvSpPr>
          <p:cNvPr id="235" name="Google Shape;235;p38"/>
          <p:cNvSpPr txBox="1"/>
          <p:nvPr>
            <p:ph idx="1" type="body"/>
          </p:nvPr>
        </p:nvSpPr>
        <p:spPr>
          <a:xfrm>
            <a:off x="421975" y="1052375"/>
            <a:ext cx="8721900" cy="364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Relational databases were not originally designed to scale with large datasets.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Reliability (ACID) was often an enemy to scalability.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The inherent design of relational models could conflict with scalability.</a:t>
            </a:r>
            <a:endParaRPr sz="16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Queries like joins and group by make it difficult to scale up a database.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As the world moved from small datasets to </a:t>
            </a:r>
            <a:r>
              <a:rPr b="1" lang="en" sz="1600"/>
              <a:t>big data</a:t>
            </a:r>
            <a:r>
              <a:rPr lang="en" sz="1600"/>
              <a:t>, data analytics systems grew larger, scalability became a significant limitation to SQL databases.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There was a need for data world to </a:t>
            </a:r>
            <a:r>
              <a:rPr lang="en" sz="1600"/>
              <a:t>revisit</a:t>
            </a:r>
            <a:r>
              <a:rPr lang="en" sz="1600"/>
              <a:t> other data non-relational data models.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9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NoSQL</a:t>
            </a:r>
            <a:endParaRPr/>
          </a:p>
        </p:txBody>
      </p:sp>
      <p:sp>
        <p:nvSpPr>
          <p:cNvPr id="241" name="Google Shape;241;p39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At 2010, NoSQL tried to overthrow the dominance of SQL.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NoSQL meant “No SQL” or “Anything but SQL”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It did not refer to any </a:t>
            </a:r>
            <a:r>
              <a:rPr lang="en" sz="1600"/>
              <a:t>specific</a:t>
            </a:r>
            <a:r>
              <a:rPr lang="en" sz="1600"/>
              <a:t> technology or tool but it meant any data model that did not follow SQL.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Document Databases, Key-value data stores, graph models, etc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NoSQL databases aimed for 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More scalability 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More flexibility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Open source and free to use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Let’s take document databases as an example…</a:t>
            </a:r>
            <a:endParaRPr sz="16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0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 Databases</a:t>
            </a:r>
            <a:endParaRPr/>
          </a:p>
        </p:txBody>
      </p:sp>
      <p:sp>
        <p:nvSpPr>
          <p:cNvPr id="247" name="Google Shape;247;p40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</a:pPr>
            <a:r>
              <a:rPr lang="en" sz="1300"/>
              <a:t>Document databases store data in document format (like JSON) with unlimited field nesting.</a:t>
            </a:r>
            <a:endParaRPr sz="13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300"/>
              <a:t>Each document can be accessed by its primary key.</a:t>
            </a:r>
            <a:endParaRPr sz="13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300"/>
              <a:t>Instead of separating the dataset into customers, orders, addresses, etc., we use a single document store (collection) containing one JSON document per customer.</a:t>
            </a:r>
            <a:b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" sz="1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"customer_id"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0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"12345"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b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" sz="1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"name"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{ </a:t>
            </a:r>
            <a:r>
              <a:rPr lang="en" sz="1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"first"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0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"John"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1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"last"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0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"Doe"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},</a:t>
            </a:r>
            <a:b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" sz="1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"email"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0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" sz="10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3"/>
              </a:rPr>
              <a:t>john.doe@example.co</a:t>
            </a:r>
            <a:r>
              <a:rPr lang="en" sz="10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4"/>
              </a:rPr>
              <a:t>m</a:t>
            </a:r>
            <a:r>
              <a:rPr lang="en" sz="10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b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" sz="1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"orders"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b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{</a:t>
            </a:r>
            <a:b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</a:t>
            </a:r>
            <a:r>
              <a:rPr lang="en" sz="1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"order_id"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0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"A1001"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b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</a:t>
            </a:r>
            <a:r>
              <a:rPr lang="en" sz="1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"total"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150.75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b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</a:t>
            </a:r>
            <a:r>
              <a:rPr lang="en" sz="1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"items"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b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{ </a:t>
            </a:r>
            <a:r>
              <a:rPr lang="en" sz="1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"product_id"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0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"P001"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1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"name"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0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"Wireless Mouse"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1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"quantity"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},</a:t>
            </a:r>
            <a:b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{ </a:t>
            </a:r>
            <a:r>
              <a:rPr lang="en" sz="1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"product_id"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0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"P002"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1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"name"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0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"Mechanical Keyboard"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1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"quantity"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}</a:t>
            </a:r>
            <a:b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]</a:t>
            </a:r>
            <a:b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}</a:t>
            </a:r>
            <a:b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],</a:t>
            </a:r>
            <a:b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en" sz="1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"address"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{</a:t>
            </a:r>
            <a:b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en" sz="1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"billing"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{ </a:t>
            </a:r>
            <a:r>
              <a:rPr lang="en" sz="1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"city"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0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"Somewhere"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1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"postal_code"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0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"90210"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},</a:t>
            </a:r>
            <a:b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1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"shipping"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{ </a:t>
            </a:r>
            <a:r>
              <a:rPr lang="en" sz="1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"city"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0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"Somewhere Else"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1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"postal_code"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0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"90211"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}}}</a:t>
            </a:r>
            <a:b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5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 Databases - LinkedIn</a:t>
            </a:r>
            <a:endParaRPr/>
          </a:p>
        </p:txBody>
      </p:sp>
      <p:sp>
        <p:nvSpPr>
          <p:cNvPr id="253" name="Google Shape;253;p41"/>
          <p:cNvSpPr txBox="1"/>
          <p:nvPr>
            <p:ph idx="1" type="body"/>
          </p:nvPr>
        </p:nvSpPr>
        <p:spPr>
          <a:xfrm>
            <a:off x="-30675" y="885950"/>
            <a:ext cx="5409300" cy="364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Let’s take LinkedIn as an example…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Using a relational database, you would need to have separate tables for 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Users (name, description, profile picture, etc)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Experiences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Posts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Connections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Skills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Comments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Likes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etc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When a user profile is opened, all these tables should be joined to retrieve the full result.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balance between normalizing and denormalizing tables won’t help; both approaches have significant issues.</a:t>
            </a:r>
            <a:endParaRPr sz="1400"/>
          </a:p>
        </p:txBody>
      </p:sp>
      <p:pic>
        <p:nvPicPr>
          <p:cNvPr id="254" name="Google Shape;25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0075" y="947525"/>
            <a:ext cx="3486401" cy="3766151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41"/>
          <p:cNvSpPr/>
          <p:nvPr/>
        </p:nvSpPr>
        <p:spPr>
          <a:xfrm>
            <a:off x="5510075" y="3146775"/>
            <a:ext cx="2364900" cy="15864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41"/>
          <p:cNvSpPr/>
          <p:nvPr/>
        </p:nvSpPr>
        <p:spPr>
          <a:xfrm>
            <a:off x="6317850" y="1258725"/>
            <a:ext cx="1211700" cy="2967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41"/>
          <p:cNvSpPr/>
          <p:nvPr/>
        </p:nvSpPr>
        <p:spPr>
          <a:xfrm>
            <a:off x="5550075" y="1907475"/>
            <a:ext cx="2286000" cy="8112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41"/>
          <p:cNvSpPr/>
          <p:nvPr/>
        </p:nvSpPr>
        <p:spPr>
          <a:xfrm>
            <a:off x="5660925" y="2718675"/>
            <a:ext cx="2175000" cy="2967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2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 Databases - LinkedIn</a:t>
            </a:r>
            <a:endParaRPr/>
          </a:p>
        </p:txBody>
      </p:sp>
      <p:sp>
        <p:nvSpPr>
          <p:cNvPr id="264" name="Google Shape;264;p42"/>
          <p:cNvSpPr txBox="1"/>
          <p:nvPr>
            <p:ph idx="1" type="body"/>
          </p:nvPr>
        </p:nvSpPr>
        <p:spPr>
          <a:xfrm>
            <a:off x="-45175" y="1122875"/>
            <a:ext cx="5555100" cy="364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Instead, a JSON database can store each user in a single document.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When a user's profile is opened, only that single document is retrieved.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 sz="1400"/>
              <a:t>Data locality:</a:t>
            </a:r>
            <a:r>
              <a:rPr lang="en" sz="1400"/>
              <a:t> that all retrieved data is stored in a local location (like a single file). It results in very few disk updates.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If a user updates </a:t>
            </a:r>
            <a:r>
              <a:rPr lang="en" sz="1400"/>
              <a:t>his</a:t>
            </a:r>
            <a:r>
              <a:rPr lang="en" sz="1400"/>
              <a:t> information, only that single document is modified.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sample json -&gt; next slide</a:t>
            </a:r>
            <a:endParaRPr sz="1400"/>
          </a:p>
        </p:txBody>
      </p:sp>
      <p:pic>
        <p:nvPicPr>
          <p:cNvPr id="265" name="Google Shape;26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0075" y="947525"/>
            <a:ext cx="3486401" cy="3766151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42"/>
          <p:cNvSpPr/>
          <p:nvPr/>
        </p:nvSpPr>
        <p:spPr>
          <a:xfrm>
            <a:off x="5510075" y="3146775"/>
            <a:ext cx="2364900" cy="15864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42"/>
          <p:cNvSpPr/>
          <p:nvPr/>
        </p:nvSpPr>
        <p:spPr>
          <a:xfrm>
            <a:off x="6317850" y="1258725"/>
            <a:ext cx="1211700" cy="2967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42"/>
          <p:cNvSpPr/>
          <p:nvPr/>
        </p:nvSpPr>
        <p:spPr>
          <a:xfrm>
            <a:off x="5550075" y="1907475"/>
            <a:ext cx="2286000" cy="8112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42"/>
          <p:cNvSpPr/>
          <p:nvPr/>
        </p:nvSpPr>
        <p:spPr>
          <a:xfrm>
            <a:off x="5660925" y="2718675"/>
            <a:ext cx="2175000" cy="2967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3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 Databases - LinkedIn</a:t>
            </a:r>
            <a:endParaRPr/>
          </a:p>
        </p:txBody>
      </p:sp>
      <p:sp>
        <p:nvSpPr>
          <p:cNvPr id="275" name="Google Shape;275;p43"/>
          <p:cNvSpPr txBox="1"/>
          <p:nvPr/>
        </p:nvSpPr>
        <p:spPr>
          <a:xfrm>
            <a:off x="484325" y="915650"/>
            <a:ext cx="8578200" cy="38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{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"user_id": "123456",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"name": { "first": "Alice", "last": "Smith" },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"headline": "Software Engineer at Tech Solutions",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"location": { "city": "San Francisco", "state": "CA", "country": "USA" },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"email": "alice.smith@example.com",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"skills": ["Java", "Python", "JavaScript", "SQL"],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"connections": [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  { "connection_id": "78910", "name": "Bob Johnson", "relationship": "Colleague" },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  { "connection_id": "111213", "name": "Carol Lee", "relationship": "Classmate" }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],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"experience": [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  { "job_title": "Software Engineer", "company": "Tech Solutions", "start_date": "2022-01-01", "end_date": null },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  { "job_title": "Intern", "company": "Startup Inc.", "start_date": "2021-05-01", "end_date": "2021-12-31" }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],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"education": [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  { "degree": "Bachelor of Science", "field_of_study": "Computer Science", "institution": "University of California", "graduation_year": 2021 }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],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"posts": [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  { "post_id": "post_001", "content": "Excited to start my new role at Tech Solutions!", "date": "2023-01-10", "likes": 50, "comments": [{ "user_id": "78910", "comment": "Congratulations, Alice!", "date": "2023-01-11" }] },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  { "post_id": "post_002", "content": "Just completed a project on machine learning. Check it out!", "date": "2023-02-15", "likes": 30, "comments": [] 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}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]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}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4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 Databases - LinkedIn</a:t>
            </a:r>
            <a:endParaRPr/>
          </a:p>
        </p:txBody>
      </p:sp>
      <p:sp>
        <p:nvSpPr>
          <p:cNvPr id="281" name="Google Shape;281;p44"/>
          <p:cNvSpPr txBox="1"/>
          <p:nvPr/>
        </p:nvSpPr>
        <p:spPr>
          <a:xfrm>
            <a:off x="484325" y="915650"/>
            <a:ext cx="8578200" cy="38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{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"user_id": "123456",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"name": { "first": "Alice", "last": "Smith" },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"headline": "Software Engineer at Tech Solutions",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"location": { "city": "San Francisco", "state": "CA", "country": "USA" },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"email": "alice.smith@example.com",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"skills": ["Java", "Python", "JavaScript", "SQL"],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"connections": [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  { "connection_id": "78910", "name": "Bob Johnson", "relationship": "Colleague" },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  { "connection_id": "111213", "name": "Carol Lee", "relationship": "Classmate" }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],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"experience": [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  { "job_title": "Software Engineer", "company": "Tech Solutions", "start_date": "2022-01-01", "end_date": null },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  { "job_title": "Intern", "company": "Startup Inc.", "start_date": "2021-05-01", "end_date": "2021-12-31" }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],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"education": [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  { "degree": "Bachelor of Science", "field_of_study": "Computer Science", "institution": "University of California", "graduation_year": 2021 }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],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"posts": [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  { "post_id": "post_001", "content": "Excited to start my new role at Tech Solutions!", "date": "2023-01-10", "likes": 50, "comments": [{ "user_id": "78910", "comment": "Congratulations, Alice!", "date": "2023-01-11" }] },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  { "post_id": "post_002", "content": "Just completed a project on machine learning. Check it out!", "date": "2023-02-15", "likes": 30, "comments": [] }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]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}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p44"/>
          <p:cNvCxnSpPr/>
          <p:nvPr/>
        </p:nvCxnSpPr>
        <p:spPr>
          <a:xfrm flipH="1" rot="10800000">
            <a:off x="5010700" y="1964850"/>
            <a:ext cx="1087800" cy="44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3" name="Google Shape;283;p44"/>
          <p:cNvSpPr/>
          <p:nvPr/>
        </p:nvSpPr>
        <p:spPr>
          <a:xfrm>
            <a:off x="5735950" y="1809925"/>
            <a:ext cx="2978400" cy="13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Connections can be added to both users.</a:t>
            </a:r>
            <a:endParaRPr sz="1100"/>
          </a:p>
        </p:txBody>
      </p:sp>
      <p:sp>
        <p:nvSpPr>
          <p:cNvPr id="284" name="Google Shape;284;p44"/>
          <p:cNvSpPr/>
          <p:nvPr/>
        </p:nvSpPr>
        <p:spPr>
          <a:xfrm>
            <a:off x="484325" y="2085500"/>
            <a:ext cx="4540800" cy="614100"/>
          </a:xfrm>
          <a:prstGeom prst="rect">
            <a:avLst/>
          </a:prstGeom>
          <a:noFill/>
          <a:ln cap="flat" cmpd="sng" w="9525">
            <a:solidFill>
              <a:srgbClr val="E327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44"/>
          <p:cNvSpPr/>
          <p:nvPr/>
        </p:nvSpPr>
        <p:spPr>
          <a:xfrm>
            <a:off x="6204950" y="3884125"/>
            <a:ext cx="2490000" cy="227400"/>
          </a:xfrm>
          <a:prstGeom prst="rect">
            <a:avLst/>
          </a:prstGeom>
          <a:noFill/>
          <a:ln cap="flat" cmpd="sng" w="9525">
            <a:solidFill>
              <a:srgbClr val="E327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 Databases - LinkedIn</a:t>
            </a:r>
            <a:endParaRPr/>
          </a:p>
        </p:txBody>
      </p:sp>
      <p:sp>
        <p:nvSpPr>
          <p:cNvPr id="291" name="Google Shape;291;p45"/>
          <p:cNvSpPr txBox="1"/>
          <p:nvPr>
            <p:ph idx="1" type="body"/>
          </p:nvPr>
        </p:nvSpPr>
        <p:spPr>
          <a:xfrm>
            <a:off x="421975" y="1052375"/>
            <a:ext cx="8558400" cy="364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Such a model supports most functionalities of LinkedIn and enables the system to achieve high read throughput on large amounts of data (big data).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However, some features cannot be implemented in this straightforward format. 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 search function that retrieves all users who worked for a specific company is challenging.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query language is often more </a:t>
            </a:r>
            <a:r>
              <a:rPr lang="en" sz="1600"/>
              <a:t>limiting</a:t>
            </a:r>
            <a:r>
              <a:rPr lang="en" sz="1600"/>
              <a:t> than SQL. 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For example, it may only support retrieval by ID.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Database doesn’t </a:t>
            </a:r>
            <a:r>
              <a:rPr b="1" lang="en" sz="1600"/>
              <a:t>efficiently</a:t>
            </a:r>
            <a:r>
              <a:rPr lang="en" sz="1600"/>
              <a:t> implement joins or group by operations or even filter by internal fields.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Tricky solutions can be implemented to enable additional features, such as searching by past companies.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Ultimately, depending on the nature of the data and the incoming queries, we may need to use different databases for different parts of the system.</a:t>
            </a:r>
            <a:endParaRPr sz="16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6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Document databases are an example of NoSQL databases.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Key-value stores, wide-column stores, graph databases, and time series databases quickly gained attention from data professionals. 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Neo4J (2007), Cassandra (2008), Redis (2008), MongoDB (2009), and Amazon DynamoDB (2012).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Interestingly, NoSQL databases existed before relational databases in the 1970s (e.g., IBM's database from 1968). 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But, they never gained popularity at the time because they did not effectively address the original use cases (financial systems).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However, they became popular as data increased in size, the world moved to a big data world, and data-centric software like LinkedIn and Twitter required specific tools to manage their data.</a:t>
            </a:r>
            <a:endParaRPr sz="1600"/>
          </a:p>
        </p:txBody>
      </p:sp>
      <p:sp>
        <p:nvSpPr>
          <p:cNvPr id="297" name="Google Shape;297;p46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NoSQL Databases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7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Today and the Future of Databases</a:t>
            </a:r>
            <a:endParaRPr/>
          </a:p>
        </p:txBody>
      </p:sp>
      <p:sp>
        <p:nvSpPr>
          <p:cNvPr id="303" name="Google Shape;303;p47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Over time, SQL and NoSQL databases began to implement each other’s features.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MySQL, PostgreSQL, and others started to support JSON fields.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MongoDB implemented a form of document joins (less efficient than relational databases)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This lead to the idea of NoSQL meaning "Not Only SQL". Although this wasn’t the original intention, many now use NoSQL to mean "Not only SQL."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 hybrid of SQL and NoSQL databases is being developed, which may represent the future of databases.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However, one question remains: a computer that hosts a database has limited capacity, regardless of the data model (SQL or NoSQL). How can we scale beyond that, and why are NoSQL databases easier to scale in this regard? 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We will address this in the upcoming "Distributed Databases" slides…</a:t>
            </a:r>
            <a:endParaRPr sz="16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8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Participation Quiz - 1</a:t>
            </a:r>
            <a:endParaRPr/>
          </a:p>
        </p:txBody>
      </p:sp>
      <p:sp>
        <p:nvSpPr>
          <p:cNvPr id="309" name="Google Shape;309;p48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Name one of the ACID properties of your choice and describe it.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UCalgary 2">
      <a:dk1>
        <a:srgbClr val="000000"/>
      </a:dk1>
      <a:lt1>
        <a:srgbClr val="FFFFFF"/>
      </a:lt1>
      <a:dk2>
        <a:srgbClr val="8C857B"/>
      </a:dk2>
      <a:lt2>
        <a:srgbClr val="C3BFB6"/>
      </a:lt2>
      <a:accent1>
        <a:srgbClr val="EE2C2A"/>
      </a:accent1>
      <a:accent2>
        <a:srgbClr val="FFA300"/>
      </a:accent2>
      <a:accent3>
        <a:srgbClr val="FF671F"/>
      </a:accent3>
      <a:accent4>
        <a:srgbClr val="46A67B"/>
      </a:accent4>
      <a:accent5>
        <a:srgbClr val="EC0971"/>
      </a:accent5>
      <a:accent6>
        <a:srgbClr val="9C0533"/>
      </a:accent6>
      <a:hlink>
        <a:srgbClr val="D6001C"/>
      </a:hlink>
      <a:folHlink>
        <a:srgbClr val="8C85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