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jBI8WYsXIptHZj1U3GSAa154Z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852588-7A98-4748-934C-59F3B5E8BEAD}">
  <a:tblStyle styleId="{AE852588-7A98-4748-934C-59F3B5E8BEA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9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0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30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30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3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3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30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3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3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3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33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3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33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33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3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5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Sarah Shah, 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Data Warehouses</a:t>
            </a:r>
            <a:endParaRPr sz="30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</a:t>
            </a:r>
            <a:endParaRPr/>
          </a:p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Data warehouse</a:t>
            </a:r>
            <a:r>
              <a:rPr lang="en" sz="1600"/>
              <a:t> is a specialized database designed for </a:t>
            </a:r>
            <a:r>
              <a:rPr b="1" lang="en" sz="1600"/>
              <a:t>analytics and reporting.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Unlike transactional databases, data warehouses supports complex analyses on big data.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They enable insights and decision-making without impacting day-to-day operations.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Snowflake, Google BigQuery, Amazon Redshift, Microsoft Azure Synapse, Apache Druid.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500" y="2402276"/>
            <a:ext cx="3359249" cy="176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325" y="3050575"/>
            <a:ext cx="2778099" cy="148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800" y="2432875"/>
            <a:ext cx="2840300" cy="159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 vs Databases</a:t>
            </a:r>
            <a:endParaRPr/>
          </a:p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421975" y="10523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80" name="Google Shape;80;p10"/>
          <p:cNvGraphicFramePr/>
          <p:nvPr/>
        </p:nvGraphicFramePr>
        <p:xfrm>
          <a:off x="251438" y="101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{AE852588-7A98-4748-934C-59F3B5E8BEAD}</a:tableStyleId>
              </a:tblPr>
              <a:tblGrid>
                <a:gridCol w="4544400"/>
                <a:gridCol w="4179425"/>
              </a:tblGrid>
              <a:tr h="39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Data Warehouse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Database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Historical Data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Current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Optimized for analytical queries and reporting (</a:t>
                      </a:r>
                      <a:r>
                        <a:rPr b="1" lang="en" sz="1200" u="none" cap="none" strike="noStrike"/>
                        <a:t>OLAP</a:t>
                      </a:r>
                      <a:r>
                        <a:rPr lang="en" sz="1200" u="none" cap="none" strike="noStrike"/>
                        <a:t>).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Optimized for transactional operations (</a:t>
                      </a:r>
                      <a:r>
                        <a:rPr b="1" lang="en" sz="1200" u="none" cap="none" strike="noStrike"/>
                        <a:t>OLTP</a:t>
                      </a:r>
                      <a:r>
                        <a:rPr lang="en" sz="1200" u="none" cap="none" strike="noStrike"/>
                        <a:t>).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Optimized for </a:t>
                      </a:r>
                      <a:r>
                        <a:rPr b="1" lang="en" sz="1200"/>
                        <a:t>denormalized</a:t>
                      </a:r>
                      <a:r>
                        <a:rPr lang="en" sz="1200"/>
                        <a:t> data like star schema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Optimized for 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normalized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data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 Primarily read operations, with batch writes.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Frequent read and write (insert or update) operations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Business Intelligence, Data Analysis, Historical Data, Reporting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Software system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OLAP vs OLTP</a:t>
            </a:r>
            <a:endParaRPr/>
          </a:p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421975" y="1122875"/>
            <a:ext cx="81207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OLTP (Online Transaction Processing): Simple, transactional queries.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orders (customer_id, product_id, quantity) VALUES (123, 456, 2);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Font typeface="Roboto Mono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 inventory SET quantity = quantity - 1 WHERE product_id = 456;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Font typeface="Roboto Mono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* FROM customers WHERE customer_id = 123;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OLAP (Online Analytical Processing): Complex, analytical queries involving aggregations and multi-dimensional analysis.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SUM(sales) FROM sales_data GROUP BY region;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AVG(price) FROM products WHERE category = 'Electronics';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BB031"/>
              </a:buClr>
              <a:buSzPts val="1200"/>
              <a:buChar char="○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COUNT(*) FROM orders WHERE order_date BETWEEN '2023-01-01' AND '2023-12-31' AND status = 'Shipped';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OLAP queries usually take longer and scan a larger part of data. OLTP queries are expected to be quick and fast.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Warehouses use </a:t>
            </a:r>
            <a:r>
              <a:rPr b="1" lang="en" sz="1600"/>
              <a:t>columnar storage</a:t>
            </a:r>
            <a:r>
              <a:rPr lang="en" sz="1600"/>
              <a:t> as an efficient physical storage format for OLAP.</a:t>
            </a:r>
            <a:endParaRPr b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pic>
        <p:nvPicPr>
          <p:cNvPr id="92" name="Google Shape;92;p12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1329951" y="2066475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421975" y="105237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Columnar </a:t>
            </a:r>
            <a:r>
              <a:rPr lang="en" sz="1600"/>
              <a:t>storage is a key characteristic in data warehouses for efficient OLAP.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Databases usually use </a:t>
            </a:r>
            <a:r>
              <a:rPr b="1" lang="en" sz="1600"/>
              <a:t>row-based </a:t>
            </a:r>
            <a:r>
              <a:rPr lang="en" sz="1600"/>
              <a:t>storage.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Below picture depicts how these two are different. 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1329951" y="2066475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421975" y="105237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see how they do OLTP.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select * from table where id = 3;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insert into table values (a6, b6, c6)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pic>
        <p:nvPicPr>
          <p:cNvPr id="106" name="Google Shape;106;p14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1329951" y="2066475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421975" y="105237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see how they do OLTP.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select * from table where id = 3;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insert into table values (a6, b6, c6)</a:t>
            </a:r>
            <a:endParaRPr sz="1600"/>
          </a:p>
        </p:txBody>
      </p:sp>
      <p:sp>
        <p:nvSpPr>
          <p:cNvPr id="108" name="Google Shape;108;p14"/>
          <p:cNvSpPr/>
          <p:nvPr/>
        </p:nvSpPr>
        <p:spPr>
          <a:xfrm>
            <a:off x="4736375" y="3025100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4"/>
          <p:cNvCxnSpPr/>
          <p:nvPr/>
        </p:nvCxnSpPr>
        <p:spPr>
          <a:xfrm flipH="1">
            <a:off x="5524575" y="2557975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14"/>
          <p:cNvSpPr txBox="1"/>
          <p:nvPr/>
        </p:nvSpPr>
        <p:spPr>
          <a:xfrm>
            <a:off x="5729050" y="232437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3223000" y="3793950"/>
            <a:ext cx="905100" cy="532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768000" y="3793950"/>
            <a:ext cx="905100" cy="532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12556" y="3793950"/>
            <a:ext cx="905100" cy="532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709675" y="462437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14"/>
          <p:cNvCxnSpPr>
            <a:stCxn id="114" idx="0"/>
            <a:endCxn id="113" idx="2"/>
          </p:cNvCxnSpPr>
          <p:nvPr/>
        </p:nvCxnSpPr>
        <p:spPr>
          <a:xfrm flipH="1" rot="10800000">
            <a:off x="5220575" y="4326175"/>
            <a:ext cx="1544400" cy="2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14"/>
          <p:cNvCxnSpPr>
            <a:stCxn id="114" idx="0"/>
            <a:endCxn id="111" idx="2"/>
          </p:cNvCxnSpPr>
          <p:nvPr/>
        </p:nvCxnSpPr>
        <p:spPr>
          <a:xfrm rot="10800000">
            <a:off x="3675575" y="4326175"/>
            <a:ext cx="1545000" cy="2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14"/>
          <p:cNvCxnSpPr>
            <a:stCxn id="114" idx="0"/>
            <a:endCxn id="112" idx="2"/>
          </p:cNvCxnSpPr>
          <p:nvPr/>
        </p:nvCxnSpPr>
        <p:spPr>
          <a:xfrm rot="10800000">
            <a:off x="5220575" y="4326175"/>
            <a:ext cx="0" cy="29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14"/>
          <p:cNvSpPr/>
          <p:nvPr/>
        </p:nvSpPr>
        <p:spPr>
          <a:xfrm>
            <a:off x="7587950" y="3146750"/>
            <a:ext cx="10851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a6,b6,c6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14"/>
          <p:cNvCxnSpPr>
            <a:endCxn id="118" idx="0"/>
          </p:cNvCxnSpPr>
          <p:nvPr/>
        </p:nvCxnSpPr>
        <p:spPr>
          <a:xfrm>
            <a:off x="7982000" y="2553050"/>
            <a:ext cx="148500" cy="59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4"/>
          <p:cNvSpPr txBox="1"/>
          <p:nvPr/>
        </p:nvSpPr>
        <p:spPr>
          <a:xfrm>
            <a:off x="7448350" y="223832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560300" y="3897675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5844100" y="3631575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4246900" y="3663975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178350" y="462447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4"/>
          <p:cNvCxnSpPr>
            <a:stCxn id="124" idx="0"/>
            <a:endCxn id="121" idx="2"/>
          </p:cNvCxnSpPr>
          <p:nvPr/>
        </p:nvCxnSpPr>
        <p:spPr>
          <a:xfrm flipH="1" rot="10800000">
            <a:off x="7689250" y="4131275"/>
            <a:ext cx="72300" cy="49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4"/>
          <p:cNvCxnSpPr>
            <a:stCxn id="124" idx="0"/>
            <a:endCxn id="122" idx="2"/>
          </p:cNvCxnSpPr>
          <p:nvPr/>
        </p:nvCxnSpPr>
        <p:spPr>
          <a:xfrm rot="10800000">
            <a:off x="6045250" y="3865175"/>
            <a:ext cx="1644000" cy="75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14"/>
          <p:cNvCxnSpPr>
            <a:stCxn id="124" idx="0"/>
            <a:endCxn id="123" idx="2"/>
          </p:cNvCxnSpPr>
          <p:nvPr/>
        </p:nvCxnSpPr>
        <p:spPr>
          <a:xfrm rot="10800000">
            <a:off x="4448050" y="3897575"/>
            <a:ext cx="3241200" cy="72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14"/>
          <p:cNvSpPr txBox="1"/>
          <p:nvPr/>
        </p:nvSpPr>
        <p:spPr>
          <a:xfrm>
            <a:off x="5056750" y="1132125"/>
            <a:ext cx="31434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E32726"/>
                </a:solidFill>
                <a:latin typeface="Arial"/>
                <a:ea typeface="Arial"/>
                <a:cs typeface="Arial"/>
                <a:sym typeface="Arial"/>
              </a:rPr>
              <a:t>Note: Each disk I/O scans or writes a chunk of sequential data to disk. In this example, image the chunk size is only 3 cells.</a:t>
            </a:r>
            <a:endParaRPr b="0" i="0" sz="1200" u="none" cap="none" strike="noStrike">
              <a:solidFill>
                <a:srgbClr val="E327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1329951" y="2066475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>
            <p:ph idx="1" type="body"/>
          </p:nvPr>
        </p:nvSpPr>
        <p:spPr>
          <a:xfrm>
            <a:off x="421975" y="105237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see how they do OLAP.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select sum(a) from table;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15"/>
          <p:cNvSpPr/>
          <p:nvPr/>
        </p:nvSpPr>
        <p:spPr>
          <a:xfrm>
            <a:off x="2887250" y="3050975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5"/>
          <p:cNvCxnSpPr/>
          <p:nvPr/>
        </p:nvCxnSpPr>
        <p:spPr>
          <a:xfrm flipH="1">
            <a:off x="3651175" y="2583850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15"/>
          <p:cNvSpPr txBox="1"/>
          <p:nvPr/>
        </p:nvSpPr>
        <p:spPr>
          <a:xfrm>
            <a:off x="3879925" y="232437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855650" y="3050975"/>
            <a:ext cx="9180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5"/>
          <p:cNvCxnSpPr/>
          <p:nvPr/>
        </p:nvCxnSpPr>
        <p:spPr>
          <a:xfrm flipH="1">
            <a:off x="4643850" y="2583850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15"/>
          <p:cNvSpPr txBox="1"/>
          <p:nvPr/>
        </p:nvSpPr>
        <p:spPr>
          <a:xfrm>
            <a:off x="4848325" y="23502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4773525" y="3050975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5"/>
          <p:cNvCxnSpPr/>
          <p:nvPr/>
        </p:nvCxnSpPr>
        <p:spPr>
          <a:xfrm flipH="1">
            <a:off x="5561725" y="2583850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15"/>
          <p:cNvSpPr txBox="1"/>
          <p:nvPr/>
        </p:nvSpPr>
        <p:spPr>
          <a:xfrm>
            <a:off x="5766200" y="23502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678475" y="3050975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15"/>
          <p:cNvCxnSpPr/>
          <p:nvPr/>
        </p:nvCxnSpPr>
        <p:spPr>
          <a:xfrm flipH="1">
            <a:off x="6442400" y="2583850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15"/>
          <p:cNvSpPr txBox="1"/>
          <p:nvPr/>
        </p:nvSpPr>
        <p:spPr>
          <a:xfrm>
            <a:off x="6646875" y="23502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6557400" y="3050975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15"/>
          <p:cNvCxnSpPr/>
          <p:nvPr/>
        </p:nvCxnSpPr>
        <p:spPr>
          <a:xfrm flipH="1">
            <a:off x="7267800" y="2583850"/>
            <a:ext cx="258000" cy="45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15"/>
          <p:cNvSpPr txBox="1"/>
          <p:nvPr/>
        </p:nvSpPr>
        <p:spPr>
          <a:xfrm>
            <a:off x="7472275" y="23502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887250" y="3826250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532675" y="3817775"/>
            <a:ext cx="968400" cy="433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3151575" y="45302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5"/>
          <p:cNvCxnSpPr>
            <a:stCxn id="153" idx="0"/>
            <a:endCxn id="151" idx="2"/>
          </p:cNvCxnSpPr>
          <p:nvPr/>
        </p:nvCxnSpPr>
        <p:spPr>
          <a:xfrm rot="10800000">
            <a:off x="3371475" y="4259350"/>
            <a:ext cx="291000" cy="27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5"/>
          <p:cNvCxnSpPr>
            <a:stCxn id="153" idx="0"/>
            <a:endCxn id="152" idx="2"/>
          </p:cNvCxnSpPr>
          <p:nvPr/>
        </p:nvCxnSpPr>
        <p:spPr>
          <a:xfrm flipH="1" rot="10800000">
            <a:off x="3662475" y="4250950"/>
            <a:ext cx="354300" cy="27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421975" y="105237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see how they do a transactional insert.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Example: a new order.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900451" y="1716125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7158450" y="2796400"/>
            <a:ext cx="10851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a6,b6,c6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6"/>
          <p:cNvCxnSpPr>
            <a:endCxn id="163" idx="0"/>
          </p:cNvCxnSpPr>
          <p:nvPr/>
        </p:nvCxnSpPr>
        <p:spPr>
          <a:xfrm>
            <a:off x="7552500" y="2202700"/>
            <a:ext cx="148500" cy="59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16"/>
          <p:cNvSpPr txBox="1"/>
          <p:nvPr/>
        </p:nvSpPr>
        <p:spPr>
          <a:xfrm>
            <a:off x="7018850" y="188797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130800" y="3547325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380525" y="3393150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3822250" y="3393150"/>
            <a:ext cx="402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748850" y="4274125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16"/>
          <p:cNvCxnSpPr>
            <a:stCxn id="169" idx="0"/>
            <a:endCxn id="166" idx="2"/>
          </p:cNvCxnSpPr>
          <p:nvPr/>
        </p:nvCxnSpPr>
        <p:spPr>
          <a:xfrm flipH="1" rot="10800000">
            <a:off x="7259750" y="3780925"/>
            <a:ext cx="72300" cy="49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16"/>
          <p:cNvCxnSpPr>
            <a:stCxn id="169" idx="0"/>
            <a:endCxn id="167" idx="2"/>
          </p:cNvCxnSpPr>
          <p:nvPr/>
        </p:nvCxnSpPr>
        <p:spPr>
          <a:xfrm rot="10800000">
            <a:off x="5581550" y="3626725"/>
            <a:ext cx="1678200" cy="64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16"/>
          <p:cNvCxnSpPr>
            <a:stCxn id="169" idx="0"/>
            <a:endCxn id="168" idx="2"/>
          </p:cNvCxnSpPr>
          <p:nvPr/>
        </p:nvCxnSpPr>
        <p:spPr>
          <a:xfrm rot="10800000">
            <a:off x="4023350" y="3626725"/>
            <a:ext cx="3236400" cy="64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16"/>
          <p:cNvSpPr txBox="1"/>
          <p:nvPr/>
        </p:nvSpPr>
        <p:spPr>
          <a:xfrm>
            <a:off x="1772100" y="3973950"/>
            <a:ext cx="2964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E32726"/>
                </a:solidFill>
                <a:latin typeface="Arial"/>
                <a:ea typeface="Arial"/>
                <a:cs typeface="Arial"/>
                <a:sym typeface="Arial"/>
              </a:rPr>
              <a:t>Note: There is space between columns.</a:t>
            </a:r>
            <a:endParaRPr b="0" i="0" sz="1200" u="none" cap="none" strike="noStrike">
              <a:solidFill>
                <a:srgbClr val="E327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idx="1" type="body"/>
          </p:nvPr>
        </p:nvSpPr>
        <p:spPr>
          <a:xfrm>
            <a:off x="421975" y="1057225"/>
            <a:ext cx="81207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Let’s see how they do a </a:t>
            </a:r>
            <a:r>
              <a:rPr b="1" lang="en" sz="1600"/>
              <a:t>batch insert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Insert into table values ((a6,b6,c6),(a7,b7,c7),(a8,b8,c8));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179" name="Google Shape;179;p1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Columnar Storage</a:t>
            </a:r>
            <a:endParaRPr/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 b="26334" l="0" r="0" t="0"/>
          <a:stretch/>
        </p:blipFill>
        <p:spPr>
          <a:xfrm>
            <a:off x="44026" y="1740450"/>
            <a:ext cx="6304750" cy="21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6302025" y="2820725"/>
            <a:ext cx="10851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a6,b6,c6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7"/>
          <p:cNvCxnSpPr>
            <a:stCxn id="183" idx="2"/>
            <a:endCxn id="181" idx="0"/>
          </p:cNvCxnSpPr>
          <p:nvPr/>
        </p:nvCxnSpPr>
        <p:spPr>
          <a:xfrm flipH="1">
            <a:off x="6844600" y="2364775"/>
            <a:ext cx="1052400" cy="45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17"/>
          <p:cNvSpPr txBox="1"/>
          <p:nvPr/>
        </p:nvSpPr>
        <p:spPr>
          <a:xfrm>
            <a:off x="7198900" y="2072875"/>
            <a:ext cx="1396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235600" y="3559588"/>
            <a:ext cx="9633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c6,c7,c8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358650" y="3337950"/>
            <a:ext cx="8985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b6,b7,b8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800375" y="3337950"/>
            <a:ext cx="10524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a6,a7,a8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5892425" y="4298450"/>
            <a:ext cx="10218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 disk I/O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17"/>
          <p:cNvCxnSpPr>
            <a:stCxn id="187" idx="0"/>
            <a:endCxn id="184" idx="2"/>
          </p:cNvCxnSpPr>
          <p:nvPr/>
        </p:nvCxnSpPr>
        <p:spPr>
          <a:xfrm flipH="1" rot="10800000">
            <a:off x="6403325" y="3793250"/>
            <a:ext cx="313800" cy="505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17"/>
          <p:cNvCxnSpPr>
            <a:stCxn id="187" idx="0"/>
            <a:endCxn id="185" idx="2"/>
          </p:cNvCxnSpPr>
          <p:nvPr/>
        </p:nvCxnSpPr>
        <p:spPr>
          <a:xfrm rot="10800000">
            <a:off x="4807925" y="3571550"/>
            <a:ext cx="1595400" cy="72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17"/>
          <p:cNvCxnSpPr>
            <a:stCxn id="187" idx="0"/>
            <a:endCxn id="186" idx="2"/>
          </p:cNvCxnSpPr>
          <p:nvPr/>
        </p:nvCxnSpPr>
        <p:spPr>
          <a:xfrm rot="10800000">
            <a:off x="3326525" y="3571550"/>
            <a:ext cx="3076800" cy="72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17"/>
          <p:cNvSpPr/>
          <p:nvPr/>
        </p:nvSpPr>
        <p:spPr>
          <a:xfrm>
            <a:off x="7387125" y="2820725"/>
            <a:ext cx="10851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a7,b7,c7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8472225" y="2820725"/>
            <a:ext cx="1085100" cy="233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a8,b8,c8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7"/>
          <p:cNvCxnSpPr>
            <a:stCxn id="183" idx="2"/>
            <a:endCxn id="191" idx="0"/>
          </p:cNvCxnSpPr>
          <p:nvPr/>
        </p:nvCxnSpPr>
        <p:spPr>
          <a:xfrm>
            <a:off x="7897000" y="2364775"/>
            <a:ext cx="32700" cy="45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7"/>
          <p:cNvCxnSpPr>
            <a:stCxn id="183" idx="2"/>
            <a:endCxn id="192" idx="0"/>
          </p:cNvCxnSpPr>
          <p:nvPr/>
        </p:nvCxnSpPr>
        <p:spPr>
          <a:xfrm>
            <a:off x="7897000" y="2364775"/>
            <a:ext cx="1117800" cy="45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288700" y="3866925"/>
            <a:ext cx="87687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Columnar storage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key engineering difference that makes data warehouses like Snowflake better for OLAP (better read performance for columnar queries while having poorer write performance except for batch writes).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 vs Databases</a:t>
            </a:r>
            <a:endParaRPr/>
          </a:p>
        </p:txBody>
      </p:sp>
      <p:graphicFrame>
        <p:nvGraphicFramePr>
          <p:cNvPr id="201" name="Google Shape;201;p18"/>
          <p:cNvGraphicFramePr/>
          <p:nvPr/>
        </p:nvGraphicFramePr>
        <p:xfrm>
          <a:off x="251438" y="101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{AE852588-7A98-4748-934C-59F3B5E8BEAD}</a:tableStyleId>
              </a:tblPr>
              <a:tblGrid>
                <a:gridCol w="4544400"/>
                <a:gridCol w="4179425"/>
              </a:tblGrid>
              <a:tr h="39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Data Warehouse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Database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Optimized for analytical queries and reporting (OLAP).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Optimized for transactional operations (OLTP).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Historical Data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Current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Denormalized d</a:t>
                      </a:r>
                      <a:r>
                        <a:rPr lang="en" sz="1200" u="none" cap="none" strike="noStrike"/>
                        <a:t>imensional modeling like Star schema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highly normalized schema (avoiding redundancy).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5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 Primarily read operations, with batch writes.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Frequent read and write (insert or update) operations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Business Intelligence, Data Analysis, Historical Data, Reporting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Software system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2" name="Google Shape;202;p18"/>
          <p:cNvSpPr/>
          <p:nvPr/>
        </p:nvSpPr>
        <p:spPr>
          <a:xfrm>
            <a:off x="89200" y="2660150"/>
            <a:ext cx="8968200" cy="6666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29275" y="1336575"/>
            <a:ext cx="8968200" cy="4551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288700" y="2161600"/>
            <a:ext cx="8968200" cy="3657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 vs Databases</a:t>
            </a:r>
            <a:endParaRPr/>
          </a:p>
        </p:txBody>
      </p:sp>
      <p:sp>
        <p:nvSpPr>
          <p:cNvPr id="210" name="Google Shape;210;p19"/>
          <p:cNvSpPr txBox="1"/>
          <p:nvPr>
            <p:ph idx="1" type="body"/>
          </p:nvPr>
        </p:nvSpPr>
        <p:spPr>
          <a:xfrm>
            <a:off x="421975" y="1052375"/>
            <a:ext cx="88593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rPr lang="en" sz="1400"/>
              <a:t>Columnar storage is just one reason: Other design decisions contribute to making data warehouses better for data analysis on big data.</a:t>
            </a:r>
            <a:endParaRPr sz="1400"/>
          </a:p>
          <a:p>
            <a:pPr indent="-3111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Advanced Compression</a:t>
            </a:r>
            <a:r>
              <a:rPr lang="en" sz="1300"/>
              <a:t>: Data warehouses leverage advanced compression methods, allowing data to occupy less space.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This allows the historical storage of data for long term data analysis.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Redundant Data Modeling:</a:t>
            </a:r>
            <a:r>
              <a:rPr lang="en" sz="1300"/>
              <a:t> Compression allows for data modeling techniques that include storage redundancies such as star schema.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Automatic Data Partitioning:</a:t>
            </a:r>
            <a:r>
              <a:rPr lang="en" sz="1300"/>
              <a:t> Data warehouses, such as Snowflake, use data partitioning by default. Unlike traditional databases, where configurations like shard_id are needed, Snowflake automatically partitions data without user intervention.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Databases use many </a:t>
            </a:r>
            <a:r>
              <a:rPr b="1" lang="en" sz="1300"/>
              <a:t>indexes</a:t>
            </a:r>
            <a:r>
              <a:rPr lang="en" sz="1300"/>
              <a:t> for fast lookups; data warehouses rely on scanning optimized columnar data with minimal indexing.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Snowflake doesn’t use traditional indexes; it relies on automatic clustering, columnar storage, and metadata (like micro-partition pruning) to speed up queries.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 vs Databases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421975" y="1052375"/>
            <a:ext cx="88593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rPr lang="en" sz="1400"/>
              <a:t>Columnar storage is just one reason: Other design decisions contribute to making data warehouses better for data analysis on big data.</a:t>
            </a:r>
            <a:endParaRPr sz="1400"/>
          </a:p>
          <a:p>
            <a:pPr indent="-3111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Advanced Compression</a:t>
            </a:r>
            <a:r>
              <a:rPr lang="en" sz="1300"/>
              <a:t>: Data warehouses leverage advanced compression methods, allowing data to occupy less space.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This allows the historical storage of data for long term data analysis.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Redundant Data Modeling:</a:t>
            </a:r>
            <a:r>
              <a:rPr lang="en" sz="1300"/>
              <a:t> Compression allows for data modeling techniques that include storage redundancies such as star schema.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Automatic Data Partitioning:</a:t>
            </a:r>
            <a:r>
              <a:rPr lang="en" sz="1300"/>
              <a:t> Data warehouses, such as Snowflake, use data partitioning by default. Unlike traditional databases, where configurations like shard_id are needed, Snowflake automatically partitions data without user intervention.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graphicFrame>
        <p:nvGraphicFramePr>
          <p:cNvPr id="217" name="Google Shape;217;p20"/>
          <p:cNvGraphicFramePr/>
          <p:nvPr/>
        </p:nvGraphicFramePr>
        <p:xfrm>
          <a:off x="233563" y="298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{AE852588-7A98-4748-934C-59F3B5E8BEAD}</a:tableStyleId>
              </a:tblPr>
              <a:tblGrid>
                <a:gridCol w="4544400"/>
                <a:gridCol w="4179425"/>
              </a:tblGrid>
              <a:tr h="24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Data Warehouse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Database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</a:tr>
              <a:tr h="2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Optimized for analytical queries and reporting (OLAP).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Optimized for transactional operations (OLTP).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Historical Data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Current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31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Dimensional modeling like Snowflake and Star schema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highly normalized data (avoiding redundancy).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2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 Primarily read operations, with batch writes.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Frequent read and write (insert or update) operations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2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Business Intelligence, Data Analysis, Historical Data, Reporting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Software system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" name="Google Shape;218;p20"/>
          <p:cNvSpPr/>
          <p:nvPr/>
        </p:nvSpPr>
        <p:spPr>
          <a:xfrm>
            <a:off x="80550" y="3613900"/>
            <a:ext cx="8982900" cy="394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80550" y="4008100"/>
            <a:ext cx="8982900" cy="394200"/>
          </a:xfrm>
          <a:prstGeom prst="rect">
            <a:avLst/>
          </a:prstGeom>
          <a:noFill/>
          <a:ln cap="flat" cmpd="sng" w="9525">
            <a:solidFill>
              <a:srgbClr val="E32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Warehouses vs Databases</a:t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421975" y="1052375"/>
            <a:ext cx="86112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It makes a lot of sense for organizations to separate their software and analytics zones.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They use one or more transactional databases, such as PostgreSQL and MongoDB, for core functionalities such as processing orders and chatting with support in food delivery systems.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They use a data warehouse, such as Snowflake or Redshift, to store historical data for data analysis, business intelligence, reporting, and data science.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Separate teams handle different databases based on the requirements of the business. 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ETL pipelines often move data from databases to data warehouses.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Since data warehouses are better with batch updates, ETL pipelines may run on a regular basis (like every hour) to move data in batches for efficient insertion. -&gt; We’ll cover this concept in data pipelines.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300"/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53926" l="0" r="0" t="8609"/>
          <a:stretch/>
        </p:blipFill>
        <p:spPr>
          <a:xfrm>
            <a:off x="1188300" y="3253050"/>
            <a:ext cx="7022448" cy="14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421975" y="1052375"/>
            <a:ext cx="84846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While data warehouses and databases remain distinct categories of data storage, they have started adopting each other's capabilities. 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Snowflake recently introduced hybrid tables, which support transactional queries and allows teams using a Snowflake as a data warehouse to perform fast, frequent writes to a single table.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PostgreSQL has had optimizations for OLAP, making it a good option for data warehousing tasks.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Every database and data warehouse has unique implementations. While general concepts like columnar vs. row-based storage apply across technologies, selecting the right solution depends on a company’s specific requirements.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After choosing a technology, it’s important to understand its features, mechanisms and optimization methods to use it effectively and avoid potential misuses.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