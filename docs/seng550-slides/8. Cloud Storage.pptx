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yMxrEjHyTUG58on8Sa69cdWnM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8F8478E-17CE-4607-8CD2-61A015F93E11}">
  <a:tblStyle styleId="{88F8478E-17CE-4607-8CD2-61A015F93E1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48d99fd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848d99fd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7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alibri"/>
              <a:buNone/>
              <a:defRPr b="1" i="0" sz="41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  <a:defRPr b="1" i="0" sz="11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8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18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" name="Google Shape;14;p18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5" name="Google Shape;15;p18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" name="Google Shape;16;p18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7" name="Google Shape;17;p18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8" name="Google Shape;18;p18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" name="Google Shape;19;p18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" name="Google Shape;20;p18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421971" y="1329896"/>
            <a:ext cx="7293300" cy="30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E32726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5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to with text">
  <p:cSld name="Sing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/>
          <p:nvPr>
            <p:ph idx="2" type="pic"/>
          </p:nvPr>
        </p:nvSpPr>
        <p:spPr>
          <a:xfrm>
            <a:off x="700398" y="1329766"/>
            <a:ext cx="2953800" cy="2953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4010677" y="1329766"/>
            <a:ext cx="4510200" cy="29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2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photo with text">
  <p:cSld name="Double photo with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/>
          <p:nvPr>
            <p:ph idx="2" type="pic"/>
          </p:nvPr>
        </p:nvSpPr>
        <p:spPr>
          <a:xfrm>
            <a:off x="700398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700398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1"/>
          <p:cNvSpPr/>
          <p:nvPr>
            <p:ph idx="3" type="pic"/>
          </p:nvPr>
        </p:nvSpPr>
        <p:spPr>
          <a:xfrm>
            <a:off x="5430539" y="1241431"/>
            <a:ext cx="2987100" cy="1667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" name="Google Shape;36;p21"/>
          <p:cNvCxnSpPr/>
          <p:nvPr/>
        </p:nvCxnSpPr>
        <p:spPr>
          <a:xfrm>
            <a:off x="4572000" y="1163485"/>
            <a:ext cx="0" cy="349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" name="Google Shape;37;p21"/>
          <p:cNvSpPr txBox="1"/>
          <p:nvPr>
            <p:ph idx="4" type="body"/>
          </p:nvPr>
        </p:nvSpPr>
        <p:spPr>
          <a:xfrm>
            <a:off x="5430539" y="3151862"/>
            <a:ext cx="29970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FBB03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B857B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6859820" y="478540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21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slide">
  <p:cSld name="Statement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1183710" y="1227953"/>
            <a:ext cx="6562200" cy="3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Arial"/>
              <a:buNone/>
              <a:defRPr b="1" i="0" sz="45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ding slide">
  <p:cSld name="Concluding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/>
          <p:nvPr>
            <p:ph type="ctrTitle"/>
          </p:nvPr>
        </p:nvSpPr>
        <p:spPr>
          <a:xfrm>
            <a:off x="1183709" y="1260389"/>
            <a:ext cx="6313800" cy="1446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alibri"/>
              <a:buNone/>
              <a:defRPr b="1" i="0" sz="27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1183709" y="2718141"/>
            <a:ext cx="63138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3"/>
          <p:cNvSpPr txBox="1"/>
          <p:nvPr>
            <p:ph idx="2" type="body"/>
          </p:nvPr>
        </p:nvSpPr>
        <p:spPr>
          <a:xfrm>
            <a:off x="1183709" y="3315289"/>
            <a:ext cx="63138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4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1183709" y="1339007"/>
            <a:ext cx="58809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3703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rPr lang="en"/>
              <a:t>Scalable Data Analytics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1183709" y="3096024"/>
            <a:ext cx="58809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SENG 550</a:t>
            </a:r>
            <a:endParaRPr/>
          </a:p>
        </p:txBody>
      </p:sp>
      <p:sp>
        <p:nvSpPr>
          <p:cNvPr id="57" name="Google Shape;57;p1"/>
          <p:cNvSpPr txBox="1"/>
          <p:nvPr>
            <p:ph idx="2" type="body"/>
          </p:nvPr>
        </p:nvSpPr>
        <p:spPr>
          <a:xfrm>
            <a:off x="1183709" y="3636920"/>
            <a:ext cx="58809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AKA. Big Data - Data Engineering</a:t>
            </a:r>
            <a:endParaRPr/>
          </a:p>
        </p:txBody>
      </p:sp>
      <p:sp>
        <p:nvSpPr>
          <p:cNvPr id="58" name="Google Shape;58;p1"/>
          <p:cNvSpPr txBox="1"/>
          <p:nvPr>
            <p:ph idx="3" type="body"/>
          </p:nvPr>
        </p:nvSpPr>
        <p:spPr>
          <a:xfrm>
            <a:off x="1183709" y="4485884"/>
            <a:ext cx="49395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Armin Zirak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000"/>
              <a:t>Cloud Storage (Data Lake)</a:t>
            </a:r>
            <a:endParaRPr sz="3000"/>
          </a:p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Recap - Data Warehouses vs Databases</a:t>
            </a:r>
            <a:endParaRPr/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421975" y="1052375"/>
            <a:ext cx="83826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 sz="1600"/>
              <a:t>So far, we’ve learned Data Warehouses: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Are data storage systems designed for data analysis and reporting.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Contain more data compared to databases.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Are cheaper to store large amounts of data.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Are more capable of processing large chunks of data in queries (OLAP).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Use redundant data modeling like Star Schema.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Along the same trend, we will explore </a:t>
            </a:r>
            <a:r>
              <a:rPr b="1" lang="en" sz="1600"/>
              <a:t>cloud storage and data lakes</a:t>
            </a:r>
            <a:r>
              <a:rPr lang="en" sz="1600"/>
              <a:t> now...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6124" y="3177969"/>
            <a:ext cx="3731748" cy="17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Limitations of DWs and DBs - Unstructured Data</a:t>
            </a:r>
            <a:endParaRPr/>
          </a:p>
        </p:txBody>
      </p:sp>
      <p:sp>
        <p:nvSpPr>
          <p:cNvPr id="77" name="Google Shape;77;p4"/>
          <p:cNvSpPr txBox="1"/>
          <p:nvPr>
            <p:ph idx="1" type="body"/>
          </p:nvPr>
        </p:nvSpPr>
        <p:spPr>
          <a:xfrm>
            <a:off x="421975" y="1052375"/>
            <a:ext cx="8382600" cy="3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if you want to store </a:t>
            </a:r>
            <a:r>
              <a:rPr b="1" lang="en" sz="1600"/>
              <a:t>unstructured data</a:t>
            </a:r>
            <a:r>
              <a:rPr lang="en" sz="1600"/>
              <a:t>?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Image, Text, Files, Videos, Sensors Data.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Systems need to store these data types for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Machine Learning: Computer Vision, NLP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Core Software Functionalities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Storing users’ profile pictures.</a:t>
            </a:r>
            <a:endParaRPr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Storing PDF documents.</a:t>
            </a:r>
            <a:endParaRPr sz="160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For these data types, advanced search engines aren’t needed.</a:t>
            </a:r>
            <a:endParaRPr sz="1550"/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For example: </a:t>
            </a:r>
            <a:r>
              <a:rPr lang="en" sz="1550">
                <a:highlight>
                  <a:srgbClr val="FFF2CC"/>
                </a:highlight>
              </a:rPr>
              <a:t>select * from pictures where [condition]</a:t>
            </a:r>
            <a:r>
              <a:rPr lang="en" sz="1550"/>
              <a:t> is not a regular use case when storing image data.</a:t>
            </a:r>
            <a:endParaRPr sz="1550"/>
          </a:p>
          <a:p>
            <a:pPr indent="-3270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○"/>
            </a:pPr>
            <a:r>
              <a:rPr lang="en" sz="1550"/>
              <a:t>Often, we just need to store and retrieve files by ID.</a:t>
            </a:r>
            <a:endParaRPr sz="1550"/>
          </a:p>
          <a:p>
            <a:pPr indent="-3270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50"/>
              <a:buChar char="●"/>
            </a:pPr>
            <a:r>
              <a:rPr lang="en" sz="1550"/>
              <a:t>So, data warehouse and database technologies are not helpful as they serve a different purpose.</a:t>
            </a:r>
            <a:endParaRPr sz="155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sp>
        <p:nvSpPr>
          <p:cNvPr id="78" name="Google Shape;78;p4"/>
          <p:cNvSpPr/>
          <p:nvPr/>
        </p:nvSpPr>
        <p:spPr>
          <a:xfrm>
            <a:off x="5267800" y="1180325"/>
            <a:ext cx="3567900" cy="1181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Reminder: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example, NoSQL databases like MongoDB can handle JSON data but not large files like videos or images.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Limitations of DWs and DBs - History Size</a:t>
            </a:r>
            <a:endParaRPr/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421975" y="1052375"/>
            <a:ext cx="84846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Imagine you store customer payments in the data warehouse and you only need last 5 years of data for data analysis and machine learning. However, you are legally required to keep data for the last 10 years in case a customer complains about a large payment in 10 years ago.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Similarly, the university keeps your study records for two years actively but it needs to keep them for a longer time even if they are not used for any active use case.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Or, in case someone needs them after years for a new ML initiatives.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Similar to the difference between data warehouses and databases, there is a need for another technology to store more data for a longer period and be cheaper.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For example, laws like GDPR may require keeping data for audits.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Limitations of DWs and DBs - Backups</a:t>
            </a:r>
            <a:endParaRPr/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421975" y="1052375"/>
            <a:ext cx="84846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There is a need to make backups of data on a regular basis.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Data can be lost, like when a developer accidentally deletes tables.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An ETL pipeline applying incorrect transformations.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Cloud Storage</a:t>
            </a:r>
            <a:endParaRPr/>
          </a:p>
        </p:txBody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421975" y="1052375"/>
            <a:ext cx="84846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rPr lang="en" sz="1600"/>
              <a:t>A cloud storage: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Is a cost-effective place to store large volumes of raw and unprocessed data, backups, and any datasets that don’t require the structured environment of a data warehouse or advanced search and query tools.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Stores raw data in many forms (structured, semi-structured, and unstructured).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Is designed to hold all types of data: text, images, video, sensor data, etc.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Unlike data warehouses and databases, data lakes are built to keep data in its natural format.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Cloud Storage</a:t>
            </a:r>
            <a:endParaRPr/>
          </a:p>
        </p:txBody>
      </p:sp>
      <p:sp>
        <p:nvSpPr>
          <p:cNvPr id="102" name="Google Shape;102;p8"/>
          <p:cNvSpPr txBox="1"/>
          <p:nvPr>
            <p:ph idx="1" type="body"/>
          </p:nvPr>
        </p:nvSpPr>
        <p:spPr>
          <a:xfrm>
            <a:off x="421975" y="1052375"/>
            <a:ext cx="84846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lakes usually use cloud storage systems to store data.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Cloud storage grows automatically as data increases.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2587" y="1725000"/>
            <a:ext cx="2043384" cy="1532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9900" y="2794175"/>
            <a:ext cx="265627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91272" y="3311522"/>
            <a:ext cx="2886115" cy="13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Amazon S3</a:t>
            </a:r>
            <a:endParaRPr/>
          </a:p>
        </p:txBody>
      </p:sp>
      <p:sp>
        <p:nvSpPr>
          <p:cNvPr id="111" name="Google Shape;111;p9"/>
          <p:cNvSpPr txBox="1"/>
          <p:nvPr>
            <p:ph idx="1" type="body"/>
          </p:nvPr>
        </p:nvSpPr>
        <p:spPr>
          <a:xfrm>
            <a:off x="421975" y="1052375"/>
            <a:ext cx="84846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Amazon S3 has different tiers itself depending on how frequent you access data.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Glacier and Archive tiers are for infrequent accesses while standard is for more frequent retrieval.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You don’t need to memorize anything from this page.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600"/>
          </a:p>
        </p:txBody>
      </p:sp>
      <p:pic>
        <p:nvPicPr>
          <p:cNvPr id="112" name="Google Shape;1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125" y="2160473"/>
            <a:ext cx="7679727" cy="291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Cloud Storage vs Data Warehouse</a:t>
            </a:r>
            <a:endParaRPr/>
          </a:p>
        </p:txBody>
      </p:sp>
      <p:graphicFrame>
        <p:nvGraphicFramePr>
          <p:cNvPr id="118" name="Google Shape;118;p12"/>
          <p:cNvGraphicFramePr/>
          <p:nvPr/>
        </p:nvGraphicFramePr>
        <p:xfrm>
          <a:off x="442550" y="1527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{88F8478E-17CE-4607-8CD2-61A015F93E11}</a:tableStyleId>
              </a:tblPr>
              <a:tblGrid>
                <a:gridCol w="1350925"/>
                <a:gridCol w="3445925"/>
                <a:gridCol w="36466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/>
                        <a:t>Cloud Storage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Data Warehouse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Raw</a:t>
                      </a:r>
                      <a:r>
                        <a:rPr lang="en" sz="1200"/>
                        <a:t> and </a:t>
                      </a:r>
                      <a:r>
                        <a:rPr lang="en" sz="1200" u="none" cap="none" strike="noStrike"/>
                        <a:t>unstructured </a:t>
                      </a:r>
                      <a:r>
                        <a:rPr lang="en" sz="1200"/>
                        <a:t>data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Processed, structured data optimized for reporting and analysis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Cost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Generally lower due to cheaper storage options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Higher, as storage is optimized for fast queries.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Performance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Lower query performance for complex analytics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High performance for analytics due to pre-processed data.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Users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Data scientists,</a:t>
                      </a:r>
                      <a:r>
                        <a:rPr lang="en" sz="1200" u="none" cap="none" strike="noStrike"/>
                        <a:t> engineers requiring raw data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Business analysts</a:t>
                      </a:r>
                      <a:r>
                        <a:rPr lang="en" sz="1200" u="none" cap="none" strike="noStrike"/>
                        <a:t> and decision-makers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Examples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AWS S3-based lake, Azure </a:t>
                      </a:r>
                      <a:r>
                        <a:rPr lang="en" sz="1200"/>
                        <a:t>Blob</a:t>
                      </a:r>
                      <a:r>
                        <a:rPr lang="en" sz="1200" u="none" cap="none" strike="noStrike"/>
                        <a:t> </a:t>
                      </a:r>
                      <a:r>
                        <a:rPr lang="en" sz="1200"/>
                        <a:t>Storage</a:t>
                      </a:r>
                      <a:r>
                        <a:rPr lang="en" sz="1200" u="none" cap="none" strike="noStrike"/>
                        <a:t>, Google Cloud Storage.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Snowflake, Amazon Redshift, Google BigQuery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48d99fd9f_0_0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Date Lakes</a:t>
            </a:r>
            <a:endParaRPr/>
          </a:p>
        </p:txBody>
      </p:sp>
      <p:sp>
        <p:nvSpPr>
          <p:cNvPr id="124" name="Google Shape;124;g3848d99fd9f_0_0"/>
          <p:cNvSpPr txBox="1"/>
          <p:nvPr>
            <p:ph idx="1" type="body"/>
          </p:nvPr>
        </p:nvSpPr>
        <p:spPr>
          <a:xfrm>
            <a:off x="421975" y="1052375"/>
            <a:ext cx="45240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Many people use </a:t>
            </a:r>
            <a:r>
              <a:rPr b="1" lang="en" sz="1300"/>
              <a:t>Cloud Storage</a:t>
            </a:r>
            <a:r>
              <a:rPr lang="en" sz="1300"/>
              <a:t> and </a:t>
            </a:r>
            <a:r>
              <a:rPr b="1" lang="en" sz="1300"/>
              <a:t>Data Lake</a:t>
            </a:r>
            <a:r>
              <a:rPr lang="en" sz="1300"/>
              <a:t> interchangeably. So, while the core idea is the same, </a:t>
            </a:r>
            <a:r>
              <a:rPr lang="en" sz="1300"/>
              <a:t>they are not the same.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 </a:t>
            </a:r>
            <a:r>
              <a:rPr b="1" lang="en" sz="1300"/>
              <a:t>Data Lake</a:t>
            </a:r>
            <a:r>
              <a:rPr lang="en" sz="1300"/>
              <a:t> uses </a:t>
            </a:r>
            <a:r>
              <a:rPr b="1" lang="en" sz="1300"/>
              <a:t>cloud storage</a:t>
            </a:r>
            <a:r>
              <a:rPr lang="en" sz="1300"/>
              <a:t> (like Amazon S3 or Azure Blob) as its foundation to store </a:t>
            </a:r>
            <a:r>
              <a:rPr b="1" lang="en" sz="1300"/>
              <a:t>all types of raw data</a:t>
            </a:r>
            <a:r>
              <a:rPr lang="en" sz="1300"/>
              <a:t> at scale.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Unlike</a:t>
            </a:r>
            <a:r>
              <a:rPr lang="en" sz="1300"/>
              <a:t> </a:t>
            </a:r>
            <a:r>
              <a:rPr lang="en" sz="1300"/>
              <a:t>basic cloud storage, a Data Lake adds </a:t>
            </a:r>
            <a:r>
              <a:rPr b="1" lang="en" sz="1300"/>
              <a:t>data management, processing, and analytics capabilities</a:t>
            </a:r>
            <a:r>
              <a:rPr lang="en" sz="1300"/>
              <a:t> on top of the stored data.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Cloud Storage =</a:t>
            </a:r>
            <a:r>
              <a:rPr lang="en" sz="1300"/>
              <a:t> Scalable, secure storage for files and data.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Data Lake =</a:t>
            </a:r>
            <a:r>
              <a:rPr lang="en" sz="1300"/>
              <a:t> Cloud Storage + tools and architecture for big data analytics, machine learning, and real-time insights.</a:t>
            </a:r>
            <a:endParaRPr sz="1300"/>
          </a:p>
        </p:txBody>
      </p:sp>
      <p:pic>
        <p:nvPicPr>
          <p:cNvPr id="125" name="Google Shape;125;g3848d99fd9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4025" y="927350"/>
            <a:ext cx="3655352" cy="365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Lakehouse</a:t>
            </a:r>
            <a:endParaRPr/>
          </a:p>
        </p:txBody>
      </p:sp>
      <p:sp>
        <p:nvSpPr>
          <p:cNvPr id="131" name="Google Shape;131;p13"/>
          <p:cNvSpPr txBox="1"/>
          <p:nvPr>
            <p:ph idx="1" type="body"/>
          </p:nvPr>
        </p:nvSpPr>
        <p:spPr>
          <a:xfrm>
            <a:off x="421975" y="1052375"/>
            <a:ext cx="4547700" cy="3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While data warehouses and data lakes each have their pros and cons, the </a:t>
            </a:r>
            <a:r>
              <a:rPr b="1" lang="en" sz="1500"/>
              <a:t>data lakehouse</a:t>
            </a:r>
            <a:r>
              <a:rPr lang="en" sz="1500"/>
              <a:t> is a newer technology that combines the benefits of both.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Lakehouses are relatively new and not widely adopted in the industry.</a:t>
            </a:r>
            <a:endParaRPr sz="15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For example, Databricks Lakehouse supports both machine learning and business analysis on the same data. (2020)</a:t>
            </a:r>
            <a:endParaRPr sz="1400"/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0375" y="1263775"/>
            <a:ext cx="3995775" cy="254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 Lakehouse</a:t>
            </a:r>
            <a:endParaRPr/>
          </a:p>
        </p:txBody>
      </p:sp>
      <p:pic>
        <p:nvPicPr>
          <p:cNvPr id="138" name="Google Shape;1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8338" y="1077550"/>
            <a:ext cx="6107326" cy="366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421971" y="347976"/>
            <a:ext cx="72933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Databricks Lakehouse</a:t>
            </a:r>
            <a:endParaRPr/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0485" y="947500"/>
            <a:ext cx="3888265" cy="390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