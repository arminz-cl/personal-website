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3" roundtripDataSignature="AMtx7mj4jBX+vNZbv2kV/YfDcBsuxy2i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a1007964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39a1007964c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4726a4ff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3a4726a4ff4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a1007964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39a1007964c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4726a4ff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a4726a4ff4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a1007964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9a1007964c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a1007964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9a1007964c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a1007964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9a1007964c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a1007964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9a1007964c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a1007964c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9a1007964c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a1007964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9a1007964c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a1007964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9a1007964c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a1007964c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9a1007964c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a1007964c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9a1007964c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a1007964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9a1007964c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a1007964c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39a1007964c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6" name="Shape 6"/>
        <p:cNvGrpSpPr/>
        <p:nvPr/>
      </p:nvGrpSpPr>
      <p:grpSpPr>
        <a:xfrm>
          <a:off x="0" y="0"/>
          <a:ext cx="0" cy="0"/>
          <a:chOff x="0" y="0"/>
          <a:chExt cx="0" cy="0"/>
        </a:xfrm>
      </p:grpSpPr>
      <p:sp>
        <p:nvSpPr>
          <p:cNvPr id="7" name="Google Shape;7;p23"/>
          <p:cNvSpPr txBox="1"/>
          <p:nvPr>
            <p:ph type="ctrTitle"/>
          </p:nvPr>
        </p:nvSpPr>
        <p:spPr>
          <a:xfrm>
            <a:off x="1183709" y="1339007"/>
            <a:ext cx="5880900" cy="1757100"/>
          </a:xfrm>
          <a:prstGeom prst="rect">
            <a:avLst/>
          </a:prstGeom>
          <a:noFill/>
          <a:ln>
            <a:noFill/>
          </a:ln>
        </p:spPr>
        <p:txBody>
          <a:bodyPr anchorCtr="0" anchor="b" bIns="34275" lIns="68575" spcFirstLastPara="1" rIns="68575" wrap="square" tIns="34275">
            <a:normAutofit/>
          </a:bodyPr>
          <a:lstStyle>
            <a:lvl1pPr lvl="0" marR="0" rtl="0" algn="l">
              <a:lnSpc>
                <a:spcPct val="103703"/>
              </a:lnSpc>
              <a:spcBef>
                <a:spcPts val="0"/>
              </a:spcBef>
              <a:spcAft>
                <a:spcPts val="0"/>
              </a:spcAft>
              <a:buClr>
                <a:schemeClr val="accent1"/>
              </a:buClr>
              <a:buSzPts val="4100"/>
              <a:buFont typeface="Calibri"/>
              <a:buNone/>
              <a:defRPr b="1" i="0" sz="41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3"/>
          <p:cNvSpPr txBox="1"/>
          <p:nvPr>
            <p:ph idx="1" type="subTitle"/>
          </p:nvPr>
        </p:nvSpPr>
        <p:spPr>
          <a:xfrm>
            <a:off x="1183709" y="3096024"/>
            <a:ext cx="5880900" cy="536100"/>
          </a:xfrm>
          <a:prstGeom prst="rect">
            <a:avLst/>
          </a:prstGeom>
          <a:noFill/>
          <a:ln>
            <a:noFill/>
          </a:ln>
        </p:spPr>
        <p:txBody>
          <a:bodyPr anchorCtr="0" anchor="t" bIns="34275" lIns="68575" spcFirstLastPara="1" rIns="68575" wrap="square" tIns="34275">
            <a:noAutofit/>
          </a:bodyPr>
          <a:lstStyle>
            <a:lvl1pPr lvl="0" marR="0" rtl="0" algn="l">
              <a:lnSpc>
                <a:spcPct val="108333"/>
              </a:lnSpc>
              <a:spcBef>
                <a:spcPts val="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9" name="Google Shape;9;p23"/>
          <p:cNvSpPr txBox="1"/>
          <p:nvPr>
            <p:ph idx="2" type="body"/>
          </p:nvPr>
        </p:nvSpPr>
        <p:spPr>
          <a:xfrm>
            <a:off x="1183709" y="3636920"/>
            <a:ext cx="5880900" cy="8442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111111"/>
              </a:lnSpc>
              <a:spcBef>
                <a:spcPts val="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0" name="Google Shape;10;p23"/>
          <p:cNvSpPr txBox="1"/>
          <p:nvPr>
            <p:ph idx="3" type="body"/>
          </p:nvPr>
        </p:nvSpPr>
        <p:spPr>
          <a:xfrm>
            <a:off x="1183709" y="4485884"/>
            <a:ext cx="4939500" cy="3915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0"/>
              </a:spcBef>
              <a:spcAft>
                <a:spcPts val="0"/>
              </a:spcAft>
              <a:buClr>
                <a:schemeClr val="accent3"/>
              </a:buClr>
              <a:buSzPts val="1100"/>
              <a:buFont typeface="Arial"/>
              <a:buNone/>
              <a:defRPr b="1" i="0" sz="1100" u="none" cap="none" strike="noStrike">
                <a:solidFill>
                  <a:schemeClr val="accent3"/>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cxnSp>
        <p:nvCxnSpPr>
          <p:cNvPr id="12" name="Google Shape;12;p2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3" name="Google Shape;13;p2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4" name="Google Shape;14;p24"/>
          <p:cNvGrpSpPr/>
          <p:nvPr/>
        </p:nvGrpSpPr>
        <p:grpSpPr>
          <a:xfrm>
            <a:off x="1004144" y="1022025"/>
            <a:ext cx="7136668" cy="152400"/>
            <a:chOff x="1346429" y="1011300"/>
            <a:chExt cx="6452100" cy="152400"/>
          </a:xfrm>
        </p:grpSpPr>
        <p:cxnSp>
          <p:nvCxnSpPr>
            <p:cNvPr id="15" name="Google Shape;15;p2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6" name="Google Shape;16;p2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7" name="Google Shape;17;p24"/>
          <p:cNvGrpSpPr/>
          <p:nvPr/>
        </p:nvGrpSpPr>
        <p:grpSpPr>
          <a:xfrm>
            <a:off x="1004151" y="3969100"/>
            <a:ext cx="7136668" cy="152400"/>
            <a:chOff x="1346435" y="3969088"/>
            <a:chExt cx="6452100" cy="152400"/>
          </a:xfrm>
        </p:grpSpPr>
        <p:cxnSp>
          <p:nvCxnSpPr>
            <p:cNvPr id="18" name="Google Shape;18;p2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9" name="Google Shape;19;p2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20" name="Google Shape;20;p24"/>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9pPr>
          </a:lstStyle>
          <a:p/>
        </p:txBody>
      </p:sp>
      <p:sp>
        <p:nvSpPr>
          <p:cNvPr id="21" name="Google Shape;21;p24"/>
          <p:cNvSpPr txBox="1"/>
          <p:nvPr>
            <p:ph idx="1" type="subTitle"/>
          </p:nvPr>
        </p:nvSpPr>
        <p:spPr>
          <a:xfrm>
            <a:off x="2137225" y="2850039"/>
            <a:ext cx="48705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9pPr>
          </a:lstStyle>
          <a:p/>
        </p:txBody>
      </p:sp>
      <p:sp>
        <p:nvSpPr>
          <p:cNvPr id="22" name="Google Shape;2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25"/>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5" name="Google Shape;25;p25"/>
          <p:cNvSpPr txBox="1"/>
          <p:nvPr>
            <p:ph idx="1" type="body"/>
          </p:nvPr>
        </p:nvSpPr>
        <p:spPr>
          <a:xfrm>
            <a:off x="421971" y="1329896"/>
            <a:ext cx="7293300" cy="30867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E32726"/>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rgbClr val="FBB03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rgbClr val="8B857B"/>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3"/>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 name="Google Shape;26;p25"/>
          <p:cNvSpPr txBox="1"/>
          <p:nvPr>
            <p:ph idx="12" type="sldNum"/>
          </p:nvPr>
        </p:nvSpPr>
        <p:spPr>
          <a:xfrm>
            <a:off x="6859820" y="4785404"/>
            <a:ext cx="2057400" cy="2739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53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hoto with text">
  <p:cSld name="Single photo with text">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26"/>
          <p:cNvSpPr/>
          <p:nvPr>
            <p:ph idx="2" type="pic"/>
          </p:nvPr>
        </p:nvSpPr>
        <p:spPr>
          <a:xfrm>
            <a:off x="700398" y="1329766"/>
            <a:ext cx="2953800" cy="2953800"/>
          </a:xfrm>
          <a:prstGeom prst="rect">
            <a:avLst/>
          </a:prstGeom>
          <a:noFill/>
          <a:ln>
            <a:noFill/>
          </a:ln>
        </p:spPr>
      </p:sp>
      <p:sp>
        <p:nvSpPr>
          <p:cNvPr id="29" name="Google Shape;29;p26"/>
          <p:cNvSpPr txBox="1"/>
          <p:nvPr>
            <p:ph idx="1" type="body"/>
          </p:nvPr>
        </p:nvSpPr>
        <p:spPr>
          <a:xfrm>
            <a:off x="4010677" y="1329766"/>
            <a:ext cx="4510200" cy="29538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accent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rgbClr val="FBB03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rgbClr val="8B857B"/>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3"/>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0" name="Google Shape;30;p26"/>
          <p:cNvSpPr txBox="1"/>
          <p:nvPr>
            <p:ph idx="12" type="sldNum"/>
          </p:nvPr>
        </p:nvSpPr>
        <p:spPr>
          <a:xfrm>
            <a:off x="6859820" y="4785404"/>
            <a:ext cx="2057400" cy="2739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26"/>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photo with text">
  <p:cSld name="Double photo with text">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27"/>
          <p:cNvSpPr/>
          <p:nvPr>
            <p:ph idx="2" type="pic"/>
          </p:nvPr>
        </p:nvSpPr>
        <p:spPr>
          <a:xfrm>
            <a:off x="700398" y="1241431"/>
            <a:ext cx="2987100" cy="1667100"/>
          </a:xfrm>
          <a:prstGeom prst="rect">
            <a:avLst/>
          </a:prstGeom>
          <a:noFill/>
          <a:ln>
            <a:noFill/>
          </a:ln>
        </p:spPr>
      </p:sp>
      <p:sp>
        <p:nvSpPr>
          <p:cNvPr id="34" name="Google Shape;34;p27"/>
          <p:cNvSpPr txBox="1"/>
          <p:nvPr>
            <p:ph idx="1" type="body"/>
          </p:nvPr>
        </p:nvSpPr>
        <p:spPr>
          <a:xfrm>
            <a:off x="700398" y="3151862"/>
            <a:ext cx="2997000" cy="1376400"/>
          </a:xfrm>
          <a:prstGeom prst="rect">
            <a:avLst/>
          </a:prstGeom>
          <a:noFill/>
          <a:ln>
            <a:noFill/>
          </a:ln>
        </p:spPr>
        <p:txBody>
          <a:bodyPr anchorCtr="0" anchor="t" bIns="34275" lIns="68575" spcFirstLastPara="1" rIns="68575" wrap="square" tIns="34275">
            <a:noAutofit/>
          </a:bodyPr>
          <a:lstStyle>
            <a:lvl1pPr indent="-323850" lvl="0" marL="457200" marR="0" rtl="0" algn="l">
              <a:lnSpc>
                <a:spcPct val="90000"/>
              </a:lnSpc>
              <a:spcBef>
                <a:spcPts val="800"/>
              </a:spcBef>
              <a:spcAft>
                <a:spcPts val="0"/>
              </a:spcAft>
              <a:buClr>
                <a:schemeClr val="accent1"/>
              </a:buClr>
              <a:buSzPts val="1500"/>
              <a:buFont typeface="Arial"/>
              <a:buChar char="•"/>
              <a:defRPr b="0" i="0" sz="1500" u="none" cap="none" strike="noStrike">
                <a:solidFill>
                  <a:schemeClr val="dk1"/>
                </a:solidFill>
                <a:latin typeface="Calibri"/>
                <a:ea typeface="Calibri"/>
                <a:cs typeface="Calibri"/>
                <a:sym typeface="Calibri"/>
              </a:defRPr>
            </a:lvl1pPr>
            <a:lvl2pPr indent="-317500" lvl="1" marL="914400" marR="0" rtl="0" algn="l">
              <a:lnSpc>
                <a:spcPct val="90000"/>
              </a:lnSpc>
              <a:spcBef>
                <a:spcPts val="400"/>
              </a:spcBef>
              <a:spcAft>
                <a:spcPts val="0"/>
              </a:spcAft>
              <a:buClr>
                <a:srgbClr val="FBB03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90000"/>
              </a:lnSpc>
              <a:spcBef>
                <a:spcPts val="400"/>
              </a:spcBef>
              <a:spcAft>
                <a:spcPts val="0"/>
              </a:spcAft>
              <a:buClr>
                <a:srgbClr val="8B857B"/>
              </a:buClr>
              <a:buSzPts val="1200"/>
              <a:buFont typeface="Arial"/>
              <a:buChar char="•"/>
              <a:defRPr b="0" i="0" sz="1200" u="none" cap="none" strike="noStrike">
                <a:solidFill>
                  <a:schemeClr val="dk1"/>
                </a:solidFill>
                <a:latin typeface="Calibri"/>
                <a:ea typeface="Calibri"/>
                <a:cs typeface="Calibri"/>
                <a:sym typeface="Calibri"/>
              </a:defRPr>
            </a:lvl3pPr>
            <a:lvl4pPr indent="-298450" lvl="3" marL="1828800" marR="0" rtl="0" algn="l">
              <a:lnSpc>
                <a:spcPct val="90000"/>
              </a:lnSpc>
              <a:spcBef>
                <a:spcPts val="400"/>
              </a:spcBef>
              <a:spcAft>
                <a:spcPts val="0"/>
              </a:spcAft>
              <a:buClr>
                <a:schemeClr val="accent3"/>
              </a:buClr>
              <a:buSzPts val="1100"/>
              <a:buFont typeface="Arial"/>
              <a:buChar char="•"/>
              <a:defRPr b="0" i="0" sz="1100" u="none" cap="none" strike="noStrike">
                <a:solidFill>
                  <a:schemeClr val="dk1"/>
                </a:solidFill>
                <a:latin typeface="Calibri"/>
                <a:ea typeface="Calibri"/>
                <a:cs typeface="Calibri"/>
                <a:sym typeface="Calibri"/>
              </a:defRPr>
            </a:lvl4pPr>
            <a:lvl5pPr indent="-298450" lvl="4" marL="2286000" marR="0" rtl="0" algn="l">
              <a:lnSpc>
                <a:spcPct val="90000"/>
              </a:lnSpc>
              <a:spcBef>
                <a:spcPts val="400"/>
              </a:spcBef>
              <a:spcAft>
                <a:spcPts val="0"/>
              </a:spcAft>
              <a:buClr>
                <a:schemeClr val="accent1"/>
              </a:buClr>
              <a:buSzPts val="1100"/>
              <a:buFont typeface="Arial"/>
              <a:buChar char="•"/>
              <a:defRPr b="0" i="0" sz="11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5" name="Google Shape;35;p27"/>
          <p:cNvSpPr/>
          <p:nvPr>
            <p:ph idx="3" type="pic"/>
          </p:nvPr>
        </p:nvSpPr>
        <p:spPr>
          <a:xfrm>
            <a:off x="5430539" y="1241431"/>
            <a:ext cx="2987100" cy="1667100"/>
          </a:xfrm>
          <a:prstGeom prst="rect">
            <a:avLst/>
          </a:prstGeom>
          <a:noFill/>
          <a:ln>
            <a:noFill/>
          </a:ln>
        </p:spPr>
      </p:sp>
      <p:cxnSp>
        <p:nvCxnSpPr>
          <p:cNvPr id="36" name="Google Shape;36;p27"/>
          <p:cNvCxnSpPr/>
          <p:nvPr/>
        </p:nvCxnSpPr>
        <p:spPr>
          <a:xfrm>
            <a:off x="4572000" y="1163485"/>
            <a:ext cx="0" cy="3490200"/>
          </a:xfrm>
          <a:prstGeom prst="straightConnector1">
            <a:avLst/>
          </a:prstGeom>
          <a:noFill/>
          <a:ln cap="flat" cmpd="sng" w="9525">
            <a:solidFill>
              <a:schemeClr val="dk2"/>
            </a:solidFill>
            <a:prstDash val="solid"/>
            <a:miter lim="800000"/>
            <a:headEnd len="sm" w="sm" type="none"/>
            <a:tailEnd len="sm" w="sm" type="none"/>
          </a:ln>
        </p:spPr>
      </p:cxnSp>
      <p:sp>
        <p:nvSpPr>
          <p:cNvPr id="37" name="Google Shape;37;p27"/>
          <p:cNvSpPr txBox="1"/>
          <p:nvPr>
            <p:ph idx="4" type="body"/>
          </p:nvPr>
        </p:nvSpPr>
        <p:spPr>
          <a:xfrm>
            <a:off x="5430539" y="3151862"/>
            <a:ext cx="2997000" cy="1376400"/>
          </a:xfrm>
          <a:prstGeom prst="rect">
            <a:avLst/>
          </a:prstGeom>
          <a:noFill/>
          <a:ln>
            <a:noFill/>
          </a:ln>
        </p:spPr>
        <p:txBody>
          <a:bodyPr anchorCtr="0" anchor="t" bIns="34275" lIns="68575" spcFirstLastPara="1" rIns="68575" wrap="square" tIns="34275">
            <a:noAutofit/>
          </a:bodyPr>
          <a:lstStyle>
            <a:lvl1pPr indent="-323850" lvl="0" marL="457200" marR="0" rtl="0" algn="l">
              <a:lnSpc>
                <a:spcPct val="90000"/>
              </a:lnSpc>
              <a:spcBef>
                <a:spcPts val="800"/>
              </a:spcBef>
              <a:spcAft>
                <a:spcPts val="0"/>
              </a:spcAft>
              <a:buClr>
                <a:schemeClr val="accent1"/>
              </a:buClr>
              <a:buSzPts val="1500"/>
              <a:buFont typeface="Arial"/>
              <a:buChar char="•"/>
              <a:defRPr b="0" i="0" sz="1500" u="none" cap="none" strike="noStrike">
                <a:solidFill>
                  <a:schemeClr val="dk1"/>
                </a:solidFill>
                <a:latin typeface="Calibri"/>
                <a:ea typeface="Calibri"/>
                <a:cs typeface="Calibri"/>
                <a:sym typeface="Calibri"/>
              </a:defRPr>
            </a:lvl1pPr>
            <a:lvl2pPr indent="-317500" lvl="1" marL="914400" marR="0" rtl="0" algn="l">
              <a:lnSpc>
                <a:spcPct val="90000"/>
              </a:lnSpc>
              <a:spcBef>
                <a:spcPts val="400"/>
              </a:spcBef>
              <a:spcAft>
                <a:spcPts val="0"/>
              </a:spcAft>
              <a:buClr>
                <a:srgbClr val="FBB03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90000"/>
              </a:lnSpc>
              <a:spcBef>
                <a:spcPts val="400"/>
              </a:spcBef>
              <a:spcAft>
                <a:spcPts val="0"/>
              </a:spcAft>
              <a:buClr>
                <a:srgbClr val="8B857B"/>
              </a:buClr>
              <a:buSzPts val="1200"/>
              <a:buFont typeface="Arial"/>
              <a:buChar char="•"/>
              <a:defRPr b="0" i="0" sz="1200" u="none" cap="none" strike="noStrike">
                <a:solidFill>
                  <a:schemeClr val="dk1"/>
                </a:solidFill>
                <a:latin typeface="Calibri"/>
                <a:ea typeface="Calibri"/>
                <a:cs typeface="Calibri"/>
                <a:sym typeface="Calibri"/>
              </a:defRPr>
            </a:lvl3pPr>
            <a:lvl4pPr indent="-298450" lvl="3" marL="1828800" marR="0" rtl="0" algn="l">
              <a:lnSpc>
                <a:spcPct val="90000"/>
              </a:lnSpc>
              <a:spcBef>
                <a:spcPts val="400"/>
              </a:spcBef>
              <a:spcAft>
                <a:spcPts val="0"/>
              </a:spcAft>
              <a:buClr>
                <a:schemeClr val="accent3"/>
              </a:buClr>
              <a:buSzPts val="1100"/>
              <a:buFont typeface="Arial"/>
              <a:buChar char="•"/>
              <a:defRPr b="0" i="0" sz="1100" u="none" cap="none" strike="noStrike">
                <a:solidFill>
                  <a:schemeClr val="dk1"/>
                </a:solidFill>
                <a:latin typeface="Calibri"/>
                <a:ea typeface="Calibri"/>
                <a:cs typeface="Calibri"/>
                <a:sym typeface="Calibri"/>
              </a:defRPr>
            </a:lvl4pPr>
            <a:lvl5pPr indent="-298450" lvl="4" marL="2286000" marR="0" rtl="0" algn="l">
              <a:lnSpc>
                <a:spcPct val="90000"/>
              </a:lnSpc>
              <a:spcBef>
                <a:spcPts val="400"/>
              </a:spcBef>
              <a:spcAft>
                <a:spcPts val="0"/>
              </a:spcAft>
              <a:buClr>
                <a:schemeClr val="accent1"/>
              </a:buClr>
              <a:buSzPts val="1100"/>
              <a:buFont typeface="Arial"/>
              <a:buChar char="•"/>
              <a:defRPr b="0" i="0" sz="11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8" name="Google Shape;38;p27"/>
          <p:cNvSpPr txBox="1"/>
          <p:nvPr>
            <p:ph idx="12" type="sldNum"/>
          </p:nvPr>
        </p:nvSpPr>
        <p:spPr>
          <a:xfrm>
            <a:off x="6859820" y="4785404"/>
            <a:ext cx="2057400" cy="2739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2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lide">
  <p:cSld name="Statement slide">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28"/>
          <p:cNvSpPr txBox="1"/>
          <p:nvPr>
            <p:ph idx="1" type="body"/>
          </p:nvPr>
        </p:nvSpPr>
        <p:spPr>
          <a:xfrm>
            <a:off x="1183710" y="1227953"/>
            <a:ext cx="6562200" cy="3466200"/>
          </a:xfrm>
          <a:prstGeom prst="rect">
            <a:avLst/>
          </a:prstGeom>
          <a:noFill/>
          <a:ln>
            <a:noFill/>
          </a:ln>
        </p:spPr>
        <p:txBody>
          <a:bodyPr anchorCtr="0" anchor="ctr" bIns="34275" lIns="68575" spcFirstLastPara="1" rIns="68575" wrap="square" tIns="34275">
            <a:noAutofit/>
          </a:bodyPr>
          <a:lstStyle>
            <a:lvl1pPr indent="-228600" lvl="0" marL="457200" marR="0" rtl="0" algn="l">
              <a:lnSpc>
                <a:spcPct val="103333"/>
              </a:lnSpc>
              <a:spcBef>
                <a:spcPts val="0"/>
              </a:spcBef>
              <a:spcAft>
                <a:spcPts val="0"/>
              </a:spcAft>
              <a:buClr>
                <a:schemeClr val="accent1"/>
              </a:buClr>
              <a:buSzPts val="4500"/>
              <a:buFont typeface="Arial"/>
              <a:buNone/>
              <a:defRPr b="1" i="0" sz="4500" u="none" cap="none" strike="noStrike">
                <a:solidFill>
                  <a:schemeClr val="accen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ding slide">
  <p:cSld name="Concluding slide">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29"/>
          <p:cNvSpPr txBox="1"/>
          <p:nvPr>
            <p:ph type="ctrTitle"/>
          </p:nvPr>
        </p:nvSpPr>
        <p:spPr>
          <a:xfrm>
            <a:off x="1183709" y="1260389"/>
            <a:ext cx="6313800" cy="1446300"/>
          </a:xfrm>
          <a:prstGeom prst="rect">
            <a:avLst/>
          </a:prstGeom>
          <a:noFill/>
          <a:ln>
            <a:noFill/>
          </a:ln>
        </p:spPr>
        <p:txBody>
          <a:bodyPr anchorCtr="0" anchor="b"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4" name="Google Shape;44;p29"/>
          <p:cNvSpPr txBox="1"/>
          <p:nvPr>
            <p:ph idx="1" type="subTitle"/>
          </p:nvPr>
        </p:nvSpPr>
        <p:spPr>
          <a:xfrm>
            <a:off x="1183709" y="2718141"/>
            <a:ext cx="6313800" cy="585600"/>
          </a:xfrm>
          <a:prstGeom prst="rect">
            <a:avLst/>
          </a:prstGeom>
          <a:noFill/>
          <a:ln>
            <a:noFill/>
          </a:ln>
        </p:spPr>
        <p:txBody>
          <a:bodyPr anchorCtr="0" anchor="t" bIns="34275" lIns="68575" spcFirstLastPara="1" rIns="68575" wrap="square" tIns="34275">
            <a:noAutofit/>
          </a:bodyPr>
          <a:lstStyle>
            <a:lvl1pPr lvl="0" marR="0" rtl="0" algn="l">
              <a:lnSpc>
                <a:spcPct val="108333"/>
              </a:lnSpc>
              <a:spcBef>
                <a:spcPts val="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45" name="Google Shape;45;p29"/>
          <p:cNvSpPr txBox="1"/>
          <p:nvPr>
            <p:ph idx="2" type="body"/>
          </p:nvPr>
        </p:nvSpPr>
        <p:spPr>
          <a:xfrm>
            <a:off x="1183709" y="3315289"/>
            <a:ext cx="6313800" cy="11016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111111"/>
              </a:lnSpc>
              <a:spcBef>
                <a:spcPts val="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30"/>
          <p:cNvSpPr txBox="1"/>
          <p:nvPr>
            <p:ph type="title"/>
          </p:nvPr>
        </p:nvSpPr>
        <p:spPr>
          <a:xfrm>
            <a:off x="311700" y="445025"/>
            <a:ext cx="8520600" cy="7074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48" name="Google Shape;48;p30"/>
          <p:cNvSpPr txBox="1"/>
          <p:nvPr>
            <p:ph idx="1" type="body"/>
          </p:nvPr>
        </p:nvSpPr>
        <p:spPr>
          <a:xfrm>
            <a:off x="311700" y="1266175"/>
            <a:ext cx="3999900" cy="33027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49" name="Google Shape;49;p30"/>
          <p:cNvSpPr txBox="1"/>
          <p:nvPr>
            <p:ph idx="2" type="body"/>
          </p:nvPr>
        </p:nvSpPr>
        <p:spPr>
          <a:xfrm>
            <a:off x="4832400" y="1266175"/>
            <a:ext cx="3999900" cy="33027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50" name="Google Shape;5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ph type="ctrTitle"/>
          </p:nvPr>
        </p:nvSpPr>
        <p:spPr>
          <a:xfrm>
            <a:off x="1183709" y="1339007"/>
            <a:ext cx="5880900" cy="1757100"/>
          </a:xfrm>
          <a:prstGeom prst="rect">
            <a:avLst/>
          </a:prstGeom>
          <a:noFill/>
          <a:ln>
            <a:noFill/>
          </a:ln>
        </p:spPr>
        <p:txBody>
          <a:bodyPr anchorCtr="0" anchor="b" bIns="34275" lIns="68575" spcFirstLastPara="1" rIns="68575" wrap="square" tIns="34275">
            <a:normAutofit/>
          </a:bodyPr>
          <a:lstStyle/>
          <a:p>
            <a:pPr indent="0" lvl="0" marL="0" rtl="0" algn="l">
              <a:lnSpc>
                <a:spcPct val="103703"/>
              </a:lnSpc>
              <a:spcBef>
                <a:spcPts val="0"/>
              </a:spcBef>
              <a:spcAft>
                <a:spcPts val="0"/>
              </a:spcAft>
              <a:buSzPts val="4100"/>
              <a:buNone/>
            </a:pPr>
            <a:r>
              <a:rPr lang="en"/>
              <a:t>Scalable Data Analytics</a:t>
            </a:r>
            <a:endParaRPr/>
          </a:p>
        </p:txBody>
      </p:sp>
      <p:sp>
        <p:nvSpPr>
          <p:cNvPr id="56" name="Google Shape;56;p1"/>
          <p:cNvSpPr txBox="1"/>
          <p:nvPr>
            <p:ph idx="1" type="subTitle"/>
          </p:nvPr>
        </p:nvSpPr>
        <p:spPr>
          <a:xfrm>
            <a:off x="1183709" y="3096024"/>
            <a:ext cx="5880900" cy="536100"/>
          </a:xfrm>
          <a:prstGeom prst="rect">
            <a:avLst/>
          </a:prstGeom>
          <a:noFill/>
          <a:ln>
            <a:noFill/>
          </a:ln>
        </p:spPr>
        <p:txBody>
          <a:bodyPr anchorCtr="0" anchor="t" bIns="34275" lIns="68575" spcFirstLastPara="1" rIns="68575" wrap="square" tIns="34275">
            <a:noAutofit/>
          </a:bodyPr>
          <a:lstStyle/>
          <a:p>
            <a:pPr indent="0" lvl="0" marL="0" rtl="0" algn="l">
              <a:lnSpc>
                <a:spcPct val="108333"/>
              </a:lnSpc>
              <a:spcBef>
                <a:spcPts val="0"/>
              </a:spcBef>
              <a:spcAft>
                <a:spcPts val="0"/>
              </a:spcAft>
              <a:buSzPts val="1800"/>
              <a:buNone/>
            </a:pPr>
            <a:r>
              <a:rPr lang="en"/>
              <a:t>SENG 550</a:t>
            </a:r>
            <a:endParaRPr/>
          </a:p>
        </p:txBody>
      </p:sp>
      <p:sp>
        <p:nvSpPr>
          <p:cNvPr id="57" name="Google Shape;57;p1"/>
          <p:cNvSpPr txBox="1"/>
          <p:nvPr>
            <p:ph idx="2" type="body"/>
          </p:nvPr>
        </p:nvSpPr>
        <p:spPr>
          <a:xfrm>
            <a:off x="1183709" y="3636920"/>
            <a:ext cx="5880900" cy="844200"/>
          </a:xfrm>
          <a:prstGeom prst="rect">
            <a:avLst/>
          </a:prstGeom>
          <a:noFill/>
          <a:ln>
            <a:noFill/>
          </a:ln>
        </p:spPr>
        <p:txBody>
          <a:bodyPr anchorCtr="0" anchor="b" bIns="34275" lIns="68575" spcFirstLastPara="1" rIns="68575" wrap="square" tIns="34275">
            <a:noAutofit/>
          </a:bodyPr>
          <a:lstStyle/>
          <a:p>
            <a:pPr indent="0" lvl="0" marL="0" rtl="0" algn="l">
              <a:lnSpc>
                <a:spcPct val="111111"/>
              </a:lnSpc>
              <a:spcBef>
                <a:spcPts val="0"/>
              </a:spcBef>
              <a:spcAft>
                <a:spcPts val="0"/>
              </a:spcAft>
              <a:buSzPts val="1400"/>
              <a:buNone/>
            </a:pPr>
            <a:r>
              <a:rPr lang="en"/>
              <a:t>AKA. Big Data - Data Engineering</a:t>
            </a:r>
            <a:endParaRPr/>
          </a:p>
        </p:txBody>
      </p:sp>
      <p:sp>
        <p:nvSpPr>
          <p:cNvPr id="58" name="Google Shape;58;p1"/>
          <p:cNvSpPr txBox="1"/>
          <p:nvPr>
            <p:ph idx="3" type="body"/>
          </p:nvPr>
        </p:nvSpPr>
        <p:spPr>
          <a:xfrm>
            <a:off x="1183709" y="4485884"/>
            <a:ext cx="4939500" cy="3915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SzPts val="1100"/>
              <a:buNone/>
            </a:pPr>
            <a:r>
              <a:rPr lang="en"/>
              <a:t>Armin Zirak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400"/>
              <a:buNone/>
            </a:pPr>
            <a:r>
              <a:rPr lang="en" sz="3000"/>
              <a:t>Data Pipelines (Cont.)</a:t>
            </a:r>
            <a:endParaRPr sz="3000"/>
          </a:p>
        </p:txBody>
      </p:sp>
      <p:sp>
        <p:nvSpPr>
          <p:cNvPr id="64" name="Google Shape;64;p2"/>
          <p:cNvSpPr txBox="1"/>
          <p:nvPr>
            <p:ph idx="1" type="subTitle"/>
          </p:nvPr>
        </p:nvSpPr>
        <p:spPr>
          <a:xfrm>
            <a:off x="2137225" y="2850039"/>
            <a:ext cx="4870500" cy="79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
              <a:t>12</a:t>
            </a:r>
            <a:endParaRPr/>
          </a:p>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9a1007964c_0_1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Reverse ETL</a:t>
            </a:r>
            <a:endParaRPr/>
          </a:p>
        </p:txBody>
      </p:sp>
      <p:sp>
        <p:nvSpPr>
          <p:cNvPr id="70" name="Google Shape;70;g39a1007964c_0_17"/>
          <p:cNvSpPr txBox="1"/>
          <p:nvPr>
            <p:ph idx="1" type="body"/>
          </p:nvPr>
        </p:nvSpPr>
        <p:spPr>
          <a:xfrm>
            <a:off x="421975" y="948175"/>
            <a:ext cx="8120700" cy="14376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b="1" lang="en" sz="1600"/>
              <a:t>Quick Reminder: </a:t>
            </a:r>
            <a:r>
              <a:rPr lang="en" sz="1600"/>
              <a:t>ETL/ELT moves data from sources (databases, APIs, files) into a centralized warehouse or lake for analytics and reporting.</a:t>
            </a:r>
            <a:endParaRPr sz="1600"/>
          </a:p>
          <a:p>
            <a:pPr indent="-330200" lvl="0" marL="457200" rtl="0" algn="l">
              <a:lnSpc>
                <a:spcPct val="115000"/>
              </a:lnSpc>
              <a:spcBef>
                <a:spcPts val="800"/>
              </a:spcBef>
              <a:spcAft>
                <a:spcPts val="0"/>
              </a:spcAft>
              <a:buSzPts val="1600"/>
              <a:buChar char="●"/>
            </a:pPr>
            <a:r>
              <a:rPr lang="en" sz="1600"/>
              <a:t>Sometimes the transformed data needs to go back into those source systems to be actionable.</a:t>
            </a:r>
            <a:endParaRPr sz="1600"/>
          </a:p>
          <a:p>
            <a:pPr indent="0" lvl="0" marL="457200" rtl="0" algn="l">
              <a:lnSpc>
                <a:spcPct val="115000"/>
              </a:lnSpc>
              <a:spcBef>
                <a:spcPts val="800"/>
              </a:spcBef>
              <a:spcAft>
                <a:spcPts val="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a4726a4ff4_0_1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Reverse ETL</a:t>
            </a:r>
            <a:endParaRPr/>
          </a:p>
        </p:txBody>
      </p:sp>
      <p:sp>
        <p:nvSpPr>
          <p:cNvPr id="76" name="Google Shape;76;g3a4726a4ff4_0_10"/>
          <p:cNvSpPr txBox="1"/>
          <p:nvPr>
            <p:ph idx="1" type="body"/>
          </p:nvPr>
        </p:nvSpPr>
        <p:spPr>
          <a:xfrm>
            <a:off x="421975" y="948175"/>
            <a:ext cx="81207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en" sz="1600"/>
              <a:t>For example, we’ve created the below orders_eriched table inside the </a:t>
            </a:r>
            <a:r>
              <a:rPr lang="en" sz="1600"/>
              <a:t>data warehouse but we want to ship it back to PostgreSQL to allow OLTP queries be efficiently running on it.</a:t>
            </a:r>
            <a:endParaRPr sz="1600"/>
          </a:p>
          <a:p>
            <a:pPr indent="-330200" lvl="0" marL="457200" rtl="0" algn="l">
              <a:lnSpc>
                <a:spcPct val="115000"/>
              </a:lnSpc>
              <a:spcBef>
                <a:spcPts val="0"/>
              </a:spcBef>
              <a:spcAft>
                <a:spcPts val="0"/>
              </a:spcAft>
              <a:buSzPts val="1600"/>
              <a:buChar char="●"/>
            </a:pPr>
            <a:r>
              <a:rPr lang="en" sz="1600"/>
              <a:t>While the data warehouse acts as a consolidated data storage to apply all transformations, we need to allow users run OLTP queries on the eventual dataset. So, that dataset neets to go back to the source system which is PostgreSQL in this example. </a:t>
            </a:r>
            <a:endParaRPr sz="1600"/>
          </a:p>
          <a:p>
            <a:pPr indent="-330200" lvl="0" marL="457200" rtl="0" algn="l">
              <a:lnSpc>
                <a:spcPct val="115000"/>
              </a:lnSpc>
              <a:spcBef>
                <a:spcPts val="0"/>
              </a:spcBef>
              <a:spcAft>
                <a:spcPts val="0"/>
              </a:spcAft>
              <a:buSzPts val="1600"/>
              <a:buChar char="●"/>
            </a:pPr>
            <a:r>
              <a:rPr lang="en" sz="1600"/>
              <a:t>The red arrow that does this is called reverse ELT!</a:t>
            </a:r>
            <a:endParaRPr sz="1600"/>
          </a:p>
          <a:p>
            <a:pPr indent="0" lvl="0" marL="457200" rtl="0" algn="l">
              <a:lnSpc>
                <a:spcPct val="115000"/>
              </a:lnSpc>
              <a:spcBef>
                <a:spcPts val="800"/>
              </a:spcBef>
              <a:spcAft>
                <a:spcPts val="0"/>
              </a:spcAft>
              <a:buNone/>
            </a:pPr>
            <a:r>
              <a:t/>
            </a:r>
            <a:endParaRPr sz="1600"/>
          </a:p>
        </p:txBody>
      </p:sp>
      <p:sp>
        <p:nvSpPr>
          <p:cNvPr id="77" name="Google Shape;77;g3a4726a4ff4_0_10"/>
          <p:cNvSpPr/>
          <p:nvPr/>
        </p:nvSpPr>
        <p:spPr>
          <a:xfrm>
            <a:off x="55900" y="3440425"/>
            <a:ext cx="1554600" cy="96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a:t>
            </a:r>
            <a:r>
              <a:rPr lang="en"/>
              <a:t>rders table</a:t>
            </a:r>
            <a:br>
              <a:rPr lang="en"/>
            </a:br>
            <a:r>
              <a:rPr lang="en"/>
              <a:t>(PostgreSQL)</a:t>
            </a:r>
            <a:endParaRPr/>
          </a:p>
        </p:txBody>
      </p:sp>
      <p:cxnSp>
        <p:nvCxnSpPr>
          <p:cNvPr id="78" name="Google Shape;78;g3a4726a4ff4_0_10"/>
          <p:cNvCxnSpPr>
            <a:stCxn id="77" idx="3"/>
          </p:cNvCxnSpPr>
          <p:nvPr/>
        </p:nvCxnSpPr>
        <p:spPr>
          <a:xfrm>
            <a:off x="1610500" y="3920425"/>
            <a:ext cx="1119900" cy="0"/>
          </a:xfrm>
          <a:prstGeom prst="straightConnector1">
            <a:avLst/>
          </a:prstGeom>
          <a:noFill/>
          <a:ln cap="flat" cmpd="sng" w="9525">
            <a:solidFill>
              <a:schemeClr val="dk2"/>
            </a:solidFill>
            <a:prstDash val="solid"/>
            <a:round/>
            <a:headEnd len="med" w="med" type="none"/>
            <a:tailEnd len="med" w="med" type="triangle"/>
          </a:ln>
        </p:spPr>
      </p:cxnSp>
      <p:sp>
        <p:nvSpPr>
          <p:cNvPr id="79" name="Google Shape;79;g3a4726a4ff4_0_10"/>
          <p:cNvSpPr/>
          <p:nvPr/>
        </p:nvSpPr>
        <p:spPr>
          <a:xfrm>
            <a:off x="2730400" y="2805925"/>
            <a:ext cx="4718700" cy="22290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FF"/>
                </a:solidFill>
              </a:rPr>
              <a:t>Data warehouse</a:t>
            </a:r>
            <a:endParaRPr sz="1500">
              <a:solidFill>
                <a:srgbClr val="0000FF"/>
              </a:solidFill>
            </a:endParaRPr>
          </a:p>
        </p:txBody>
      </p:sp>
      <p:sp>
        <p:nvSpPr>
          <p:cNvPr id="80" name="Google Shape;80;g3a4726a4ff4_0_10"/>
          <p:cNvSpPr/>
          <p:nvPr/>
        </p:nvSpPr>
        <p:spPr>
          <a:xfrm>
            <a:off x="2730400" y="3274075"/>
            <a:ext cx="953700" cy="1315200"/>
          </a:xfrm>
          <a:prstGeom prst="rect">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orders</a:t>
            </a:r>
            <a:endParaRPr/>
          </a:p>
        </p:txBody>
      </p:sp>
      <p:sp>
        <p:nvSpPr>
          <p:cNvPr id="81" name="Google Shape;81;g3a4726a4ff4_0_10"/>
          <p:cNvSpPr txBox="1"/>
          <p:nvPr/>
        </p:nvSpPr>
        <p:spPr>
          <a:xfrm>
            <a:off x="1610500" y="3440425"/>
            <a:ext cx="111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extract/load</a:t>
            </a:r>
            <a:endParaRPr/>
          </a:p>
        </p:txBody>
      </p:sp>
      <p:cxnSp>
        <p:nvCxnSpPr>
          <p:cNvPr id="82" name="Google Shape;82;g3a4726a4ff4_0_10"/>
          <p:cNvCxnSpPr>
            <a:stCxn id="80" idx="3"/>
            <a:endCxn id="83" idx="1"/>
          </p:cNvCxnSpPr>
          <p:nvPr/>
        </p:nvCxnSpPr>
        <p:spPr>
          <a:xfrm>
            <a:off x="3684100" y="3931675"/>
            <a:ext cx="568800" cy="0"/>
          </a:xfrm>
          <a:prstGeom prst="straightConnector1">
            <a:avLst/>
          </a:prstGeom>
          <a:noFill/>
          <a:ln cap="flat" cmpd="sng" w="9525">
            <a:solidFill>
              <a:schemeClr val="dk2"/>
            </a:solidFill>
            <a:prstDash val="solid"/>
            <a:round/>
            <a:headEnd len="med" w="med" type="none"/>
            <a:tailEnd len="med" w="med" type="triangle"/>
          </a:ln>
        </p:spPr>
      </p:cxnSp>
      <p:sp>
        <p:nvSpPr>
          <p:cNvPr id="84" name="Google Shape;84;g3a4726a4ff4_0_10"/>
          <p:cNvSpPr txBox="1"/>
          <p:nvPr/>
        </p:nvSpPr>
        <p:spPr>
          <a:xfrm>
            <a:off x="3682670" y="3520225"/>
            <a:ext cx="65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clean</a:t>
            </a:r>
            <a:endParaRPr/>
          </a:p>
        </p:txBody>
      </p:sp>
      <p:sp>
        <p:nvSpPr>
          <p:cNvPr id="83" name="Google Shape;83;g3a4726a4ff4_0_10"/>
          <p:cNvSpPr/>
          <p:nvPr/>
        </p:nvSpPr>
        <p:spPr>
          <a:xfrm>
            <a:off x="4252800" y="3274075"/>
            <a:ext cx="1119900" cy="1315200"/>
          </a:xfrm>
          <a:prstGeom prst="rect">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
            </a:r>
            <a:r>
              <a:rPr lang="en"/>
              <a:t>leaned</a:t>
            </a:r>
            <a:endParaRPr/>
          </a:p>
          <a:p>
            <a:pPr indent="0" lvl="0" marL="0" rtl="0" algn="ctr">
              <a:spcBef>
                <a:spcPts val="0"/>
              </a:spcBef>
              <a:spcAft>
                <a:spcPts val="0"/>
              </a:spcAft>
              <a:buNone/>
            </a:pPr>
            <a:r>
              <a:rPr lang="en"/>
              <a:t>orders</a:t>
            </a:r>
            <a:endParaRPr/>
          </a:p>
        </p:txBody>
      </p:sp>
      <p:cxnSp>
        <p:nvCxnSpPr>
          <p:cNvPr id="85" name="Google Shape;85;g3a4726a4ff4_0_10"/>
          <p:cNvCxnSpPr>
            <a:stCxn id="83" idx="3"/>
            <a:endCxn id="86" idx="1"/>
          </p:cNvCxnSpPr>
          <p:nvPr/>
        </p:nvCxnSpPr>
        <p:spPr>
          <a:xfrm>
            <a:off x="5372700" y="3931675"/>
            <a:ext cx="1037400" cy="0"/>
          </a:xfrm>
          <a:prstGeom prst="straightConnector1">
            <a:avLst/>
          </a:prstGeom>
          <a:noFill/>
          <a:ln cap="flat" cmpd="sng" w="9525">
            <a:solidFill>
              <a:schemeClr val="dk2"/>
            </a:solidFill>
            <a:prstDash val="solid"/>
            <a:round/>
            <a:headEnd len="med" w="med" type="none"/>
            <a:tailEnd len="med" w="med" type="triangle"/>
          </a:ln>
        </p:spPr>
      </p:cxnSp>
      <p:sp>
        <p:nvSpPr>
          <p:cNvPr id="86" name="Google Shape;86;g3a4726a4ff4_0_10"/>
          <p:cNvSpPr/>
          <p:nvPr/>
        </p:nvSpPr>
        <p:spPr>
          <a:xfrm>
            <a:off x="6410050" y="3274075"/>
            <a:ext cx="953700" cy="1315200"/>
          </a:xfrm>
          <a:prstGeom prst="rect">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a:t>
            </a:r>
            <a:r>
              <a:rPr lang="en"/>
              <a:t>nriched </a:t>
            </a:r>
            <a:br>
              <a:rPr lang="en"/>
            </a:br>
            <a:r>
              <a:rPr lang="en"/>
              <a:t>&amp; cleaned</a:t>
            </a:r>
            <a:endParaRPr/>
          </a:p>
          <a:p>
            <a:pPr indent="0" lvl="0" marL="0" rtl="0" algn="ctr">
              <a:spcBef>
                <a:spcPts val="0"/>
              </a:spcBef>
              <a:spcAft>
                <a:spcPts val="0"/>
              </a:spcAft>
              <a:buNone/>
            </a:pPr>
            <a:r>
              <a:rPr lang="en"/>
              <a:t>orders</a:t>
            </a:r>
            <a:endParaRPr/>
          </a:p>
        </p:txBody>
      </p:sp>
      <p:sp>
        <p:nvSpPr>
          <p:cNvPr id="87" name="Google Shape;87;g3a4726a4ff4_0_10"/>
          <p:cNvSpPr txBox="1"/>
          <p:nvPr/>
        </p:nvSpPr>
        <p:spPr>
          <a:xfrm>
            <a:off x="5372700" y="3527875"/>
            <a:ext cx="1119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enrichment</a:t>
            </a:r>
            <a:endParaRPr sz="1300"/>
          </a:p>
        </p:txBody>
      </p:sp>
      <p:cxnSp>
        <p:nvCxnSpPr>
          <p:cNvPr id="88" name="Google Shape;88;g3a4726a4ff4_0_10"/>
          <p:cNvCxnSpPr>
            <a:endCxn id="77" idx="2"/>
          </p:cNvCxnSpPr>
          <p:nvPr/>
        </p:nvCxnSpPr>
        <p:spPr>
          <a:xfrm flipH="1">
            <a:off x="833200" y="3945325"/>
            <a:ext cx="6561900" cy="455100"/>
          </a:xfrm>
          <a:prstGeom prst="bentConnector4">
            <a:avLst>
              <a:gd fmla="val -16807" name="adj1"/>
              <a:gd fmla="val 254197" name="adj2"/>
            </a:avLst>
          </a:prstGeom>
          <a:noFill/>
          <a:ln cap="flat" cmpd="sng" w="38100">
            <a:solidFill>
              <a:srgbClr val="FF0000"/>
            </a:solidFill>
            <a:prstDash val="solid"/>
            <a:round/>
            <a:headEnd len="med" w="med" type="none"/>
            <a:tailEnd len="med" w="med" type="triangle"/>
          </a:ln>
        </p:spPr>
      </p:cxnSp>
      <p:sp>
        <p:nvSpPr>
          <p:cNvPr id="89" name="Google Shape;89;g3a4726a4ff4_0_10"/>
          <p:cNvSpPr txBox="1"/>
          <p:nvPr/>
        </p:nvSpPr>
        <p:spPr>
          <a:xfrm>
            <a:off x="1402775" y="4736900"/>
            <a:ext cx="1931400" cy="3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1"/>
                </a:solidFill>
              </a:rPr>
              <a:t>r</a:t>
            </a:r>
            <a:r>
              <a:rPr b="1" lang="en">
                <a:solidFill>
                  <a:schemeClr val="accent1"/>
                </a:solidFill>
              </a:rPr>
              <a:t>everse ETL</a:t>
            </a:r>
            <a:endParaRPr b="1">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9a1007964c_0_36"/>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Reverse ETL</a:t>
            </a:r>
            <a:endParaRPr/>
          </a:p>
        </p:txBody>
      </p:sp>
      <p:sp>
        <p:nvSpPr>
          <p:cNvPr id="95" name="Google Shape;95;g39a1007964c_0_36"/>
          <p:cNvSpPr txBox="1"/>
          <p:nvPr>
            <p:ph idx="1" type="body"/>
          </p:nvPr>
        </p:nvSpPr>
        <p:spPr>
          <a:xfrm>
            <a:off x="421975" y="948175"/>
            <a:ext cx="8096400" cy="21783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b="1" lang="en" sz="1600"/>
              <a:t>Reverse ETL</a:t>
            </a:r>
            <a:r>
              <a:rPr lang="en" sz="1600"/>
              <a:t> is the process of moving data from a central data warehouse back into operational systems, like a database.</a:t>
            </a:r>
            <a:endParaRPr sz="1600"/>
          </a:p>
          <a:p>
            <a:pPr indent="-330200" lvl="0" marL="457200" rtl="0" algn="l">
              <a:lnSpc>
                <a:spcPct val="115000"/>
              </a:lnSpc>
              <a:spcBef>
                <a:spcPts val="0"/>
              </a:spcBef>
              <a:spcAft>
                <a:spcPts val="0"/>
              </a:spcAft>
              <a:buSzPts val="1600"/>
              <a:buChar char="●"/>
            </a:pPr>
            <a:r>
              <a:rPr lang="en" sz="1600"/>
              <a:t>Reverse ETL is a specific type of data serving where the target is a database.</a:t>
            </a:r>
            <a:endParaRPr sz="1600"/>
          </a:p>
          <a:p>
            <a:pPr indent="0" lvl="0" marL="457200" rtl="0" algn="l">
              <a:lnSpc>
                <a:spcPct val="115000"/>
              </a:lnSpc>
              <a:spcBef>
                <a:spcPts val="800"/>
              </a:spcBef>
              <a:spcAft>
                <a:spcPts val="0"/>
              </a:spcAft>
              <a:buNone/>
            </a:pPr>
            <a:r>
              <a:t/>
            </a:r>
            <a:endParaRPr sz="1600"/>
          </a:p>
        </p:txBody>
      </p:sp>
      <p:pic>
        <p:nvPicPr>
          <p:cNvPr id="96" name="Google Shape;96;g39a1007964c_0_36"/>
          <p:cNvPicPr preferRelativeResize="0"/>
          <p:nvPr/>
        </p:nvPicPr>
        <p:blipFill>
          <a:blip r:embed="rId3">
            <a:alphaModFix/>
          </a:blip>
          <a:stretch>
            <a:fillRect/>
          </a:stretch>
        </p:blipFill>
        <p:spPr>
          <a:xfrm>
            <a:off x="1354551" y="2018440"/>
            <a:ext cx="6434900" cy="2822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a4726a4ff4_0_2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Orchestration</a:t>
            </a:r>
            <a:endParaRPr/>
          </a:p>
        </p:txBody>
      </p:sp>
      <p:sp>
        <p:nvSpPr>
          <p:cNvPr id="102" name="Google Shape;102;g3a4726a4ff4_0_24"/>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b="1" lang="en" sz="1600"/>
              <a:t>Orchestration:</a:t>
            </a:r>
            <a:r>
              <a:rPr lang="en" sz="1600"/>
              <a:t> Coordinating tasks in a data pipeline so they run in the right order and reliably.</a:t>
            </a:r>
            <a:endParaRPr sz="1600"/>
          </a:p>
        </p:txBody>
      </p:sp>
      <p:pic>
        <p:nvPicPr>
          <p:cNvPr id="103" name="Google Shape;103;g3a4726a4ff4_0_24"/>
          <p:cNvPicPr preferRelativeResize="0"/>
          <p:nvPr/>
        </p:nvPicPr>
        <p:blipFill>
          <a:blip r:embed="rId3">
            <a:alphaModFix/>
          </a:blip>
          <a:stretch>
            <a:fillRect/>
          </a:stretch>
        </p:blipFill>
        <p:spPr>
          <a:xfrm>
            <a:off x="1250563" y="1606068"/>
            <a:ext cx="6463526" cy="32300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9a1007964c_0_58"/>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Orchestration Types</a:t>
            </a:r>
            <a:endParaRPr/>
          </a:p>
        </p:txBody>
      </p:sp>
      <p:sp>
        <p:nvSpPr>
          <p:cNvPr id="109" name="Google Shape;109;g39a1007964c_0_58"/>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0"/>
              </a:spcBef>
              <a:spcAft>
                <a:spcPts val="0"/>
              </a:spcAft>
              <a:buSzPts val="1600"/>
              <a:buAutoNum type="arabicPeriod"/>
            </a:pPr>
            <a:r>
              <a:rPr b="1" lang="en" sz="1600"/>
              <a:t>Schedule-based: </a:t>
            </a:r>
            <a:r>
              <a:rPr lang="en" sz="1600"/>
              <a:t>Run at fixed intervals (daily, hourly).</a:t>
            </a:r>
            <a:endParaRPr sz="1600"/>
          </a:p>
          <a:p>
            <a:pPr indent="-330200" lvl="0" marL="914400" rtl="0" algn="l">
              <a:lnSpc>
                <a:spcPct val="115000"/>
              </a:lnSpc>
              <a:spcBef>
                <a:spcPts val="0"/>
              </a:spcBef>
              <a:spcAft>
                <a:spcPts val="0"/>
              </a:spcAft>
              <a:buSzPts val="1600"/>
              <a:buChar char="●"/>
            </a:pPr>
            <a:r>
              <a:rPr lang="en" sz="1600"/>
              <a:t>Example: ETL pipelines run at 9 AM, Transformation runs at 10 AM, data serving runs at 11 AM.</a:t>
            </a:r>
            <a:endParaRPr sz="1600"/>
          </a:p>
          <a:p>
            <a:pPr indent="0" lvl="0" marL="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SzPts val="1600"/>
              <a:buAutoNum type="arabicPeriod"/>
            </a:pPr>
            <a:r>
              <a:rPr b="1" lang="en" sz="1600"/>
              <a:t>Trigger-based: </a:t>
            </a:r>
            <a:r>
              <a:rPr lang="en" sz="1600"/>
              <a:t>Run when a certain event occurs.</a:t>
            </a:r>
            <a:endParaRPr sz="1600"/>
          </a:p>
          <a:p>
            <a:pPr indent="-330200" lvl="1" marL="914400" rtl="0" algn="l">
              <a:lnSpc>
                <a:spcPct val="115000"/>
              </a:lnSpc>
              <a:spcBef>
                <a:spcPts val="0"/>
              </a:spcBef>
              <a:spcAft>
                <a:spcPts val="0"/>
              </a:spcAft>
              <a:buSzPts val="1600"/>
              <a:buAutoNum type="alphaLcPeriod"/>
            </a:pPr>
            <a:r>
              <a:rPr lang="en" sz="1600"/>
              <a:t>File arrival: New file detected → pipeline triggers.</a:t>
            </a:r>
            <a:endParaRPr sz="1600"/>
          </a:p>
          <a:p>
            <a:pPr indent="-330200" lvl="1" marL="914400" rtl="0" algn="l">
              <a:lnSpc>
                <a:spcPct val="115000"/>
              </a:lnSpc>
              <a:spcBef>
                <a:spcPts val="0"/>
              </a:spcBef>
              <a:spcAft>
                <a:spcPts val="0"/>
              </a:spcAft>
              <a:buSzPts val="1600"/>
              <a:buAutoNum type="alphaLcPeriod"/>
            </a:pPr>
            <a:r>
              <a:rPr lang="en" sz="1600"/>
              <a:t>Database trigger: New row inserted → pipeline triggers.</a:t>
            </a:r>
            <a:endParaRPr sz="1600"/>
          </a:p>
          <a:p>
            <a:pPr indent="-330200" lvl="1" marL="914400" rtl="0" algn="l">
              <a:lnSpc>
                <a:spcPct val="115000"/>
              </a:lnSpc>
              <a:spcBef>
                <a:spcPts val="0"/>
              </a:spcBef>
              <a:spcAft>
                <a:spcPts val="0"/>
              </a:spcAft>
              <a:buSzPts val="1600"/>
              <a:buAutoNum type="alphaLcPeriod"/>
            </a:pPr>
            <a:r>
              <a:rPr lang="en" sz="1600"/>
              <a:t>API/webhook trigger: External signal → pipeline triggers.</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9a1007964c_0_6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Orchestration Types</a:t>
            </a:r>
            <a:endParaRPr/>
          </a:p>
        </p:txBody>
      </p:sp>
      <p:sp>
        <p:nvSpPr>
          <p:cNvPr id="115" name="Google Shape;115;g39a1007964c_0_64"/>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lang="en" sz="1600"/>
              <a:t>Schedule based in simplest option, however not ideal.</a:t>
            </a:r>
            <a:endParaRPr sz="1600"/>
          </a:p>
          <a:p>
            <a:pPr indent="-330200" lvl="0" marL="457200" rtl="0" algn="l">
              <a:lnSpc>
                <a:spcPct val="115000"/>
              </a:lnSpc>
              <a:spcBef>
                <a:spcPts val="0"/>
              </a:spcBef>
              <a:spcAft>
                <a:spcPts val="0"/>
              </a:spcAft>
              <a:buSzPts val="1600"/>
              <a:buAutoNum type="arabicPeriod"/>
            </a:pPr>
            <a:r>
              <a:rPr lang="en" sz="1600"/>
              <a:t>What if the latency in pipelines make them take more time. E.g., ETL doesn’t finish before 10 AM.</a:t>
            </a:r>
            <a:endParaRPr sz="1600"/>
          </a:p>
          <a:p>
            <a:pPr indent="-330200" lvl="0" marL="457200" rtl="0" algn="l">
              <a:lnSpc>
                <a:spcPct val="115000"/>
              </a:lnSpc>
              <a:spcBef>
                <a:spcPts val="0"/>
              </a:spcBef>
              <a:spcAft>
                <a:spcPts val="0"/>
              </a:spcAft>
              <a:buSzPts val="1600"/>
              <a:buAutoNum type="arabicPeriod"/>
            </a:pPr>
            <a:r>
              <a:rPr lang="en" sz="1600"/>
              <a:t>Latency is more than what expected. You need to allow extra room than what you need.</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rPr lang="en" sz="1600"/>
              <a:t>Trigger based pipeline is more difficult and </a:t>
            </a:r>
            <a:r>
              <a:rPr lang="en" sz="1600"/>
              <a:t>typically</a:t>
            </a:r>
            <a:r>
              <a:rPr lang="en" sz="1600"/>
              <a:t> needs tools.</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9a1007964c_0_69"/>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Orchestration Types</a:t>
            </a:r>
            <a:endParaRPr/>
          </a:p>
        </p:txBody>
      </p:sp>
      <p:sp>
        <p:nvSpPr>
          <p:cNvPr id="121" name="Google Shape;121;g39a1007964c_0_69"/>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lang="en" sz="1600"/>
              <a:t>Schedule based in simplest option, a simple Cron job can run it in a virtaul machine.</a:t>
            </a:r>
            <a:endParaRPr sz="1600"/>
          </a:p>
          <a:p>
            <a:pPr indent="-330200" lvl="0" marL="457200" rtl="0" algn="l">
              <a:lnSpc>
                <a:spcPct val="115000"/>
              </a:lnSpc>
              <a:spcBef>
                <a:spcPts val="0"/>
              </a:spcBef>
              <a:spcAft>
                <a:spcPts val="0"/>
              </a:spcAft>
              <a:buSzPts val="1600"/>
              <a:buChar char="●"/>
            </a:pPr>
            <a:r>
              <a:rPr lang="en" sz="1600"/>
              <a:t>0 2 * * * /usr/bin/python3 /home/user/scripts/etl_pipeline.py </a:t>
            </a:r>
            <a:endParaRPr sz="1600"/>
          </a:p>
          <a:p>
            <a:pPr indent="-330200" lvl="1" marL="914400" rtl="0" algn="l">
              <a:lnSpc>
                <a:spcPct val="115000"/>
              </a:lnSpc>
              <a:spcBef>
                <a:spcPts val="0"/>
              </a:spcBef>
              <a:spcAft>
                <a:spcPts val="0"/>
              </a:spcAft>
              <a:buSzPts val="1600"/>
              <a:buChar char="○"/>
            </a:pPr>
            <a:r>
              <a:rPr lang="en" sz="1600"/>
              <a:t>This cron job runs every day at 2:00 AM.</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rPr lang="en" sz="1600"/>
              <a:t>However not ideal.</a:t>
            </a:r>
            <a:endParaRPr sz="1600"/>
          </a:p>
          <a:p>
            <a:pPr indent="-330200" lvl="0" marL="457200" rtl="0" algn="l">
              <a:lnSpc>
                <a:spcPct val="115000"/>
              </a:lnSpc>
              <a:spcBef>
                <a:spcPts val="0"/>
              </a:spcBef>
              <a:spcAft>
                <a:spcPts val="0"/>
              </a:spcAft>
              <a:buSzPts val="1600"/>
              <a:buAutoNum type="arabicPeriod"/>
            </a:pPr>
            <a:r>
              <a:rPr lang="en" sz="1600"/>
              <a:t>What if the latency in pipelines make them take more time. E.g., ETL doesn’t finish before 10 AM.</a:t>
            </a:r>
            <a:endParaRPr sz="1600"/>
          </a:p>
          <a:p>
            <a:pPr indent="-330200" lvl="0" marL="457200" rtl="0" algn="l">
              <a:lnSpc>
                <a:spcPct val="115000"/>
              </a:lnSpc>
              <a:spcBef>
                <a:spcPts val="0"/>
              </a:spcBef>
              <a:spcAft>
                <a:spcPts val="0"/>
              </a:spcAft>
              <a:buSzPts val="1600"/>
              <a:buAutoNum type="arabicPeriod"/>
            </a:pPr>
            <a:r>
              <a:rPr lang="en" sz="1600"/>
              <a:t>Latency is more than what expected. You need to allow extra room than what you need.</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rPr lang="en" sz="1600"/>
              <a:t>Trigger based pipeline is more difficult and typically needs tools.</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9a1007964c_0_7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Orchestration Tools</a:t>
            </a:r>
            <a:endParaRPr/>
          </a:p>
        </p:txBody>
      </p:sp>
      <p:pic>
        <p:nvPicPr>
          <p:cNvPr id="127" name="Google Shape;127;g39a1007964c_0_74"/>
          <p:cNvPicPr preferRelativeResize="0"/>
          <p:nvPr/>
        </p:nvPicPr>
        <p:blipFill>
          <a:blip r:embed="rId3">
            <a:alphaModFix/>
          </a:blip>
          <a:stretch>
            <a:fillRect/>
          </a:stretch>
        </p:blipFill>
        <p:spPr>
          <a:xfrm>
            <a:off x="1687400" y="1122875"/>
            <a:ext cx="4984824" cy="3738626"/>
          </a:xfrm>
          <a:prstGeom prst="rect">
            <a:avLst/>
          </a:prstGeom>
          <a:noFill/>
          <a:ln>
            <a:noFill/>
          </a:ln>
        </p:spPr>
      </p:pic>
      <p:sp>
        <p:nvSpPr>
          <p:cNvPr id="128" name="Google Shape;128;g39a1007964c_0_74"/>
          <p:cNvSpPr txBox="1"/>
          <p:nvPr/>
        </p:nvSpPr>
        <p:spPr>
          <a:xfrm>
            <a:off x="6902050" y="2744550"/>
            <a:ext cx="2124600" cy="8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1"/>
                </a:solidFill>
              </a:rPr>
              <a:t>No need to learn these for the exam.</a:t>
            </a:r>
            <a:br>
              <a:rPr b="1" lang="en">
                <a:solidFill>
                  <a:schemeClr val="accent1"/>
                </a:solidFill>
              </a:rPr>
            </a:br>
            <a:r>
              <a:rPr b="1" lang="en">
                <a:solidFill>
                  <a:schemeClr val="accent1"/>
                </a:solidFill>
              </a:rPr>
              <a:t>Airflow is the most commonly used.</a:t>
            </a:r>
            <a:endParaRPr b="1">
              <a:solidFill>
                <a:schemeClr val="accen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9a1007964c_0_79"/>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Airflow</a:t>
            </a:r>
            <a:endParaRPr/>
          </a:p>
        </p:txBody>
      </p:sp>
      <p:sp>
        <p:nvSpPr>
          <p:cNvPr id="134" name="Google Shape;134;g39a1007964c_0_79"/>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b="1" lang="en" sz="1600"/>
              <a:t>Definition: </a:t>
            </a:r>
            <a:r>
              <a:rPr lang="en" sz="1600"/>
              <a:t>A platform to programmatically schedule and monitor workflows (data pipelines).</a:t>
            </a:r>
            <a:endParaRPr sz="1600"/>
          </a:p>
          <a:p>
            <a:pPr indent="-330200" lvl="0" marL="457200" rtl="0" algn="l">
              <a:lnSpc>
                <a:spcPct val="115000"/>
              </a:lnSpc>
              <a:spcBef>
                <a:spcPts val="0"/>
              </a:spcBef>
              <a:spcAft>
                <a:spcPts val="0"/>
              </a:spcAft>
              <a:buSzPts val="1600"/>
              <a:buChar char="●"/>
            </a:pPr>
            <a:r>
              <a:rPr lang="en" sz="1600"/>
              <a:t>Pipelines are DAGs (Directed Acyclic Graphs) – tasks with dependencies.</a:t>
            </a:r>
            <a:endParaRPr sz="1600"/>
          </a:p>
          <a:p>
            <a:pPr indent="-330200" lvl="0" marL="457200" rtl="0" algn="l">
              <a:lnSpc>
                <a:spcPct val="115000"/>
              </a:lnSpc>
              <a:spcBef>
                <a:spcPts val="0"/>
              </a:spcBef>
              <a:spcAft>
                <a:spcPts val="0"/>
              </a:spcAft>
              <a:buSzPts val="1600"/>
              <a:buChar char="●"/>
            </a:pPr>
            <a:r>
              <a:rPr lang="en" sz="1600"/>
              <a:t>Pros</a:t>
            </a:r>
            <a:endParaRPr sz="1600"/>
          </a:p>
          <a:p>
            <a:pPr indent="-330200" lvl="1" marL="914400" rtl="0" algn="l">
              <a:lnSpc>
                <a:spcPct val="115000"/>
              </a:lnSpc>
              <a:spcBef>
                <a:spcPts val="0"/>
              </a:spcBef>
              <a:spcAft>
                <a:spcPts val="0"/>
              </a:spcAft>
              <a:buSzPts val="1600"/>
              <a:buChar char="○"/>
            </a:pPr>
            <a:r>
              <a:rPr lang="en" sz="1600"/>
              <a:t>Manages task dependencies</a:t>
            </a:r>
            <a:endParaRPr sz="1600"/>
          </a:p>
          <a:p>
            <a:pPr indent="-330200" lvl="1" marL="914400" rtl="0" algn="l">
              <a:lnSpc>
                <a:spcPct val="115000"/>
              </a:lnSpc>
              <a:spcBef>
                <a:spcPts val="0"/>
              </a:spcBef>
              <a:spcAft>
                <a:spcPts val="0"/>
              </a:spcAft>
              <a:buSzPts val="1600"/>
              <a:buChar char="○"/>
            </a:pPr>
            <a:r>
              <a:rPr lang="en" sz="1600"/>
              <a:t>Handles retries &amp; failures</a:t>
            </a:r>
            <a:endParaRPr sz="1600"/>
          </a:p>
          <a:p>
            <a:pPr indent="-330200" lvl="1" marL="914400" rtl="0" algn="l">
              <a:lnSpc>
                <a:spcPct val="115000"/>
              </a:lnSpc>
              <a:spcBef>
                <a:spcPts val="0"/>
              </a:spcBef>
              <a:spcAft>
                <a:spcPts val="0"/>
              </a:spcAft>
              <a:buSzPts val="1600"/>
              <a:buChar char="○"/>
            </a:pPr>
            <a:r>
              <a:rPr lang="en" sz="1600"/>
              <a:t>Provides monitoring &amp; logs</a:t>
            </a:r>
            <a:endParaRPr sz="1600"/>
          </a:p>
        </p:txBody>
      </p:sp>
      <p:pic>
        <p:nvPicPr>
          <p:cNvPr id="135" name="Google Shape;135;g39a1007964c_0_79"/>
          <p:cNvPicPr preferRelativeResize="0"/>
          <p:nvPr/>
        </p:nvPicPr>
        <p:blipFill>
          <a:blip r:embed="rId3">
            <a:alphaModFix/>
          </a:blip>
          <a:stretch>
            <a:fillRect/>
          </a:stretch>
        </p:blipFill>
        <p:spPr>
          <a:xfrm>
            <a:off x="3822052" y="2726451"/>
            <a:ext cx="5087124" cy="1967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9a1007964c_0_8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Airflow Job UI</a:t>
            </a:r>
            <a:endParaRPr/>
          </a:p>
        </p:txBody>
      </p:sp>
      <p:pic>
        <p:nvPicPr>
          <p:cNvPr id="141" name="Google Shape;141;g39a1007964c_0_87"/>
          <p:cNvPicPr preferRelativeResize="0"/>
          <p:nvPr/>
        </p:nvPicPr>
        <p:blipFill>
          <a:blip r:embed="rId3">
            <a:alphaModFix/>
          </a:blip>
          <a:stretch>
            <a:fillRect/>
          </a:stretch>
        </p:blipFill>
        <p:spPr>
          <a:xfrm>
            <a:off x="1575575" y="960150"/>
            <a:ext cx="6217523" cy="37402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9a1007964c_0_9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Airflow DAG UI</a:t>
            </a:r>
            <a:endParaRPr/>
          </a:p>
        </p:txBody>
      </p:sp>
      <p:pic>
        <p:nvPicPr>
          <p:cNvPr id="147" name="Google Shape;147;g39a1007964c_0_94"/>
          <p:cNvPicPr preferRelativeResize="0"/>
          <p:nvPr/>
        </p:nvPicPr>
        <p:blipFill>
          <a:blip r:embed="rId3">
            <a:alphaModFix/>
          </a:blip>
          <a:stretch>
            <a:fillRect/>
          </a:stretch>
        </p:blipFill>
        <p:spPr>
          <a:xfrm>
            <a:off x="1271913" y="1021151"/>
            <a:ext cx="6600182" cy="3715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9a1007964c_0_10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Airflow Monitoring UI</a:t>
            </a:r>
            <a:endParaRPr/>
          </a:p>
        </p:txBody>
      </p:sp>
      <p:pic>
        <p:nvPicPr>
          <p:cNvPr id="153" name="Google Shape;153;g39a1007964c_0_100"/>
          <p:cNvPicPr preferRelativeResize="0"/>
          <p:nvPr/>
        </p:nvPicPr>
        <p:blipFill>
          <a:blip r:embed="rId3">
            <a:alphaModFix/>
          </a:blip>
          <a:stretch>
            <a:fillRect/>
          </a:stretch>
        </p:blipFill>
        <p:spPr>
          <a:xfrm>
            <a:off x="152400" y="1275276"/>
            <a:ext cx="8839201" cy="325881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9a1007964c_0_111"/>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Airflow Code Example</a:t>
            </a:r>
            <a:endParaRPr/>
          </a:p>
        </p:txBody>
      </p:sp>
      <p:sp>
        <p:nvSpPr>
          <p:cNvPr id="159" name="Google Shape;159;g39a1007964c_0_111"/>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b="1" lang="en" sz="1600"/>
              <a:t>from airflow import DAG</a:t>
            </a:r>
            <a:endParaRPr b="1" sz="1600"/>
          </a:p>
          <a:p>
            <a:pPr indent="0" lvl="0" marL="0" rtl="0" algn="l">
              <a:lnSpc>
                <a:spcPct val="115000"/>
              </a:lnSpc>
              <a:spcBef>
                <a:spcPts val="0"/>
              </a:spcBef>
              <a:spcAft>
                <a:spcPts val="0"/>
              </a:spcAft>
              <a:buNone/>
            </a:pPr>
            <a:r>
              <a:rPr b="1" lang="en" sz="1600"/>
              <a:t>from airflow.operators.python_operator import PythonOperator</a:t>
            </a:r>
            <a:endParaRPr b="1" sz="1600"/>
          </a:p>
          <a:p>
            <a:pPr indent="0" lvl="0" marL="0" rtl="0" algn="l">
              <a:lnSpc>
                <a:spcPct val="115000"/>
              </a:lnSpc>
              <a:spcBef>
                <a:spcPts val="0"/>
              </a:spcBef>
              <a:spcAft>
                <a:spcPts val="0"/>
              </a:spcAft>
              <a:buNone/>
            </a:pPr>
            <a:r>
              <a:rPr b="1" lang="en" sz="1600"/>
              <a:t>from datetime import datetime</a:t>
            </a:r>
            <a:endParaRPr b="1" sz="1600"/>
          </a:p>
          <a:p>
            <a:pPr indent="0" lvl="0" marL="0" rtl="0" algn="l">
              <a:lnSpc>
                <a:spcPct val="115000"/>
              </a:lnSpc>
              <a:spcBef>
                <a:spcPts val="0"/>
              </a:spcBef>
              <a:spcAft>
                <a:spcPts val="0"/>
              </a:spcAft>
              <a:buNone/>
            </a:pPr>
            <a:r>
              <a:rPr b="1" lang="en" sz="1600"/>
              <a:t>f</a:t>
            </a:r>
            <a:r>
              <a:rPr b="1" lang="en" sz="1600"/>
              <a:t>rom jobs import extract, transform, load</a:t>
            </a:r>
            <a:endParaRPr b="1" sz="1600"/>
          </a:p>
          <a:p>
            <a:pPr indent="0" lvl="0" marL="0" rtl="0" algn="l">
              <a:lnSpc>
                <a:spcPct val="115000"/>
              </a:lnSpc>
              <a:spcBef>
                <a:spcPts val="0"/>
              </a:spcBef>
              <a:spcAft>
                <a:spcPts val="0"/>
              </a:spcAft>
              <a:buNone/>
            </a:pPr>
            <a:r>
              <a:t/>
            </a:r>
            <a:endParaRPr b="1" sz="1600"/>
          </a:p>
          <a:p>
            <a:pPr indent="0" lvl="0" marL="0" rtl="0" algn="l">
              <a:lnSpc>
                <a:spcPct val="115000"/>
              </a:lnSpc>
              <a:spcBef>
                <a:spcPts val="0"/>
              </a:spcBef>
              <a:spcAft>
                <a:spcPts val="0"/>
              </a:spcAft>
              <a:buNone/>
            </a:pPr>
            <a:r>
              <a:rPr b="1" lang="en" sz="1600"/>
              <a:t>with DAG('etl_dag', start_date=datetime(2025,11,23), schedule_interval='@daily') as dag:</a:t>
            </a:r>
            <a:endParaRPr b="1" sz="1600"/>
          </a:p>
          <a:p>
            <a:pPr indent="0" lvl="0" marL="0" rtl="0" algn="l">
              <a:lnSpc>
                <a:spcPct val="115000"/>
              </a:lnSpc>
              <a:spcBef>
                <a:spcPts val="0"/>
              </a:spcBef>
              <a:spcAft>
                <a:spcPts val="0"/>
              </a:spcAft>
              <a:buNone/>
            </a:pPr>
            <a:r>
              <a:rPr b="1" lang="en" sz="1600"/>
              <a:t>    t1 = PythonOperator(task_id='extract', extract)</a:t>
            </a:r>
            <a:endParaRPr b="1" sz="1600"/>
          </a:p>
          <a:p>
            <a:pPr indent="0" lvl="0" marL="0" rtl="0" algn="l">
              <a:lnSpc>
                <a:spcPct val="115000"/>
              </a:lnSpc>
              <a:spcBef>
                <a:spcPts val="0"/>
              </a:spcBef>
              <a:spcAft>
                <a:spcPts val="0"/>
              </a:spcAft>
              <a:buNone/>
            </a:pPr>
            <a:r>
              <a:rPr b="1" lang="en" sz="1600"/>
              <a:t>    t2 = PythonOperator(task_id='transform', transform)</a:t>
            </a:r>
            <a:endParaRPr b="1" sz="1600"/>
          </a:p>
          <a:p>
            <a:pPr indent="0" lvl="0" marL="0" rtl="0" algn="l">
              <a:lnSpc>
                <a:spcPct val="115000"/>
              </a:lnSpc>
              <a:spcBef>
                <a:spcPts val="0"/>
              </a:spcBef>
              <a:spcAft>
                <a:spcPts val="0"/>
              </a:spcAft>
              <a:buNone/>
            </a:pPr>
            <a:r>
              <a:rPr b="1" lang="en" sz="1600"/>
              <a:t>    t3 = PythonOperator(task_id='load', load)</a:t>
            </a:r>
            <a:endParaRPr b="1" sz="1600"/>
          </a:p>
          <a:p>
            <a:pPr indent="0" lvl="0" marL="0" rtl="0" algn="l">
              <a:lnSpc>
                <a:spcPct val="115000"/>
              </a:lnSpc>
              <a:spcBef>
                <a:spcPts val="0"/>
              </a:spcBef>
              <a:spcAft>
                <a:spcPts val="0"/>
              </a:spcAft>
              <a:buNone/>
            </a:pPr>
            <a:r>
              <a:t/>
            </a:r>
            <a:endParaRPr b="1" sz="1600"/>
          </a:p>
          <a:p>
            <a:pPr indent="0" lvl="0" marL="0" rtl="0" algn="l">
              <a:lnSpc>
                <a:spcPct val="115000"/>
              </a:lnSpc>
              <a:spcBef>
                <a:spcPts val="0"/>
              </a:spcBef>
              <a:spcAft>
                <a:spcPts val="0"/>
              </a:spcAft>
              <a:buNone/>
            </a:pPr>
            <a:r>
              <a:rPr b="1" lang="en" sz="1600"/>
              <a:t>    t1 &gt;&gt; t2 &gt;&gt; t3</a:t>
            </a:r>
            <a:endParaRPr b="1" sz="1600"/>
          </a:p>
          <a:p>
            <a:pPr indent="0" lvl="0" marL="0" rtl="0" algn="l">
              <a:lnSpc>
                <a:spcPct val="115000"/>
              </a:lnSpc>
              <a:spcBef>
                <a:spcPts val="0"/>
              </a:spcBef>
              <a:spcAft>
                <a:spcPts val="0"/>
              </a:spcAft>
              <a:buNone/>
            </a:pPr>
            <a:r>
              <a:t/>
            </a:r>
            <a:endParaRPr b="1"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9a1007964c_0_129"/>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Airflow Code Example</a:t>
            </a:r>
            <a:endParaRPr/>
          </a:p>
        </p:txBody>
      </p:sp>
      <p:sp>
        <p:nvSpPr>
          <p:cNvPr id="165" name="Google Shape;165;g39a1007964c_0_129"/>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lang="en" sz="900"/>
              <a:t>default_args = {</a:t>
            </a:r>
            <a:endParaRPr sz="900"/>
          </a:p>
          <a:p>
            <a:pPr indent="0" lvl="0" marL="0" rtl="0" algn="l">
              <a:lnSpc>
                <a:spcPct val="115000"/>
              </a:lnSpc>
              <a:spcBef>
                <a:spcPts val="0"/>
              </a:spcBef>
              <a:spcAft>
                <a:spcPts val="0"/>
              </a:spcAft>
              <a:buNone/>
            </a:pPr>
            <a:r>
              <a:rPr lang="en" sz="900"/>
              <a:t>    'owner': 'airflow',</a:t>
            </a:r>
            <a:endParaRPr sz="900"/>
          </a:p>
          <a:p>
            <a:pPr indent="0" lvl="0" marL="0" rtl="0" algn="l">
              <a:lnSpc>
                <a:spcPct val="115000"/>
              </a:lnSpc>
              <a:spcBef>
                <a:spcPts val="0"/>
              </a:spcBef>
              <a:spcAft>
                <a:spcPts val="0"/>
              </a:spcAft>
              <a:buNone/>
            </a:pPr>
            <a:r>
              <a:rPr lang="en" sz="900"/>
              <a:t>    'depends_on_past': False,</a:t>
            </a:r>
            <a:endParaRPr sz="900"/>
          </a:p>
          <a:p>
            <a:pPr indent="0" lvl="0" marL="0" rtl="0" algn="l">
              <a:lnSpc>
                <a:spcPct val="115000"/>
              </a:lnSpc>
              <a:spcBef>
                <a:spcPts val="0"/>
              </a:spcBef>
              <a:spcAft>
                <a:spcPts val="0"/>
              </a:spcAft>
              <a:buNone/>
            </a:pPr>
            <a:r>
              <a:rPr lang="en" sz="900"/>
              <a:t>    'email_on_failure': True,</a:t>
            </a:r>
            <a:endParaRPr sz="900"/>
          </a:p>
          <a:p>
            <a:pPr indent="0" lvl="0" marL="0" rtl="0" algn="l">
              <a:lnSpc>
                <a:spcPct val="115000"/>
              </a:lnSpc>
              <a:spcBef>
                <a:spcPts val="0"/>
              </a:spcBef>
              <a:spcAft>
                <a:spcPts val="0"/>
              </a:spcAft>
              <a:buNone/>
            </a:pPr>
            <a:r>
              <a:rPr lang="en" sz="900"/>
              <a:t>    'email': ['data-team@example.com'],</a:t>
            </a:r>
            <a:endParaRPr sz="900"/>
          </a:p>
          <a:p>
            <a:pPr indent="0" lvl="0" marL="0" rtl="0" algn="l">
              <a:lnSpc>
                <a:spcPct val="115000"/>
              </a:lnSpc>
              <a:spcBef>
                <a:spcPts val="0"/>
              </a:spcBef>
              <a:spcAft>
                <a:spcPts val="0"/>
              </a:spcAft>
              <a:buNone/>
            </a:pPr>
            <a:r>
              <a:rPr lang="en" sz="900"/>
              <a:t>    'retries': 2,</a:t>
            </a:r>
            <a:endParaRPr sz="900"/>
          </a:p>
          <a:p>
            <a:pPr indent="0" lvl="0" marL="0" rtl="0" algn="l">
              <a:lnSpc>
                <a:spcPct val="115000"/>
              </a:lnSpc>
              <a:spcBef>
                <a:spcPts val="0"/>
              </a:spcBef>
              <a:spcAft>
                <a:spcPts val="0"/>
              </a:spcAft>
              <a:buNone/>
            </a:pPr>
            <a:r>
              <a:rPr lang="en" sz="900"/>
              <a:t>    'retry_delay': timedelta(minutes=5)</a:t>
            </a:r>
            <a:endParaRPr sz="900"/>
          </a:p>
          <a:p>
            <a:pPr indent="0" lvl="0" marL="0" rtl="0" algn="l">
              <a:lnSpc>
                <a:spcPct val="115000"/>
              </a:lnSpc>
              <a:spcBef>
                <a:spcPts val="0"/>
              </a:spcBef>
              <a:spcAft>
                <a:spcPts val="0"/>
              </a:spcAft>
              <a:buNone/>
            </a:pPr>
            <a:r>
              <a:rPr lang="en" sz="900"/>
              <a:t>}</a:t>
            </a:r>
            <a:endParaRPr sz="900"/>
          </a:p>
          <a:p>
            <a:pPr indent="0" lvl="0" marL="0" rtl="0" algn="l">
              <a:lnSpc>
                <a:spcPct val="115000"/>
              </a:lnSpc>
              <a:spcBef>
                <a:spcPts val="0"/>
              </a:spcBef>
              <a:spcAft>
                <a:spcPts val="0"/>
              </a:spcAft>
              <a:buNone/>
            </a:pPr>
            <a:r>
              <a:t/>
            </a:r>
            <a:endParaRPr sz="900"/>
          </a:p>
          <a:p>
            <a:pPr indent="0" lvl="0" marL="0" rtl="0" algn="l">
              <a:lnSpc>
                <a:spcPct val="115000"/>
              </a:lnSpc>
              <a:spcBef>
                <a:spcPts val="0"/>
              </a:spcBef>
              <a:spcAft>
                <a:spcPts val="0"/>
              </a:spcAft>
              <a:buNone/>
            </a:pPr>
            <a:r>
              <a:rPr lang="en" sz="900"/>
              <a:t>with DAG(</a:t>
            </a:r>
            <a:endParaRPr sz="900"/>
          </a:p>
          <a:p>
            <a:pPr indent="0" lvl="0" marL="0" rtl="0" algn="l">
              <a:lnSpc>
                <a:spcPct val="115000"/>
              </a:lnSpc>
              <a:spcBef>
                <a:spcPts val="0"/>
              </a:spcBef>
              <a:spcAft>
                <a:spcPts val="0"/>
              </a:spcAft>
              <a:buNone/>
            </a:pPr>
            <a:r>
              <a:rPr lang="en" sz="900"/>
              <a:t>    'advanced_etl_dag',</a:t>
            </a:r>
            <a:endParaRPr sz="900"/>
          </a:p>
          <a:p>
            <a:pPr indent="0" lvl="0" marL="0" rtl="0" algn="l">
              <a:lnSpc>
                <a:spcPct val="115000"/>
              </a:lnSpc>
              <a:spcBef>
                <a:spcPts val="0"/>
              </a:spcBef>
              <a:spcAft>
                <a:spcPts val="0"/>
              </a:spcAft>
              <a:buNone/>
            </a:pPr>
            <a:r>
              <a:rPr lang="en" sz="900"/>
              <a:t>    default_args=default_args,</a:t>
            </a:r>
            <a:endParaRPr sz="900"/>
          </a:p>
          <a:p>
            <a:pPr indent="0" lvl="0" marL="0" rtl="0" algn="l">
              <a:lnSpc>
                <a:spcPct val="115000"/>
              </a:lnSpc>
              <a:spcBef>
                <a:spcPts val="0"/>
              </a:spcBef>
              <a:spcAft>
                <a:spcPts val="0"/>
              </a:spcAft>
              <a:buNone/>
            </a:pPr>
            <a:r>
              <a:rPr lang="en" sz="900"/>
              <a:t>    description='Advanced ETL with triggers, branching, retries',</a:t>
            </a:r>
            <a:endParaRPr sz="900"/>
          </a:p>
          <a:p>
            <a:pPr indent="0" lvl="0" marL="0" rtl="0" algn="l">
              <a:lnSpc>
                <a:spcPct val="115000"/>
              </a:lnSpc>
              <a:spcBef>
                <a:spcPts val="0"/>
              </a:spcBef>
              <a:spcAft>
                <a:spcPts val="0"/>
              </a:spcAft>
              <a:buNone/>
            </a:pPr>
            <a:r>
              <a:rPr lang="en" sz="900"/>
              <a:t>    schedule_interval='@daily',</a:t>
            </a:r>
            <a:endParaRPr sz="900"/>
          </a:p>
          <a:p>
            <a:pPr indent="0" lvl="0" marL="0" rtl="0" algn="l">
              <a:lnSpc>
                <a:spcPct val="115000"/>
              </a:lnSpc>
              <a:spcBef>
                <a:spcPts val="0"/>
              </a:spcBef>
              <a:spcAft>
                <a:spcPts val="0"/>
              </a:spcAft>
              <a:buNone/>
            </a:pPr>
            <a:r>
              <a:rPr lang="en" sz="900"/>
              <a:t>    start_date=days_ago(1),</a:t>
            </a:r>
            <a:endParaRPr sz="900"/>
          </a:p>
          <a:p>
            <a:pPr indent="0" lvl="0" marL="0" rtl="0" algn="l">
              <a:lnSpc>
                <a:spcPct val="115000"/>
              </a:lnSpc>
              <a:spcBef>
                <a:spcPts val="0"/>
              </a:spcBef>
              <a:spcAft>
                <a:spcPts val="0"/>
              </a:spcAft>
              <a:buNone/>
            </a:pPr>
            <a:r>
              <a:rPr lang="en" sz="900"/>
              <a:t>    catchup=False,</a:t>
            </a:r>
            <a:endParaRPr sz="900"/>
          </a:p>
          <a:p>
            <a:pPr indent="0" lvl="0" marL="0" rtl="0" algn="l">
              <a:lnSpc>
                <a:spcPct val="115000"/>
              </a:lnSpc>
              <a:spcBef>
                <a:spcPts val="0"/>
              </a:spcBef>
              <a:spcAft>
                <a:spcPts val="0"/>
              </a:spcAft>
              <a:buNone/>
            </a:pPr>
            <a:r>
              <a:rPr lang="en" sz="900"/>
              <a:t>) as dag:</a:t>
            </a:r>
            <a:endParaRPr sz="900"/>
          </a:p>
          <a:p>
            <a:pPr indent="0" lvl="0" marL="0" rtl="0" algn="l">
              <a:lnSpc>
                <a:spcPct val="115000"/>
              </a:lnSpc>
              <a:spcBef>
                <a:spcPts val="0"/>
              </a:spcBef>
              <a:spcAft>
                <a:spcPts val="0"/>
              </a:spcAft>
              <a:buNone/>
            </a:pPr>
            <a:r>
              <a:rPr lang="en" sz="900"/>
              <a:t>….   </a:t>
            </a:r>
            <a:endParaRPr sz="900"/>
          </a:p>
          <a:p>
            <a:pPr indent="0" lvl="0" marL="0" rtl="0" algn="l">
              <a:lnSpc>
                <a:spcPct val="115000"/>
              </a:lnSpc>
              <a:spcBef>
                <a:spcPts val="0"/>
              </a:spcBef>
              <a:spcAft>
                <a:spcPts val="0"/>
              </a:spcAft>
              <a:buNone/>
            </a:pPr>
            <a:r>
              <a:rPr lang="en" sz="900"/>
              <a:t>wait_for_file &gt;&gt; t1_extract &gt;&gt; t2_transform &gt;&gt; t3_load &gt;&gt; t4_quality_check</a:t>
            </a:r>
            <a:endParaRPr sz="900"/>
          </a:p>
          <a:p>
            <a:pPr indent="0" lvl="0" marL="0" rtl="0" algn="l">
              <a:lnSpc>
                <a:spcPct val="115000"/>
              </a:lnSpc>
              <a:spcBef>
                <a:spcPts val="0"/>
              </a:spcBef>
              <a:spcAft>
                <a:spcPts val="0"/>
              </a:spcAft>
              <a:buNone/>
            </a:pPr>
            <a:r>
              <a:rPr lang="en" sz="900"/>
              <a:t>    t4_quality_check &gt;&gt; t5_notify_fail &gt;&gt; t7_end</a:t>
            </a:r>
            <a:endParaRPr sz="900"/>
          </a:p>
          <a:p>
            <a:pPr indent="0" lvl="0" marL="0" rtl="0" algn="l">
              <a:lnSpc>
                <a:spcPct val="115000"/>
              </a:lnSpc>
              <a:spcBef>
                <a:spcPts val="0"/>
              </a:spcBef>
              <a:spcAft>
                <a:spcPts val="0"/>
              </a:spcAft>
              <a:buNone/>
            </a:pPr>
            <a:r>
              <a:rPr lang="en" sz="900"/>
              <a:t>    t4_quality_check &gt;&gt; t6_notify_success &gt;&gt; t7_end</a:t>
            </a:r>
            <a:endParaRPr sz="900"/>
          </a:p>
          <a:p>
            <a:pPr indent="0" lvl="0" marL="0" rtl="0" algn="l">
              <a:lnSpc>
                <a:spcPct val="115000"/>
              </a:lnSpc>
              <a:spcBef>
                <a:spcPts val="0"/>
              </a:spcBef>
              <a:spcAft>
                <a:spcPts val="0"/>
              </a:spcAft>
              <a:buNone/>
            </a:pPr>
            <a:r>
              <a:t/>
            </a:r>
            <a:endParaRPr sz="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9a1007964c_0_123"/>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Orchestration Note</a:t>
            </a:r>
            <a:endParaRPr/>
          </a:p>
        </p:txBody>
      </p:sp>
      <p:sp>
        <p:nvSpPr>
          <p:cNvPr id="171" name="Google Shape;171;g39a1007964c_0_123"/>
          <p:cNvSpPr txBox="1"/>
          <p:nvPr>
            <p:ph idx="1" type="body"/>
          </p:nvPr>
        </p:nvSpPr>
        <p:spPr>
          <a:xfrm>
            <a:off x="421975" y="1052375"/>
            <a:ext cx="8120700" cy="3641100"/>
          </a:xfrm>
          <a:prstGeom prst="rect">
            <a:avLst/>
          </a:prstGeom>
          <a:noFill/>
          <a:ln>
            <a:noFill/>
          </a:ln>
        </p:spPr>
        <p:txBody>
          <a:bodyPr anchorCtr="0" anchor="t" bIns="34275" lIns="68575" spcFirstLastPara="1" rIns="68575" wrap="square" tIns="34275">
            <a:noAutofit/>
          </a:bodyPr>
          <a:lstStyle/>
          <a:p>
            <a:pPr indent="-330200" lvl="0" marL="457200" rtl="0" algn="l">
              <a:lnSpc>
                <a:spcPct val="115000"/>
              </a:lnSpc>
              <a:spcBef>
                <a:spcPts val="0"/>
              </a:spcBef>
              <a:spcAft>
                <a:spcPts val="0"/>
              </a:spcAft>
              <a:buSzPts val="1600"/>
              <a:buChar char="●"/>
            </a:pPr>
            <a:r>
              <a:rPr lang="en" sz="1600"/>
              <a:t>Most data pipelines benefit from using both schedule-based and trigger-based orchestration. The schedule controls the overall cadence of the pipeline, such as running a DAG daily, while triggers and dependencies manage the flow of tasks within each stage.</a:t>
            </a:r>
            <a:endParaRPr sz="1600"/>
          </a:p>
          <a:p>
            <a:pPr indent="0" lvl="0" marL="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SzPts val="1600"/>
              <a:buChar char="●"/>
            </a:pPr>
            <a:r>
              <a:rPr lang="en" sz="1600"/>
              <a:t>It’s important to note that an entire enterprise pipeline cannot fit into a single DAG. Pipelines are usually broken into stages or sub-DAGs, where each stage:</a:t>
            </a:r>
            <a:endParaRPr sz="1600"/>
          </a:p>
          <a:p>
            <a:pPr indent="-330200" lvl="1" marL="914400" rtl="0" algn="l">
              <a:lnSpc>
                <a:spcPct val="115000"/>
              </a:lnSpc>
              <a:spcBef>
                <a:spcPts val="0"/>
              </a:spcBef>
              <a:spcAft>
                <a:spcPts val="0"/>
              </a:spcAft>
              <a:buSzPts val="1600"/>
              <a:buChar char="○"/>
            </a:pPr>
            <a:r>
              <a:rPr lang="en" sz="1600"/>
              <a:t>Handles a logical portion of the pipeline</a:t>
            </a:r>
            <a:endParaRPr sz="1600"/>
          </a:p>
          <a:p>
            <a:pPr indent="-330200" lvl="1" marL="914400" rtl="0" algn="l">
              <a:lnSpc>
                <a:spcPct val="115000"/>
              </a:lnSpc>
              <a:spcBef>
                <a:spcPts val="0"/>
              </a:spcBef>
              <a:spcAft>
                <a:spcPts val="0"/>
              </a:spcAft>
              <a:buSzPts val="1600"/>
              <a:buChar char="○"/>
            </a:pPr>
            <a:r>
              <a:rPr lang="en" sz="1600"/>
              <a:t>Manages internal task dependencies and retries</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Calgary 2">
      <a:dk1>
        <a:srgbClr val="000000"/>
      </a:dk1>
      <a:lt1>
        <a:srgbClr val="FFFFFF"/>
      </a:lt1>
      <a:dk2>
        <a:srgbClr val="8C857B"/>
      </a:dk2>
      <a:lt2>
        <a:srgbClr val="C3BFB6"/>
      </a:lt2>
      <a:accent1>
        <a:srgbClr val="EE2C2A"/>
      </a:accent1>
      <a:accent2>
        <a:srgbClr val="FFA300"/>
      </a:accent2>
      <a:accent3>
        <a:srgbClr val="FF671F"/>
      </a:accent3>
      <a:accent4>
        <a:srgbClr val="46A67B"/>
      </a:accent4>
      <a:accent5>
        <a:srgbClr val="EC0971"/>
      </a:accent5>
      <a:accent6>
        <a:srgbClr val="9C0533"/>
      </a:accent6>
      <a:hlink>
        <a:srgbClr val="D6001C"/>
      </a:hlink>
      <a:folHlink>
        <a:srgbClr val="8C85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